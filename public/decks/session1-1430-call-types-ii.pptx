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— LECTURE (~30 min). Open by framing this as the last teaching block of Session 1. Call Types I (Cardiac &amp; Neuro) was earlier; this is Pulmonary &amp; Medical at the BLS level, plus a first look at accompanied specialty and the medical-necessity narrative. Set the two-part structure: ~30 min lecture, ~30 min cases +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Call Types I in one line, then state the four objectives. Emphasize objective 2 ('name the need in one sentence') and objective 4 ('narrative that survives QA') — those are the two skills we assess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spine of the whole session. Q1 = level of care (sets crew/vehicle). Q2 = medical necessity (justifies the trip and the bill). Everything else hangs on these two. Note that Q2 is a CMS/compliance framework, not a clinical protocol — but QA checks it on every 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ladder from the Scope of Practice table. The lines that matter most for sorting: EMTs cannot do IV push, IV/IO meds, any infusion (NS continuity only), deep suction, or vent. AEMT adds IV access, push meds on their list, CPAP initiation, albuterol, D10, IM epi. PM adds infusions/titration, vasopressors, vent, intubation, central lines. Ask the room to place a few sample interventions on the ladder.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mechanics. Dispatch matches crew to scope before departure (Section IV, TP02) — but you re-confirm at the bedside. The practical trick: read the 'Common Active Therapies at Transfer' line in the protocol first; it tells you the level of care. End on the TP02 guardrail — do not depart if therapies exceed your credential.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Pulmonary overview. Name the categories (II-13 to II-16 + common lower-acuity). The BLS/ALS driver for pulmonary is the oxygen device and any drips. Stress the closer: a vented or drip-dependent patient is never BLS.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sort on II-13. Show the same diagnosis producing three different transports by tier. Point at the actual protocol columns. Teaching point: the label 'respiratory failure' doesn't equal ALS — the therapies do. Good place to pause and let them argue a borderline case (e.g., stable on 4L NC vs. on CPAP).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Medical overview. Same logic as pulmonary. The BLS/ALS driver for medical is the presence of drips and IV meds. Insulin infusion = PM (not on AEMT list) is a common miss — flag it now, it returns in Case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Two-patient worked sort. Hypoglycemia and anaphylaxis both have a BLS floor and an ALS ceiling. Note faithfully: for anaphylaxis, the EMT keeps the autoinjector accessible and notifies; drawn-up IM epi 1:1,000 and nebs sit at AEMT; epi infusion is PM. The trap slide at the bottom is the takeaway — a running drip isn't downgraded by a 'stable'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Synthesis. The BLS-eligible profile vs the red flags. Have the class generate the red flags before revealing them. Close on the TP02 rule again — this is the single most important operational behavior in the whole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to accompanied specialty — this is awareness only; the deep dive is Sessions 4-5. The one concept to lock in: the specialty team owns the device and the clinical authority; AMR is the transport platform plus in-scope monitoring. Name the four types so they recognize them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clarity. Read the two columns. Then land THE ONE RULE hard: never initiate, adjust, or troubleshoot the device; if asked to act outside scope, decline and state the limitation. This protects the patient, the crew, and the license.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to the second question — medical necessity. Be explicit that this is the CMS documentation/compliance framework, not a clinical protocol. Two prongs: other means contraindicated, and correct level of service to a covered destination. Bed-confined is ONE supporting factor, not the entire test — don't let crews reduce med-nec to a checkbox. If asked about specifics, defer to current LCD/PCS/billing-compliance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narrative must prove vs. the common failure modes. The failures list is basically the QA rejection list. End on the bar: a reviewer who wasn't there must see medical necessity from the words alone. This sets up Part 2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— CASE STUDY &amp; CRITIQUE (~30 min). Explain the three-step drill (Sort / Justify / Critique) they'll run on each case. Keep energy up; this is where it sticks.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 (Pulmonary). Give them ~4 min in pairs. This case is intentionally BLS-eligible with a WEAK narrative — the teaching is that BLS does not mean 'no documentation.' Let them sort it first (most will get BLS), then critique the sample narrative.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 debrief. Confirm BLS-eligible sort. Then dismantle the narrative: it restates dispatch, says 'stable/no incident,' proves nothing. Walk the 'what it needed to say' list. Land the closer: a BLS transport still has to prove medical necessity.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2 (Medical). ~4 min. This one flips the lesson: the narrative is easy but the SORT is the trap. The insulin drip at 2 units/hr makes it PM, even though DKA is 'resolved' and vitals are stable. They were dispatched AEMT — the correct action is do-not-depart + request paramedic intercept.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2 debrief. Confirm PM level of care (insulin infusion not on AEMT list). Walk the 'now what' at the bedside (TP02). Teaching point: sort and narrative are two separate judgments — Case 1 was good sort / bad chart; Case 2 is trap sort / easy chart. You must get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Rewrite drill. Show before/after side by side for Case 1. Read the AFTER version slowly — point out each element as it appears (condition, O2 dependence, why other transport unsafe, what was provided, monitoring documented). This is the concrete deliverable skill from the whole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Cumulative retrieval quiz. Rapid-fire, call-outs, no notes — spans Call Types I recall plus today. Don't reveal answers yet. Q3 and Q4 are the accompanied-specialty and scope-guardrail checks; make sure everyone can answer those cold.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answers. Reinforce Q2 (vasopressor = PM) and Q6 (the two prongs of medical necessity). If time allows, ask why Q4's answer is 'do not depart' rather than 'call en route' — reinforce that scope is confirmed before departure.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Sort -&gt; Transport -&gt; Chart and the three takeaways. Preview Session 2 (LTV 1200 mechanical ventilation). Housekeeping and next-session logistics follow this block per the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80015" y="502920"/>
            <a:ext cx="310896" cy="310896"/>
          </a:xfrm>
          <a:prstGeom prst="ellipse">
            <a:avLst/>
          </a:prstGeom>
          <a:solidFill>
            <a:srgbClr val="0F7B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37215" y="502920"/>
            <a:ext cx="310896" cy="310896"/>
          </a:xfrm>
          <a:prstGeom prst="ellipse">
            <a:avLst/>
          </a:prstGeom>
          <a:solidFill>
            <a:srgbClr val="B5730B"/>
          </a:solidFill>
          <a:ln/>
        </p:spPr>
      </p:sp>
      <p:sp>
        <p:nvSpPr>
          <p:cNvPr id="4" name="Shape 2"/>
          <p:cNvSpPr/>
          <p:nvPr/>
        </p:nvSpPr>
        <p:spPr>
          <a:xfrm>
            <a:off x="11094415" y="502920"/>
            <a:ext cx="310896" cy="310896"/>
          </a:xfrm>
          <a:prstGeom prst="ellipse">
            <a:avLst/>
          </a:prstGeom>
          <a:solidFill>
            <a:srgbClr val="B01B3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  ·  INTERFACILITY TRANSPORT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Types II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AEB9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Pulmonary &amp; Medical at the BLS Level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6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the transfer  ·  introducing accompanied specialty  ·  defending medical necessity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34340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E2C49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3434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Lecture   </a:t>
            </a:r>
            <a:pPr indent="0" marL="0">
              <a:buNone/>
            </a:pPr>
            <a:r>
              <a:rPr lang="en-US" sz="1250" dirty="0">
                <a:solidFill>
                  <a:srgbClr val="C9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min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94760" y="4343400"/>
            <a:ext cx="4617720" cy="566928"/>
          </a:xfrm>
          <a:prstGeom prst="roundRect">
            <a:avLst>
              <a:gd name="adj" fmla="val 16129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3977640" y="43434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Case Study &amp; Med-Nec Critique   </a:t>
            </a:r>
            <a:pPr indent="0" marL="0">
              <a:buNone/>
            </a:pPr>
            <a:r>
              <a:rPr lang="en-US" sz="1250" dirty="0">
                <a:solidFill>
                  <a:srgbClr val="C9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min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6172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AMR KC Medical Protocols (eff. May 15 2026) — Scope of Practice, Section II IFT, Section IV, Section VII, TP02 &amp; TP07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C49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BLOCK FITS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 — and what you own by 1530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E2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4173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spc="15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TODAY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Types I — Cardiac &amp; Neuro + ALS/BLS scope drill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1325880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EEF2FB"/>
          </a:solidFill>
          <a:ln w="15875">
            <a:solidFill>
              <a:srgbClr val="1E2C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73368" y="138988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spc="150" kern="0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CALL TYPES II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&amp; Medical (BLS lens) + intro Accompanied Specialty + Med-Nec critique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block you can: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2825496"/>
            <a:ext cx="420624" cy="420624"/>
          </a:xfrm>
          <a:prstGeom prst="ellipse">
            <a:avLst/>
          </a:prstGeom>
          <a:solidFill>
            <a:srgbClr val="1E2C49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2825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43000" y="27889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transfer  —  </a:t>
            </a:r>
            <a:pPr indent="0" marL="0">
              <a:buNone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any pulmonary or medical transfer into a call-type category and a level of care (BLS vs ALS).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3483864"/>
            <a:ext cx="420624" cy="420624"/>
          </a:xfrm>
          <a:prstGeom prst="ellipse">
            <a:avLst/>
          </a:prstGeom>
          <a:solidFill>
            <a:srgbClr val="1E2C49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143000" y="344728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need  —  </a:t>
            </a:r>
            <a:pPr indent="0" marL="0">
              <a:buNone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in one sentence why this patient needs us — and recognize when they exceed your credential.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66928" y="4142232"/>
            <a:ext cx="420624" cy="420624"/>
          </a:xfrm>
          <a:prstGeom prst="ellipse">
            <a:avLst/>
          </a:prstGeom>
          <a:solidFill>
            <a:srgbClr val="1E2C49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143000" y="410565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boundary  —  </a:t>
            </a:r>
            <a:pPr indent="0" marL="0">
              <a:buNone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AMR role on an accompanied specialty transport — and the one rule that never changes.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66928" y="4800600"/>
            <a:ext cx="420624" cy="420624"/>
          </a:xfrm>
          <a:prstGeom prst="ellipse">
            <a:avLst/>
          </a:prstGeom>
          <a:solidFill>
            <a:srgbClr val="1E2C49"/>
          </a:solidFill>
          <a:ln/>
        </p:spPr>
      </p:sp>
      <p:sp>
        <p:nvSpPr>
          <p:cNvPr id="22" name="Text 19"/>
          <p:cNvSpPr/>
          <p:nvPr/>
        </p:nvSpPr>
        <p:spPr>
          <a:xfrm>
            <a:off x="566928" y="4800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143000" y="476402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the chart  —  </a:t>
            </a:r>
            <a:pPr indent="0" marL="0">
              <a:buNone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medical-necessity narrative that survives QA review.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OF EVERY TRANSFER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 you answer before you roll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E2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85800" y="1508760"/>
            <a:ext cx="5394960" cy="3794760"/>
          </a:xfrm>
          <a:prstGeom prst="roundRect">
            <a:avLst>
              <a:gd name="adj" fmla="val 2651"/>
            </a:avLst>
          </a:prstGeom>
          <a:solidFill>
            <a:srgbClr val="FFFFFF"/>
          </a:solidFill>
          <a:ln w="19050">
            <a:solidFill>
              <a:srgbClr val="1E2C49"/>
            </a:solidFill>
            <a:prstDash val="solid"/>
          </a:ln>
          <a:effectLst>
            <a:outerShdw sx="100000" sy="100000" kx="0" ky="0" algn="bl" rotWithShape="0" blurRad="88900" dist="38100" dir="5400000">
              <a:srgbClr val="8A97AD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1783080"/>
            <a:ext cx="658368" cy="658368"/>
          </a:xfrm>
          <a:prstGeom prst="ellipse">
            <a:avLst/>
          </a:prstGeom>
          <a:solidFill>
            <a:srgbClr val="1E2C49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828800" y="1847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LEVEL-OF-CARE MATCHING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51560" y="26060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level of care does this patient need?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51560" y="36118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0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patient to a crew and vehicle — BLS or ALS. Set by the patient's active therapies and clinical status, not the diagnosis label.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" y="4828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in:  </a:t>
            </a:r>
            <a:pPr indent="0" marL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Practice · Section IV dispatch scope · TP02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75120" y="1508760"/>
            <a:ext cx="5394960" cy="3794760"/>
          </a:xfrm>
          <a:prstGeom prst="roundRect">
            <a:avLst>
              <a:gd name="adj" fmla="val 2651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  <a:effectLst>
            <a:outerShdw sx="100000" sy="100000" kx="0" ky="0" algn="bl" rotWithShape="0" blurRad="88900" dist="38100" dir="5400000">
              <a:srgbClr val="8A97AD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995160" y="1783080"/>
            <a:ext cx="658368" cy="65836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7818120" y="1847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040880" y="26060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this patient need an ambulance at all?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040880" y="36118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0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the transport itself and the level of service billed. Proven by the clinical picture in your narrative — not the dispatch reason.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40880" y="4828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in:  </a:t>
            </a:r>
            <a:pPr indent="0" marL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standard (CMS) · TP07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Types II is simply these two questions applied to pulmonary and medical patients.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B5F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SORTING TOOL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credential ladder — what each tier can do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E2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371600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0F7B5F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1828800"/>
            <a:ext cx="3657600" cy="201168"/>
          </a:xfrm>
          <a:prstGeom prst="rect">
            <a:avLst/>
          </a:prstGeom>
          <a:solidFill>
            <a:srgbClr val="0F7B5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3716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EMT   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9808" y="2139696"/>
            <a:ext cx="32735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O₂: NC / NRB / BVM / PEEP valve; assist CPAP mask seal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 (iGel), OPA/NPA, upper-airway suction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Glucometry, oral glucose, cardiac monitor acquisition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/ SL / IM / IN meds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0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patient + maintain NS continuity only</a:t>
            </a:r>
            <a:endParaRPr lang="en-US" sz="1060" dirty="0"/>
          </a:p>
        </p:txBody>
      </p:sp>
      <p:sp>
        <p:nvSpPr>
          <p:cNvPr id="12" name="Text 9"/>
          <p:cNvSpPr/>
          <p:nvPr/>
        </p:nvSpPr>
        <p:spPr>
          <a:xfrm>
            <a:off x="749808" y="452628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AUTHORIZED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49808" y="4764024"/>
            <a:ext cx="3273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200"/>
              </a:lnSpc>
              <a:spcAft>
                <a:spcPts val="300"/>
              </a:spcAft>
              <a:buSzPct val="100000"/>
              <a:buChar char="–"/>
            </a:pPr>
            <a:r>
              <a:rPr lang="en-US" sz="1020" dirty="0">
                <a:solidFill>
                  <a:srgbClr val="8A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IV/IO access · IV/IO push meds · any infusion</a:t>
            </a:r>
            <a:endParaRPr lang="en-US" sz="1020" dirty="0"/>
          </a:p>
          <a:p>
            <a:pPr marL="139700" indent="-139700">
              <a:lnSpc>
                <a:spcPts val="1200"/>
              </a:lnSpc>
              <a:spcAft>
                <a:spcPts val="300"/>
              </a:spcAft>
              <a:buSzPct val="100000"/>
              <a:buChar char="–"/>
            </a:pPr>
            <a:r>
              <a:rPr lang="en-US" sz="1020" dirty="0">
                <a:solidFill>
                  <a:srgbClr val="8A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tracheal / stoma suction · ventilator</a:t>
            </a:r>
            <a:endParaRPr lang="en-US" sz="1020" dirty="0"/>
          </a:p>
          <a:p>
            <a:pPr marL="139700" indent="-139700">
              <a:lnSpc>
                <a:spcPts val="1200"/>
              </a:lnSpc>
              <a:buSzPct val="100000"/>
              <a:buChar char="–"/>
            </a:pPr>
            <a:r>
              <a:rPr lang="en-US" sz="1020" dirty="0">
                <a:solidFill>
                  <a:srgbClr val="8A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Vasopressors · IV med drips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4462272" y="137160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62272" y="1371600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B5730B"/>
          </a:solidFill>
          <a:ln/>
        </p:spPr>
      </p:sp>
      <p:sp>
        <p:nvSpPr>
          <p:cNvPr id="16" name="Shape 13"/>
          <p:cNvSpPr/>
          <p:nvPr/>
        </p:nvSpPr>
        <p:spPr>
          <a:xfrm>
            <a:off x="4462272" y="1828800"/>
            <a:ext cx="3657600" cy="201168"/>
          </a:xfrm>
          <a:prstGeom prst="rect">
            <a:avLst/>
          </a:prstGeom>
          <a:solidFill>
            <a:srgbClr val="B5730B"/>
          </a:solidFill>
          <a:ln/>
        </p:spPr>
      </p:sp>
      <p:sp>
        <p:nvSpPr>
          <p:cNvPr id="17" name="Text 14"/>
          <p:cNvSpPr/>
          <p:nvPr/>
        </p:nvSpPr>
        <p:spPr>
          <a:xfrm>
            <a:off x="4690872" y="13716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AEMT   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663440" y="2139696"/>
            <a:ext cx="32735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EMT, plus: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IV / IO access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IV/IO push meds on the authorized list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CPAP; albuterol neb; D10; IM epi 1:1,000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suction; 12-lead interpretation; manual defib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0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hospital infusions within AEMT scope</a:t>
            </a:r>
            <a:endParaRPr lang="en-US" sz="1060" dirty="0"/>
          </a:p>
        </p:txBody>
      </p:sp>
      <p:sp>
        <p:nvSpPr>
          <p:cNvPr id="19" name="Text 16"/>
          <p:cNvSpPr/>
          <p:nvPr/>
        </p:nvSpPr>
        <p:spPr>
          <a:xfrm>
            <a:off x="4663440" y="452628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AUTHORIZED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63440" y="4764024"/>
            <a:ext cx="3273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200"/>
              </a:lnSpc>
              <a:spcAft>
                <a:spcPts val="300"/>
              </a:spcAft>
              <a:buSzPct val="100000"/>
              <a:buChar char="–"/>
            </a:pPr>
            <a:r>
              <a:rPr lang="en-US" sz="1020" dirty="0">
                <a:solidFill>
                  <a:srgbClr val="8A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med infusions / titration</a:t>
            </a:r>
            <a:endParaRPr lang="en-US" sz="1020" dirty="0"/>
          </a:p>
          <a:p>
            <a:pPr marL="139700" indent="-139700">
              <a:lnSpc>
                <a:spcPts val="1200"/>
              </a:lnSpc>
              <a:spcAft>
                <a:spcPts val="300"/>
              </a:spcAft>
              <a:buSzPct val="100000"/>
              <a:buChar char="–"/>
            </a:pPr>
            <a:r>
              <a:rPr lang="en-US" sz="1020" dirty="0">
                <a:solidFill>
                  <a:srgbClr val="8A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Vasopressors · ventilator · intubation</a:t>
            </a:r>
            <a:endParaRPr lang="en-US" sz="1020" dirty="0"/>
          </a:p>
          <a:p>
            <a:pPr marL="139700" indent="-139700">
              <a:lnSpc>
                <a:spcPts val="1200"/>
              </a:lnSpc>
              <a:buSzPct val="100000"/>
              <a:buChar char="–"/>
            </a:pPr>
            <a:r>
              <a:rPr lang="en-US" sz="1020" dirty="0">
                <a:solidFill>
                  <a:srgbClr val="8A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line access · cardioversion / pacing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8375904" y="137160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375904" y="1371600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B01B32"/>
          </a:solidFill>
          <a:ln/>
        </p:spPr>
      </p:sp>
      <p:sp>
        <p:nvSpPr>
          <p:cNvPr id="23" name="Shape 20"/>
          <p:cNvSpPr/>
          <p:nvPr/>
        </p:nvSpPr>
        <p:spPr>
          <a:xfrm>
            <a:off x="8375904" y="1828800"/>
            <a:ext cx="3657600" cy="201168"/>
          </a:xfrm>
          <a:prstGeom prst="rect">
            <a:avLst/>
          </a:prstGeom>
          <a:solidFill>
            <a:srgbClr val="B01B32"/>
          </a:solidFill>
          <a:ln/>
        </p:spPr>
      </p:sp>
      <p:sp>
        <p:nvSpPr>
          <p:cNvPr id="24" name="Text 21"/>
          <p:cNvSpPr/>
          <p:nvPr/>
        </p:nvSpPr>
        <p:spPr>
          <a:xfrm>
            <a:off x="8604504" y="13716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  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577072" y="2139696"/>
            <a:ext cx="32735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EMT + AEMT, plus: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infusions &amp; titration · vasopressors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Ventilator (LTV 1200) · intubation · cric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line access/flush · art-line monitoring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Cardioversion · transcutaneous pacing</a:t>
            </a:r>
            <a:endParaRPr lang="en-US" sz="1060" dirty="0"/>
          </a:p>
          <a:p>
            <a:pPr marL="139700" indent="-139700">
              <a:lnSpc>
                <a:spcPts val="1250"/>
              </a:lnSpc>
              <a:spcAft>
                <a:spcPts val="300"/>
              </a:spcAft>
              <a:buSzPct val="100000"/>
              <a:buChar char="•"/>
            </a:pPr>
            <a:r>
              <a:rPr lang="en-US" sz="10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transdermal meds</a:t>
            </a:r>
            <a:endParaRPr lang="en-US" sz="1060" dirty="0"/>
          </a:p>
        </p:txBody>
      </p:sp>
      <p:sp>
        <p:nvSpPr>
          <p:cNvPr id="26" name="Text 2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C49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transfer becomes a call type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E2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074920" cy="2148840"/>
          </a:xfrm>
          <a:prstGeom prst="roundRect">
            <a:avLst>
              <a:gd name="adj" fmla="val 3830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" y="1563624"/>
            <a:ext cx="4636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level of care is decided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68096" y="1984248"/>
            <a:ext cx="4672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filters call types and matches the crew to scope before departure.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AEMT crews are dispatched only to calls within AEMT-authorized scope.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confirm it at the bedside against what you actually find.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5661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 · TP02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52160" y="1417320"/>
            <a:ext cx="5806440" cy="2148840"/>
          </a:xfrm>
          <a:prstGeom prst="roundRect">
            <a:avLst>
              <a:gd name="adj" fmla="val 4255"/>
            </a:avLst>
          </a:prstGeom>
          <a:solidFill>
            <a:srgbClr val="EEF2FB"/>
          </a:solidFill>
          <a:ln w="19050">
            <a:solidFill>
              <a:srgbClr val="1E2C4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80760" y="1572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LINE THAT TELLS YOU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80760" y="18745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“Common Active Therapies at Transfer”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080760" y="239572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0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II protocol lists it. Read that line first — the therapies running when you take the patient set the level of care. A drip, a vent, or an IV med expected en route decides it for you.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sort, end to end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20624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3970">
            <a:solidFill>
              <a:srgbClr val="1E2C4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53128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52144" y="4206240"/>
            <a:ext cx="1399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+ report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615184" y="42062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2871216" y="420624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3970">
            <a:solidFill>
              <a:srgbClr val="1E2C4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096" y="445312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74720" y="4206240"/>
            <a:ext cx="1399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therapies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937760" y="42062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5193792" y="420624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3970">
            <a:solidFill>
              <a:srgbClr val="1E2C4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445312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97296" y="4206240"/>
            <a:ext cx="1399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260336" y="42062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7516368" y="420624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3970">
            <a:solidFill>
              <a:srgbClr val="1E2C4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48" y="4453128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119872" y="4206240"/>
            <a:ext cx="1399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+ vehicle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9582912" y="42062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25"/>
          <p:cNvSpPr/>
          <p:nvPr/>
        </p:nvSpPr>
        <p:spPr>
          <a:xfrm>
            <a:off x="9838944" y="420624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3970">
            <a:solidFill>
              <a:srgbClr val="1E2C4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1824" y="4453128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442448" y="4206240"/>
            <a:ext cx="1399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en route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548640" y="534924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BEDE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559552"/>
            <a:ext cx="365760" cy="3657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80160" y="5349240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9E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(TP02):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depart with a patient whose active therapies or clinical status exceed your credential. Notify dispatch and request intercept or reassignment before you leave the sending facility.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39" name="Text 30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E6E8E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 OF 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Pulmonary call types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E2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shows up as a pulmonary transfer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5623560" cy="658368"/>
          </a:xfrm>
          <a:prstGeom prst="roundRect">
            <a:avLst>
              <a:gd name="adj" fmla="val 9722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175564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II-13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00200" y="175564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Respiratory Failure</a:t>
            </a:r>
            <a:endParaRPr lang="en-US" sz="12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→ CPAP → vent/sedation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468880"/>
            <a:ext cx="5623560" cy="658368"/>
          </a:xfrm>
          <a:prstGeom prst="roundRect">
            <a:avLst>
              <a:gd name="adj" fmla="val 9722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48716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II-14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00200" y="248716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Ventilator Failure / Malfunction</a:t>
            </a:r>
            <a:endParaRPr lang="en-US" sz="12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DOPE; BVM fallback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5623560" cy="658368"/>
          </a:xfrm>
          <a:prstGeom prst="roundRect">
            <a:avLst>
              <a:gd name="adj" fmla="val 9722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321868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II-15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00200" y="321868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Embolism</a:t>
            </a:r>
            <a:endParaRPr lang="en-US" sz="12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heparin drip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931920"/>
            <a:ext cx="5623560" cy="658368"/>
          </a:xfrm>
          <a:prstGeom prst="roundRect">
            <a:avLst>
              <a:gd name="adj" fmla="val 9722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395020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II-16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600200" y="395020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Tracheostomy Complication</a:t>
            </a:r>
            <a:endParaRPr lang="en-US" sz="12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suction, airway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4663440"/>
            <a:ext cx="5623560" cy="658368"/>
          </a:xfrm>
          <a:prstGeom prst="roundRect">
            <a:avLst>
              <a:gd name="adj" fmla="val 9722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468172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600200" y="468172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COPD / asthma, pneumonia, effusion</a:t>
            </a:r>
            <a:endParaRPr lang="en-US" sz="12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O₂, nebs, monitoring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0" y="1371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decides the level of care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0" y="173736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E7F3EE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620256" y="1883664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BLS-eligible when…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620256" y="2304288"/>
            <a:ext cx="485546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on nasal cannula or non-rebreather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infusions except NS; no IV meds needed en route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self-maintained; you assist CPAP seal only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is monitoring + reassessment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0" y="365760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F6E7EA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620256" y="3803904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to ALS when…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620256" y="4224528"/>
            <a:ext cx="48554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CPAP initiation or albuterol neb en route  → AEMT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Ventilator (LTV 1200) or sedation infusion  → PM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tracheal / stoma suction need  → AEMT/PM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 or other drip (e.g., PE)  → PM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b="1" dirty="0">
                <a:solidFill>
                  <a:srgbClr val="9E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vented or drip-dependent patient is never BLS.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E6E8E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DIAGNOSIS, THREE TRANSPORTS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sort — Acute Respiratory Failure (II-13)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E2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6510">
            <a:solidFill>
              <a:srgbClr val="0F7B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41732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0F7B5F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1737360"/>
            <a:ext cx="3657600" cy="182880"/>
          </a:xfrm>
          <a:prstGeom prst="rect">
            <a:avLst/>
          </a:prstGeom>
          <a:solidFill>
            <a:srgbClr val="0F7B5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" y="2048256"/>
            <a:ext cx="32735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monitor; document rhythm</a:t>
            </a:r>
            <a:endParaRPr lang="en-US" sz="1100" dirty="0"/>
          </a:p>
          <a:p>
            <a:pPr marL="139700" indent="-1397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to SpO₂ ≥ 94%</a:t>
            </a:r>
            <a:endParaRPr lang="en-US" sz="1100" dirty="0"/>
          </a:p>
          <a:p>
            <a:pPr marL="139700" indent="-1397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CPAP seal &amp; positioning if in use</a:t>
            </a:r>
            <a:endParaRPr lang="en-US" sz="1100" dirty="0"/>
          </a:p>
          <a:p>
            <a:pPr marL="139700" indent="-1397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RR and work of breathing</a:t>
            </a:r>
            <a:endParaRPr lang="en-US" sz="1100" dirty="0"/>
          </a:p>
          <a:p>
            <a:pPr marL="139700" indent="-1397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every 5 min</a:t>
            </a:r>
            <a:endParaRPr lang="en-US" sz="1100" dirty="0"/>
          </a:p>
          <a:p>
            <a:pPr marL="139700" indent="-1397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medic on SpO₂ decline / fatigue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62272" y="141732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6510">
            <a:solidFill>
              <a:srgbClr val="B5730B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62272" y="141732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B5730B"/>
          </a:solidFill>
          <a:ln/>
        </p:spPr>
      </p:sp>
      <p:sp>
        <p:nvSpPr>
          <p:cNvPr id="14" name="Shape 11"/>
          <p:cNvSpPr/>
          <p:nvPr/>
        </p:nvSpPr>
        <p:spPr>
          <a:xfrm>
            <a:off x="4462272" y="1737360"/>
            <a:ext cx="3657600" cy="182880"/>
          </a:xfrm>
          <a:prstGeom prst="rect">
            <a:avLst/>
          </a:prstGeom>
          <a:solidFill>
            <a:srgbClr val="B5730B"/>
          </a:solidFill>
          <a:ln/>
        </p:spPr>
      </p:sp>
      <p:sp>
        <p:nvSpPr>
          <p:cNvPr id="15" name="Text 12"/>
          <p:cNvSpPr/>
          <p:nvPr/>
        </p:nvSpPr>
        <p:spPr>
          <a:xfrm>
            <a:off x="4462272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AEMT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63440" y="2048256"/>
            <a:ext cx="32735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EMT steps, plus:</a:t>
            </a:r>
            <a:endParaRPr lang="en-US" sz="1100" dirty="0"/>
          </a:p>
          <a:p>
            <a:pPr marL="139700" indent="-1397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peripheral IV</a:t>
            </a:r>
            <a:endParaRPr lang="en-US" sz="1100" dirty="0"/>
          </a:p>
          <a:p>
            <a:pPr marL="139700" indent="-1397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CPAP 5–10 cmH₂O (alert, cooperative)</a:t>
            </a:r>
            <a:endParaRPr lang="en-US" sz="1100" dirty="0"/>
          </a:p>
          <a:p>
            <a:pPr marL="139700" indent="-1397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Albuterol 2.5 mg neb if bronchospasm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75904" y="141732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6510">
            <a:solidFill>
              <a:srgbClr val="B01B3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75904" y="141732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B01B32"/>
          </a:solidFill>
          <a:ln/>
        </p:spPr>
      </p:sp>
      <p:sp>
        <p:nvSpPr>
          <p:cNvPr id="19" name="Shape 16"/>
          <p:cNvSpPr/>
          <p:nvPr/>
        </p:nvSpPr>
        <p:spPr>
          <a:xfrm>
            <a:off x="8375904" y="1737360"/>
            <a:ext cx="3657600" cy="182880"/>
          </a:xfrm>
          <a:prstGeom prst="rect">
            <a:avLst/>
          </a:prstGeom>
          <a:solidFill>
            <a:srgbClr val="B01B32"/>
          </a:solidFill>
          <a:ln/>
        </p:spPr>
      </p:sp>
      <p:sp>
        <p:nvSpPr>
          <p:cNvPr id="20" name="Text 17"/>
          <p:cNvSpPr/>
          <p:nvPr/>
        </p:nvSpPr>
        <p:spPr>
          <a:xfrm>
            <a:off x="8375904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577072" y="2048256"/>
            <a:ext cx="32735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EMT + AEMT steps, plus:</a:t>
            </a:r>
            <a:endParaRPr lang="en-US" sz="1100" dirty="0"/>
          </a:p>
          <a:p>
            <a:pPr marL="139700" indent="-1397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Confirm/manage vent: 6–8 mL/kg IBW, PEEP 5, FiO₂ to SpO₂ 94–98%</a:t>
            </a:r>
            <a:endParaRPr lang="en-US" sz="1100" dirty="0"/>
          </a:p>
          <a:p>
            <a:pPr marL="139700" indent="-1397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sedation infusion per orders</a:t>
            </a:r>
            <a:endParaRPr lang="en-US" sz="1100" dirty="0"/>
          </a:p>
          <a:p>
            <a:pPr marL="139700" indent="-1397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 failure → BVM + troubleshoot</a:t>
            </a:r>
            <a:endParaRPr lang="en-US" sz="1100" dirty="0"/>
          </a:p>
          <a:p>
            <a:pPr marL="139700" indent="-1397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Impending failure on CPAP → intubation prep; DMO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937760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 w="15875">
            <a:solidFill>
              <a:srgbClr val="1E2C49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230368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371600" y="493776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“Respiratory failure” is not automatically ALS — the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therapies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decide. The same label can be a monitored BLS oxygen transport or a vented, sedated paramedic transport. Read the therapies, then choose the tier.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7A4E9E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A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 OF 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call types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E2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shows up as a medical transfer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5623560" cy="566928"/>
          </a:xfrm>
          <a:prstGeom prst="roundRect">
            <a:avLst>
              <a:gd name="adj" fmla="val 11290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1755648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II-17/18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691640" y="175564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 / HHS   </a:t>
            </a:r>
            <a:pPr indent="0" marL="0">
              <a:buNone/>
            </a:pPr>
            <a:r>
              <a:rPr lang="en-US" sz="10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drip = PM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377440"/>
            <a:ext cx="5623560" cy="566928"/>
          </a:xfrm>
          <a:prstGeom prst="roundRect">
            <a:avLst>
              <a:gd name="adj" fmla="val 11290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395728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II-19/20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691640" y="239572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 · Upper GI bleed   </a:t>
            </a:r>
            <a:pPr indent="0" marL="0">
              <a:buNone/>
            </a:pPr>
            <a:r>
              <a:rPr lang="en-US" sz="10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blood products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017520"/>
            <a:ext cx="5623560" cy="566928"/>
          </a:xfrm>
          <a:prstGeom prst="roundRect">
            <a:avLst>
              <a:gd name="adj" fmla="val 11290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3035808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II-21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691640" y="303580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/ Septic Shock   </a:t>
            </a:r>
            <a:pPr indent="0" marL="0">
              <a:buNone/>
            </a:pPr>
            <a:r>
              <a:rPr lang="en-US" sz="10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pressor = PM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657600"/>
            <a:ext cx="5623560" cy="566928"/>
          </a:xfrm>
          <a:prstGeom prst="roundRect">
            <a:avLst>
              <a:gd name="adj" fmla="val 11290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3675888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II-26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691640" y="367588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Hypoglycemia (IFT)   </a:t>
            </a:r>
            <a:pPr indent="0" marL="0">
              <a:buNone/>
            </a:pPr>
            <a:r>
              <a:rPr lang="en-US" sz="10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insulin/D10 vs oral glucose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297680"/>
            <a:ext cx="5623560" cy="566928"/>
          </a:xfrm>
          <a:prstGeom prst="roundRect">
            <a:avLst>
              <a:gd name="adj" fmla="val 11290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4315968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II-27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691640" y="431596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Anaphylaxis (IFT)   </a:t>
            </a:r>
            <a:pPr indent="0" marL="0">
              <a:buNone/>
            </a:pPr>
            <a:r>
              <a:rPr lang="en-US" sz="10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 drip = PM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937760"/>
            <a:ext cx="5623560" cy="566928"/>
          </a:xfrm>
          <a:prstGeom prst="roundRect">
            <a:avLst>
              <a:gd name="adj" fmla="val 11290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4956048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II-28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691640" y="495604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Toxicology / Overdose   </a:t>
            </a:r>
            <a:pPr indent="0" marL="0">
              <a:buNone/>
            </a:pPr>
            <a:r>
              <a:rPr lang="en-US" sz="10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antidotes, monitoring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0" y="1371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decides the level of care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00800" y="173736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E7F3EE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620256" y="1883664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BLS-eligible when…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620256" y="2304288"/>
            <a:ext cx="48554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vitals, mentating normally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/ SL / IM meds only; no drips except NS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IV medication expected en route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is monitoring + reassessment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0" y="3566160"/>
            <a:ext cx="5257800" cy="2377440"/>
          </a:xfrm>
          <a:prstGeom prst="roundRect">
            <a:avLst>
              <a:gd name="adj" fmla="val 3462"/>
            </a:avLst>
          </a:prstGeom>
          <a:solidFill>
            <a:srgbClr val="F6E7EA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620256" y="3712464"/>
            <a:ext cx="4818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to ALS when…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620256" y="4133088"/>
            <a:ext cx="485546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push med / D10 expected en route  → AEMT</a:t>
            </a:r>
            <a:endParaRPr lang="en-US" sz="120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infusion  → PM (not on AEMT list)</a:t>
            </a:r>
            <a:endParaRPr lang="en-US" sz="120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Vasopressor / epinephrine infusion  → PM</a:t>
            </a:r>
            <a:endParaRPr lang="en-US" sz="1200" dirty="0"/>
          </a:p>
          <a:p>
            <a:pPr marL="152400" indent="-152400">
              <a:spcAft>
                <a:spcPts val="45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titrated drip  → PM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b="1" dirty="0">
                <a:solidFill>
                  <a:srgbClr val="9E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 doesn't set the level — the therapies at transfer do.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7A4E9E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A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PATIENTS, SAME LESSON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sort — Hypoglycemia (II-26) vs Anaphylaxis (II-27)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E2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Hypoglycemia — II-26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7F3EE"/>
          </a:solidFill>
          <a:ln w="12700">
            <a:solidFill>
              <a:srgbClr val="0F7B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1947672"/>
            <a:ext cx="8686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0F7B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9476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719072" y="18288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q30 min · oral glucose gel 15–25 g if awake &amp; can swallow · monitor · notify medic</a:t>
            </a:r>
            <a:endParaRPr lang="en-US" sz="1130" dirty="0"/>
          </a:p>
        </p:txBody>
      </p:sp>
      <p:sp>
        <p:nvSpPr>
          <p:cNvPr id="12" name="Shape 9"/>
          <p:cNvSpPr/>
          <p:nvPr/>
        </p:nvSpPr>
        <p:spPr>
          <a:xfrm>
            <a:off x="548640" y="2944368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6EFE0"/>
          </a:solidFill>
          <a:ln w="12700">
            <a:solidFill>
              <a:srgbClr val="B573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3108960"/>
            <a:ext cx="8686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573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1089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73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719072" y="2990088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IV · D10 100–250 mL IV for symptomatic/low · recheck at 5 min</a:t>
            </a:r>
            <a:endParaRPr lang="en-US" sz="1130" dirty="0"/>
          </a:p>
        </p:txBody>
      </p:sp>
      <p:sp>
        <p:nvSpPr>
          <p:cNvPr id="16" name="Shape 13"/>
          <p:cNvSpPr/>
          <p:nvPr/>
        </p:nvSpPr>
        <p:spPr>
          <a:xfrm>
            <a:off x="548640" y="4105656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6E7EA"/>
          </a:solidFill>
          <a:ln w="12700">
            <a:solidFill>
              <a:srgbClr val="B01B3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3232" y="4270248"/>
            <a:ext cx="8686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01B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42702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719072" y="4151376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insulin infusion per orders · glucagon if no IV · refractory → DMO / dextrose infusion</a:t>
            </a:r>
            <a:endParaRPr lang="en-US" sz="1130" dirty="0"/>
          </a:p>
        </p:txBody>
      </p:sp>
      <p:sp>
        <p:nvSpPr>
          <p:cNvPr id="20" name="Text 17"/>
          <p:cNvSpPr/>
          <p:nvPr/>
        </p:nvSpPr>
        <p:spPr>
          <a:xfrm>
            <a:off x="6583680" y="137160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Anaphylaxis — II-27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583680" y="17830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7F3EE"/>
          </a:solidFill>
          <a:ln w="12700">
            <a:solidFill>
              <a:srgbClr val="0F7B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48272" y="1947672"/>
            <a:ext cx="8686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0F7B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48272" y="19476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54112" y="18288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ABCs + continuous monitor · keep epi autoinjector immediately accessible · notify medic on any change</a:t>
            </a:r>
            <a:endParaRPr lang="en-US" sz="1130" dirty="0"/>
          </a:p>
        </p:txBody>
      </p:sp>
      <p:sp>
        <p:nvSpPr>
          <p:cNvPr id="25" name="Shape 22"/>
          <p:cNvSpPr/>
          <p:nvPr/>
        </p:nvSpPr>
        <p:spPr>
          <a:xfrm>
            <a:off x="6583680" y="2944368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6EFE0"/>
          </a:solidFill>
          <a:ln w="12700">
            <a:solidFill>
              <a:srgbClr val="B5730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48272" y="3108960"/>
            <a:ext cx="8686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573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48272" y="31089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73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54112" y="2990088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epi 1:1,000 0.3–0.5 mg for recurrence · albuterol neb · NS bolus · diphenhydramine</a:t>
            </a:r>
            <a:endParaRPr lang="en-US" sz="1130" dirty="0"/>
          </a:p>
        </p:txBody>
      </p:sp>
      <p:sp>
        <p:nvSpPr>
          <p:cNvPr id="29" name="Shape 26"/>
          <p:cNvSpPr/>
          <p:nvPr/>
        </p:nvSpPr>
        <p:spPr>
          <a:xfrm>
            <a:off x="6583680" y="4105656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6E7EA"/>
          </a:solidFill>
          <a:ln w="12700">
            <a:solidFill>
              <a:srgbClr val="B01B3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48272" y="4270248"/>
            <a:ext cx="8686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01B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48272" y="42702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754112" y="4151376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Epinephrine infusion 2–10 mcg/min titrated · magnesium for refractory bronchospasm</a:t>
            </a:r>
            <a:endParaRPr lang="en-US" sz="1130" dirty="0"/>
          </a:p>
        </p:txBody>
      </p:sp>
      <p:sp>
        <p:nvSpPr>
          <p:cNvPr id="33" name="Shape 30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2000"/>
            </a:avLst>
          </a:prstGeom>
          <a:solidFill>
            <a:srgbClr val="F6E7EA"/>
          </a:solidFill>
          <a:ln w="15875">
            <a:solidFill>
              <a:srgbClr val="B01B3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7240" y="54406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30" b="1" dirty="0">
                <a:solidFill>
                  <a:srgbClr val="9E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trap:  </a:t>
            </a:r>
            <a:pPr indent="0" marL="0">
              <a:lnSpc>
                <a:spcPts val="1500"/>
              </a:lnSpc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epinephrine infusion or insulin infusion at departure is PM-only — a “resolved” or “stable” label doesn't downgrade a running drip. Find one on a BLS/AEMT dispatch → don't depart; request paramedic intercept.</a:t>
            </a:r>
            <a:endParaRPr lang="en-US" sz="1230" dirty="0"/>
          </a:p>
        </p:txBody>
      </p:sp>
      <p:sp>
        <p:nvSpPr>
          <p:cNvPr id="35" name="Text 3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B5F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genuinely BLS pulmonary / medical transfer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E2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486400" cy="3794760"/>
          </a:xfrm>
          <a:prstGeom prst="roundRect">
            <a:avLst>
              <a:gd name="adj" fmla="val 2651"/>
            </a:avLst>
          </a:prstGeom>
          <a:solidFill>
            <a:srgbClr val="E7F3EE"/>
          </a:solidFill>
          <a:ln w="17780">
            <a:solidFill>
              <a:srgbClr val="0F7B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BLS-eligible profile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22960" y="233172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vitals; no escalating trend</a:t>
            </a:r>
            <a:endParaRPr lang="en-US" sz="128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within EMT scope — NC / NRB / BVM, or assisting a CPAP mask seal already in place</a:t>
            </a:r>
            <a:endParaRPr lang="en-US" sz="128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IV push or infusion needed en route</a:t>
            </a:r>
            <a:endParaRPr lang="en-US" sz="128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drips other than normal saline continuity</a:t>
            </a:r>
            <a:endParaRPr lang="en-US" sz="128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self-maintained (SGA-capable if needed)</a:t>
            </a:r>
            <a:endParaRPr lang="en-US" sz="1280" dirty="0"/>
          </a:p>
          <a:p>
            <a:pPr marL="152400" indent="-152400">
              <a:lnSpc>
                <a:spcPts val="1600"/>
              </a:lnSpc>
              <a:buSzPct val="100000"/>
              <a:buChar char="•"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is monitoring and serial reassessment</a:t>
            </a:r>
            <a:endParaRPr lang="en-US" sz="1280" dirty="0"/>
          </a:p>
        </p:txBody>
      </p:sp>
      <p:sp>
        <p:nvSpPr>
          <p:cNvPr id="11" name="Shape 7"/>
          <p:cNvSpPr/>
          <p:nvPr/>
        </p:nvSpPr>
        <p:spPr>
          <a:xfrm>
            <a:off x="6172200" y="1463040"/>
            <a:ext cx="5486400" cy="3794760"/>
          </a:xfrm>
          <a:prstGeom prst="roundRect">
            <a:avLst>
              <a:gd name="adj" fmla="val 2651"/>
            </a:avLst>
          </a:prstGeom>
          <a:solidFill>
            <a:srgbClr val="F6E7EA"/>
          </a:solidFill>
          <a:ln w="17780">
            <a:solidFill>
              <a:srgbClr val="B01B3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9516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 — “not your call”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46520" y="233172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–"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infusion other than normal saline</a:t>
            </a:r>
            <a:endParaRPr lang="en-US" sz="128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–"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IV / IO medication expected en route</a:t>
            </a:r>
            <a:endParaRPr lang="en-US" sz="128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–"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Ventilator, or new CPAP initiation needed</a:t>
            </a:r>
            <a:endParaRPr lang="en-US" sz="128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–"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tracheal or stoma suctioning required</a:t>
            </a:r>
            <a:endParaRPr lang="en-US" sz="128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–"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or escalating therapy at bedside</a:t>
            </a:r>
            <a:endParaRPr lang="en-US" sz="1280" dirty="0"/>
          </a:p>
          <a:p>
            <a:pPr marL="152400" indent="-152400">
              <a:lnSpc>
                <a:spcPts val="1600"/>
              </a:lnSpc>
              <a:buSzPct val="100000"/>
              <a:buChar char="–"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device dependence (see next section)</a:t>
            </a:r>
            <a:endParaRPr lang="en-US" sz="1280" dirty="0"/>
          </a:p>
        </p:txBody>
      </p:sp>
      <p:sp>
        <p:nvSpPr>
          <p:cNvPr id="15" name="Shape 10"/>
          <p:cNvSpPr/>
          <p:nvPr/>
        </p:nvSpPr>
        <p:spPr>
          <a:xfrm>
            <a:off x="548640" y="544068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BEDE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9612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5440680"/>
            <a:ext cx="10195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9E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(TP02):  </a:t>
            </a:r>
            <a:pPr indent="0" marL="0">
              <a:buNone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what you find at the bedside exceeds your credential — notify dispatch, request the right resource, and do not depart.</a:t>
            </a:r>
            <a:endParaRPr lang="en-US" sz="1280" dirty="0"/>
          </a:p>
        </p:txBody>
      </p:sp>
      <p:sp>
        <p:nvSpPr>
          <p:cNvPr id="18" name="Text 1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6E63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HEADS-UP, NOT A COMPETENCY TODAY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 — Accompanied specialty transport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E2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6583680" cy="1965960"/>
          </a:xfrm>
          <a:prstGeom prst="roundRect">
            <a:avLst>
              <a:gd name="adj" fmla="val 4651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6002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1938528"/>
            <a:ext cx="6172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sending hospital sends a specialty clinical team — RN, RT, MD, or perfusionist — with the patient and the device. AMR provides the transport platform, patient monitoring within our credentialed scope, and support to the accompanying team.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315200" y="1463040"/>
            <a:ext cx="4343400" cy="1965960"/>
          </a:xfrm>
          <a:prstGeom prst="roundRect">
            <a:avLst>
              <a:gd name="adj" fmla="val 4651"/>
            </a:avLst>
          </a:prstGeom>
          <a:solidFill>
            <a:srgbClr val="E7F1EF"/>
          </a:solidFill>
          <a:ln w="17780">
            <a:solidFill>
              <a:srgbClr val="0E6E63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66420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0" y="16642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principle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543800" y="22402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authority for the specialty device stays with the accompanying clinician — in every case.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864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you'll see — deep dive in Sessions 4 &amp; 5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0E6E63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31520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NICU Support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31520" y="45079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VII-1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31520" y="4754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OPRMC model — NICU team travels; AMR drives + assists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3447288" y="402336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0E6E63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630168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IABP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630168" y="45079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VII-2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630168" y="4754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Intra-aortic balloon pump; perfusionist / specialty RN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6345936" y="402336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0E6E63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528816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Impella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528816" y="45079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VII-3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528816" y="4754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Percutaneous LV support device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9244584" y="402336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0E6E63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9427464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ECMO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9427464" y="45079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VII-4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9427464" y="4754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Extracorporeal membrane oxygenation team</a:t>
            </a:r>
            <a:endParaRPr lang="en-US" sz="1080" dirty="0"/>
          </a:p>
        </p:txBody>
      </p:sp>
      <p:sp>
        <p:nvSpPr>
          <p:cNvPr id="31" name="Text 27"/>
          <p:cNvSpPr/>
          <p:nvPr/>
        </p:nvSpPr>
        <p:spPr>
          <a:xfrm>
            <a:off x="548640" y="580644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only need to recognize the model and your role. You are not certifying on these devices in this block.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E6E63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Accompanied specialty — role clarity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E2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486400" cy="2880360"/>
          </a:xfrm>
          <a:prstGeom prst="roundRect">
            <a:avLst>
              <a:gd name="adj" fmla="val 3175"/>
            </a:avLst>
          </a:prstGeom>
          <a:solidFill>
            <a:srgbClr val="EEF2FB"/>
          </a:solidFill>
          <a:ln w="16510">
            <a:solidFill>
              <a:srgbClr val="1E2C4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" y="15727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CREW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" y="1938528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vehicle operation &amp; route planning</a:t>
            </a:r>
            <a:endParaRPr lang="en-US" sz="1180" dirty="0"/>
          </a:p>
          <a:p>
            <a:pPr marL="139700" indent="-1397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secure, and unload equipment</a:t>
            </a:r>
            <a:endParaRPr lang="en-US" sz="1180" dirty="0"/>
          </a:p>
          <a:p>
            <a:pPr marL="139700" indent="-1397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monitoring: rhythm, vitals, IV integrity, limb-ischemia checks at insertion sites</a:t>
            </a:r>
            <a:endParaRPr lang="en-US" sz="1180" dirty="0"/>
          </a:p>
          <a:p>
            <a:pPr marL="139700" indent="-1397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the team as directed, within AMR scope</a:t>
            </a:r>
            <a:endParaRPr lang="en-US" sz="1180" dirty="0"/>
          </a:p>
          <a:p>
            <a:pPr marL="139700" indent="-1397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vehicle power &amp; environmental stability</a:t>
            </a:r>
            <a:endParaRPr lang="en-US" sz="1180" dirty="0"/>
          </a:p>
          <a:p>
            <a:pPr marL="139700" indent="-139700">
              <a:lnSpc>
                <a:spcPts val="1400"/>
              </a:lnSpc>
              <a:buSzPct val="100000"/>
              <a:buChar char="•"/>
            </a:pPr>
            <a:r>
              <a:rPr lang="en-US" sz="11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device alarms as reported by the team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72200" y="1417320"/>
            <a:ext cx="5486400" cy="2880360"/>
          </a:xfrm>
          <a:prstGeom prst="roundRect">
            <a:avLst>
              <a:gd name="adj" fmla="val 3175"/>
            </a:avLst>
          </a:prstGeom>
          <a:solidFill>
            <a:srgbClr val="E7F1EF"/>
          </a:solidFill>
          <a:ln w="16510">
            <a:solidFill>
              <a:srgbClr val="0E6E63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73368" y="15727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TEAM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9944" y="1938528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device management and adjustment</a:t>
            </a:r>
            <a:endParaRPr lang="en-US" sz="1180" dirty="0"/>
          </a:p>
          <a:p>
            <a:pPr marL="139700" indent="-1397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alarms and troubleshooting</a:t>
            </a:r>
            <a:endParaRPr lang="en-US" sz="1180" dirty="0"/>
          </a:p>
          <a:p>
            <a:pPr marL="139700" indent="-1397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administration and titration</a:t>
            </a:r>
            <a:endParaRPr lang="en-US" sz="1180" dirty="0"/>
          </a:p>
          <a:p>
            <a:pPr marL="139700" indent="-1397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and invasive-line management</a:t>
            </a:r>
            <a:endParaRPr lang="en-US" sz="1180" dirty="0"/>
          </a:p>
          <a:p>
            <a:pPr marL="139700" indent="-1397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/ timing interpretation (e.g., IABP)</a:t>
            </a:r>
            <a:endParaRPr lang="en-US" sz="1180" dirty="0"/>
          </a:p>
          <a:p>
            <a:pPr marL="139700" indent="-139700">
              <a:lnSpc>
                <a:spcPts val="1400"/>
              </a:lnSpc>
              <a:buSzPct val="100000"/>
              <a:buChar char="•"/>
            </a:pPr>
            <a:r>
              <a:rPr lang="en-US" sz="11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clinical decision-making for the patient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548640" y="4526280"/>
            <a:ext cx="11109960" cy="1600200"/>
          </a:xfrm>
          <a:prstGeom prst="roundRect">
            <a:avLst>
              <a:gd name="adj" fmla="val 6857"/>
            </a:avLst>
          </a:prstGeom>
          <a:solidFill>
            <a:srgbClr val="141E33"/>
          </a:solidFill>
          <a:ln/>
          <a:effectLst>
            <a:outerShdw sx="100000" sy="100000" kx="0" ky="0" algn="bl" rotWithShape="0" blurRad="88900" dist="38100" dir="5400000">
              <a:srgbClr val="8A97AD">
                <a:alpha val="2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892040"/>
            <a:ext cx="868680" cy="8686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0312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103120" y="507492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initiate, adjust, or troubleshoot the specialty device. </a:t>
            </a:r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9D2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team asks you to act outside AMR scope, decline and state the limitation.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QUESTION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necessity — why an ambulance at all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E2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FBEDE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371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9E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billing-compliance framework (CMS).  </a:t>
            </a:r>
            <a:pPr indent="0" marL="0"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clinical protocol — but every PCR must satisfy it, and QA reviews it on every IFT.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9808" y="2514600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transport is medically necessary when the patient's condition is such that transport by any other means is contraindicated — it would endanger their health — and the transport is to obtain a covered service. The condition, not the diagnosis code, is the test.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04672" y="374904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508760" y="37673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means contraindicated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41248" y="4434840"/>
            <a:ext cx="4873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40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by wheelchair van or private vehicle would risk the patient's health. Bed-confined status is one supporting factor — not the whole test. What matters is the clinical reason another mode is unsafe: needs continuous O₂, monitoring, positioning, skilled intervention, or isolation en route.</a:t>
            </a:r>
            <a:endParaRPr lang="en-US" sz="1160" dirty="0"/>
          </a:p>
        </p:txBody>
      </p:sp>
      <p:sp>
        <p:nvSpPr>
          <p:cNvPr id="17" name="Shape 14"/>
          <p:cNvSpPr/>
          <p:nvPr/>
        </p:nvSpPr>
        <p:spPr>
          <a:xfrm>
            <a:off x="6217920" y="35204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C8102E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73952" y="374904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6"/>
          <p:cNvSpPr/>
          <p:nvPr/>
        </p:nvSpPr>
        <p:spPr>
          <a:xfrm>
            <a:off x="6473952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178040" y="37673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level of service, covered destination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510528" y="4434840"/>
            <a:ext cx="4873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60" dirty="0">
                <a:solidFill>
                  <a:srgbClr val="40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 billed (BLS vs ALS) must match what the patient needed and what you documented, and the destination must be an appropriate, covered level of care.</a:t>
            </a:r>
            <a:endParaRPr lang="en-US" sz="1160" dirty="0"/>
          </a:p>
        </p:txBody>
      </p:sp>
      <p:sp>
        <p:nvSpPr>
          <p:cNvPr id="22" name="Text 19"/>
          <p:cNvSpPr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back to protocol —  </a:t>
            </a:r>
            <a:pPr indent="0" marL="0">
              <a:buNone/>
            </a:pPr>
            <a:r>
              <a:rPr lang="en-US" sz="11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TP07: “If it was not documented, it did not happen.”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 THE STANDARD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Med-Nec narrative must prove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1E2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486400" cy="3703320"/>
          </a:xfrm>
          <a:prstGeom prst="roundRect">
            <a:avLst>
              <a:gd name="adj" fmla="val 2716"/>
            </a:avLst>
          </a:prstGeom>
          <a:solidFill>
            <a:srgbClr val="E7F3EE"/>
          </a:solidFill>
          <a:ln w="17780">
            <a:solidFill>
              <a:srgbClr val="0F7B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166420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must show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22960" y="22860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at the time of transport — not just a diagnosis code</a:t>
            </a:r>
            <a:endParaRPr lang="en-US" sz="126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other transport was unsafe: bed-confined, needs continuous O₂, monitoring, positioning, isolation, or skilled care en route</a:t>
            </a:r>
            <a:endParaRPr lang="en-US" sz="126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required and what you provided during transport</a:t>
            </a:r>
            <a:endParaRPr lang="en-US" sz="1260" dirty="0"/>
          </a:p>
          <a:p>
            <a:pPr marL="152400" indent="-152400">
              <a:lnSpc>
                <a:spcPts val="1600"/>
              </a:lnSpc>
              <a:buSzPct val="100000"/>
              <a:buChar char="•"/>
            </a:pPr>
            <a:r>
              <a:rPr lang="en-US" sz="126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level of service (BLS/ALS) that matches the interventions you charted</a:t>
            </a:r>
            <a:endParaRPr lang="en-US" sz="1260" dirty="0"/>
          </a:p>
        </p:txBody>
      </p:sp>
      <p:sp>
        <p:nvSpPr>
          <p:cNvPr id="11" name="Shape 7"/>
          <p:cNvSpPr/>
          <p:nvPr/>
        </p:nvSpPr>
        <p:spPr>
          <a:xfrm>
            <a:off x="6172200" y="1463040"/>
            <a:ext cx="5486400" cy="3703320"/>
          </a:xfrm>
          <a:prstGeom prst="roundRect">
            <a:avLst>
              <a:gd name="adj" fmla="val 2716"/>
            </a:avLst>
          </a:prstGeom>
          <a:solidFill>
            <a:srgbClr val="F6E7EA"/>
          </a:solidFill>
          <a:ln w="17780">
            <a:solidFill>
              <a:srgbClr val="B01B3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64208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76872" y="166420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failures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46520" y="22860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–"/>
            </a:pPr>
            <a:r>
              <a:rPr lang="en-US" sz="124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Canned / generic narrative reused across patients</a:t>
            </a:r>
            <a:endParaRPr lang="en-US" sz="124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–"/>
            </a:pPr>
            <a:r>
              <a:rPr lang="en-US" sz="124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Restating the dispatch reason (“transfer for higher care”) with no clinical picture</a:t>
            </a:r>
            <a:endParaRPr lang="en-US" sz="124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–"/>
            </a:pPr>
            <a:r>
              <a:rPr lang="en-US" sz="124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between the condition and the need for an ambulance</a:t>
            </a:r>
            <a:endParaRPr lang="en-US" sz="124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–"/>
            </a:pPr>
            <a:r>
              <a:rPr lang="en-US" sz="124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the reason another mode of transport was unsafe</a:t>
            </a:r>
            <a:endParaRPr lang="en-US" sz="1240" dirty="0"/>
          </a:p>
          <a:p>
            <a:pPr marL="152400" indent="-152400">
              <a:lnSpc>
                <a:spcPts val="1500"/>
              </a:lnSpc>
              <a:buSzPct val="100000"/>
              <a:buChar char="–"/>
            </a:pPr>
            <a:r>
              <a:rPr lang="en-US" sz="124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mismatch — BLS narrative with ALS interventions, or the reverse</a:t>
            </a:r>
            <a:endParaRPr lang="en-US" sz="1240" dirty="0"/>
          </a:p>
        </p:txBody>
      </p:sp>
      <p:sp>
        <p:nvSpPr>
          <p:cNvPr id="15" name="Shape 10"/>
          <p:cNvSpPr/>
          <p:nvPr/>
        </p:nvSpPr>
        <p:spPr>
          <a:xfrm>
            <a:off x="548640" y="5394960"/>
            <a:ext cx="11109960" cy="6858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 w="15240">
            <a:solidFill>
              <a:srgbClr val="1E2C49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" y="53949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bar:  </a:t>
            </a:r>
            <a:pPr indent="0" marL="0">
              <a:buNone/>
            </a:pPr>
            <a:r>
              <a:rPr lang="en-US" sz="128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who wasn't there must see the medical necessity from your words alone. In Part 2 you'll critique real narratives against exactly this standard.</a:t>
            </a:r>
            <a:endParaRPr lang="en-US" sz="1280" dirty="0"/>
          </a:p>
        </p:txBody>
      </p:sp>
      <p:sp>
        <p:nvSpPr>
          <p:cNvPr id="17" name="Text 1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55448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49808" y="21488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&amp; Med-Nec Critique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6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built the sort. Now run patients through it — then hold their narratives to the standard.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023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E2C49"/>
          </a:solidFill>
          <a:ln w="12700">
            <a:solidFill>
              <a:srgbClr val="33456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42519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42245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Sort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51560" y="4892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6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level of care (BLS/ALS)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53712" y="4023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E2C49"/>
          </a:solidFill>
          <a:ln w="12700">
            <a:solidFill>
              <a:srgbClr val="33456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42519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42245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Justify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828032" y="4892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6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patient need us?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30184" y="4023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E2C49"/>
          </a:solidFill>
          <a:ln w="12700">
            <a:solidFill>
              <a:srgbClr val="33456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42519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98864" y="42245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Critique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604504" y="4892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6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narrative prove level of care AND medical necessity?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E6E8E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· PULMONARY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COPD, hospital day 3 → SNF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6446520" cy="3703320"/>
          </a:xfrm>
          <a:prstGeom prst="roundRect">
            <a:avLst>
              <a:gd name="adj" fmla="val 2469"/>
            </a:avLst>
          </a:prstGeom>
          <a:solidFill>
            <a:srgbClr val="F3F5F9"/>
          </a:solidFill>
          <a:ln w="15240">
            <a:solidFill>
              <a:srgbClr val="2E6E8E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5727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1901952"/>
            <a:ext cx="5989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y/o M, COPD exacerbation,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 3 days, now stable.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Transfer from a community hospital ED to a SNF for continued care.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2 L nasal cannula, SpO₂ 94%. No IV infusions; saline lock in place.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Ambulatory to bathroom with assist but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of breath on exertion.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Sending MD documents “bed-confined for transport, requires continuous O₂ and monitoring.”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drips and no neb ordered en route.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9776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NARRATIVE (to critique)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4251960"/>
            <a:ext cx="5989320" cy="749808"/>
          </a:xfrm>
          <a:prstGeom prst="roundRect">
            <a:avLst>
              <a:gd name="adj" fmla="val 7317"/>
            </a:avLst>
          </a:prstGeom>
          <a:solidFill>
            <a:srgbClr val="FBEDEF"/>
          </a:solidFill>
          <a:ln w="12700">
            <a:solidFill>
              <a:srgbClr val="E4B7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4251960"/>
            <a:ext cx="5715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i="1" dirty="0">
                <a:solidFill>
                  <a:srgbClr val="5A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“Pt transported from [Hospital] to [SNF] for continued care per MD order. Pt stable during transport. No acute distress. Delivered to receiving facility without incident.”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132320" y="1417320"/>
            <a:ext cx="4526280" cy="3703320"/>
          </a:xfrm>
          <a:prstGeom prst="roundRect">
            <a:avLst>
              <a:gd name="adj" fmla="val 2469"/>
            </a:avLst>
          </a:prstGeom>
          <a:solidFill>
            <a:srgbClr val="EEF2FB"/>
          </a:solidFill>
          <a:ln w="16510">
            <a:solidFill>
              <a:srgbClr val="1E2C4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33488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06640" y="201168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8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Category? Level of care — BLS or ALS?</a:t>
            </a:r>
            <a:endParaRPr lang="en-US" sz="1350" dirty="0"/>
          </a:p>
          <a:p>
            <a:pPr marL="203200" indent="-203200">
              <a:lnSpc>
                <a:spcPts val="18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patient need us — or do they?</a:t>
            </a:r>
            <a:endParaRPr lang="en-US" sz="1350" dirty="0"/>
          </a:p>
          <a:p>
            <a:pPr marL="203200" indent="-203200">
              <a:lnSpc>
                <a:spcPts val="18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medical-necessity hook?</a:t>
            </a:r>
            <a:endParaRPr lang="en-US" sz="1350" dirty="0"/>
          </a:p>
          <a:p>
            <a:pPr marL="203200" indent="-203200">
              <a:lnSpc>
                <a:spcPts val="180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sample narrative: does it prove either question?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 — 4 minutes. Sort first, then critique.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E6E8E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· DEBRIEF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sort holds — the narrative fails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E7F3EE"/>
          </a:solidFill>
          <a:ln w="16510">
            <a:solidFill>
              <a:srgbClr val="0F7B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" y="184708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2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 </a:t>
            </a:r>
            <a:pPr indent="0" marL="0">
              <a:lnSpc>
                <a:spcPts val="1600"/>
              </a:lnSpc>
              <a:buNone/>
            </a:pPr>
            <a:r>
              <a:rPr lang="en-US" sz="122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— stable COPD, continued care.</a:t>
            </a:r>
            <a:endParaRPr lang="en-US" sz="122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2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care:  </a:t>
            </a:r>
            <a:pPr indent="0" marL="0">
              <a:lnSpc>
                <a:spcPts val="1600"/>
              </a:lnSpc>
              <a:buNone/>
            </a:pPr>
            <a:r>
              <a:rPr lang="en-US" sz="122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BLS-eligible — O₂ within EMT scope, no drips, monitoring only.</a:t>
            </a:r>
            <a:endParaRPr lang="en-US" sz="122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2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us:  </a:t>
            </a:r>
            <a:pPr indent="0" marL="0">
              <a:lnSpc>
                <a:spcPts val="1600"/>
              </a:lnSpc>
              <a:buNone/>
            </a:pPr>
            <a:r>
              <a:rPr lang="en-US" sz="122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O₂ + respiratory monitoring; exertional dyspnea; bed-confined documented.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6172200" y="141732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6E7EA"/>
          </a:solidFill>
          <a:ln w="16510">
            <a:solidFill>
              <a:srgbClr val="B01B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3368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0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CRITIQUE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0" y="1847088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–"/>
            </a:pPr>
            <a:r>
              <a:rPr lang="en-US" sz="114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Restates the dispatch reason — no clinical picture</a:t>
            </a:r>
            <a:endParaRPr lang="en-US" sz="114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–"/>
            </a:pPr>
            <a:r>
              <a:rPr lang="en-US" sz="114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“Stable / no incident” proves nothing</a:t>
            </a:r>
            <a:endParaRPr lang="en-US" sz="114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–"/>
            </a:pPr>
            <a:r>
              <a:rPr lang="en-US" sz="114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O₂ requirement or exertional desat noted</a:t>
            </a:r>
            <a:endParaRPr lang="en-US" sz="1140" dirty="0"/>
          </a:p>
          <a:p>
            <a:pPr marL="139700" indent="-139700">
              <a:lnSpc>
                <a:spcPts val="1250"/>
              </a:lnSpc>
              <a:spcAft>
                <a:spcPts val="350"/>
              </a:spcAft>
              <a:buSzPct val="100000"/>
              <a:buChar char="–"/>
            </a:pPr>
            <a:r>
              <a:rPr lang="en-US" sz="114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bed-confined justification; no monitoring documented</a:t>
            </a:r>
            <a:endParaRPr lang="en-US" sz="1140" dirty="0"/>
          </a:p>
          <a:p>
            <a:pPr marL="139700" indent="-139700">
              <a:lnSpc>
                <a:spcPts val="1250"/>
              </a:lnSpc>
              <a:buSzPct val="100000"/>
              <a:buChar char="–"/>
            </a:pPr>
            <a:r>
              <a:rPr lang="en-US" sz="114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shows why a wheelchair van wouldn't do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548640" y="3520440"/>
            <a:ext cx="11109960" cy="1920240"/>
          </a:xfrm>
          <a:prstGeom prst="roundRect">
            <a:avLst>
              <a:gd name="adj" fmla="val 5238"/>
            </a:avLst>
          </a:prstGeom>
          <a:solidFill>
            <a:srgbClr val="EEF2FB"/>
          </a:solidFill>
          <a:ln w="16510">
            <a:solidFill>
              <a:srgbClr val="1E2C4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490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chart needed to say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914400" y="4343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at transport + oxygen dependence (2 L NC maintaining 94%; desats with exertion)</a:t>
            </a:r>
            <a:endParaRPr lang="en-US" sz="1250" dirty="0"/>
          </a:p>
          <a:p>
            <a:pPr marL="139700" indent="-1397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Bed-confined / unable to tolerate transport by other means without respiratory risk</a:t>
            </a:r>
            <a:endParaRPr lang="en-US" sz="1250" dirty="0"/>
          </a:p>
          <a:p>
            <a:pPr marL="139700" indent="-1397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O₂, upright positioning, and respiratory monitoring required and provided en route</a:t>
            </a:r>
            <a:endParaRPr lang="en-US" sz="1250" dirty="0"/>
          </a:p>
          <a:p>
            <a:pPr marL="139700" indent="-139700">
              <a:lnSpc>
                <a:spcPts val="1500"/>
              </a:lnSpc>
              <a:buSzPct val="100000"/>
              <a:buChar char="•"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SpO₂ / RR documented at intervals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48640" y="562356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BLS-eligible is not the same as “no documentation needed.” A BLS transport still has to prove medical necessity.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7A4E9E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A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· MEDICAL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“Resolved” DKA, ICU stepdown → tertiary center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6446520" cy="3703320"/>
          </a:xfrm>
          <a:prstGeom prst="roundRect">
            <a:avLst>
              <a:gd name="adj" fmla="val 2469"/>
            </a:avLst>
          </a:prstGeom>
          <a:solidFill>
            <a:srgbClr val="F3F5F9"/>
          </a:solidFill>
          <a:ln w="15240">
            <a:solidFill>
              <a:srgbClr val="7A4E9E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5727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1901952"/>
            <a:ext cx="5989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y/o F, DKA now resolved,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transferring from ICU stepdown to a tertiary center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further endocrine management.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Insulin infusion still running at 2 units/hr per sending orders.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Two peripheral IVs patent. Glucose 180 mg/dL, mentating normally, vital signs stable.</a:t>
            </a:r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 were dispatched to this call as an AEMT crew.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4297680"/>
            <a:ext cx="5989320" cy="685800"/>
          </a:xfrm>
          <a:prstGeom prst="roundRect">
            <a:avLst>
              <a:gd name="adj" fmla="val 9333"/>
            </a:avLst>
          </a:prstGeom>
          <a:solidFill>
            <a:srgbClr val="F1EBF6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4297680"/>
            <a:ext cx="5623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 </a:t>
            </a:r>
            <a:pPr indent="0" marL="0">
              <a:buNone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says “resolved,” but a therapy is still running.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32320" y="1417320"/>
            <a:ext cx="4526280" cy="3703320"/>
          </a:xfrm>
          <a:prstGeom prst="roundRect">
            <a:avLst>
              <a:gd name="adj" fmla="val 2469"/>
            </a:avLst>
          </a:prstGeom>
          <a:solidFill>
            <a:srgbClr val="EEF2FB"/>
          </a:solidFill>
          <a:ln w="16510">
            <a:solidFill>
              <a:srgbClr val="1E2C49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33488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06640" y="201168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8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Category? Can this go BLS? AEMT? Why or why not?</a:t>
            </a:r>
            <a:endParaRPr lang="en-US" sz="1350" dirty="0"/>
          </a:p>
          <a:p>
            <a:pPr marL="203200" indent="-203200">
              <a:lnSpc>
                <a:spcPts val="18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single finding sets the level of care?</a:t>
            </a:r>
            <a:endParaRPr lang="en-US" sz="1350" dirty="0"/>
          </a:p>
          <a:p>
            <a:pPr marL="203200" indent="-203200">
              <a:lnSpc>
                <a:spcPts val="18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patient need us?</a:t>
            </a:r>
            <a:endParaRPr lang="en-US" sz="1350" dirty="0"/>
          </a:p>
          <a:p>
            <a:pPr marL="203200" indent="-203200">
              <a:lnSpc>
                <a:spcPts val="180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the AEMT crew at the bedside — now what?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 — 4 minutes.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7A4E9E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A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· DEBRIEF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drip decides — not the diagnosis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6E7EA"/>
          </a:solidFill>
          <a:ln w="16510">
            <a:solidFill>
              <a:srgbClr val="B01B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0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" y="184708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— DKA / endocrine (II-17 · II-26 crossover).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(ALS). An insulin infusion is Paramedic-managed and is not on the AEMT authorized-infusion list.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infusion management, glucose trending q30, watch for recurrent hypo/hyperglycemia.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41732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BEDEF"/>
          </a:solidFill>
          <a:ln w="16510">
            <a:solidFill>
              <a:srgbClr val="C810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727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15727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AEMT AT THE BEDSIDE — NOW WHAT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00800" y="205740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depart — the running insulin drip exceeds AEMT scope</a:t>
            </a:r>
            <a:endParaRPr lang="en-US" sz="1200" dirty="0"/>
          </a:p>
          <a:p>
            <a:pPr marL="139700" indent="-1397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dispatch immediately</a:t>
            </a:r>
            <a:endParaRPr lang="en-US" sz="1200" dirty="0"/>
          </a:p>
          <a:p>
            <a:pPr marL="139700" indent="-1397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paramedic intercept or reassignment</a:t>
            </a:r>
            <a:endParaRPr lang="en-US" sz="1200" dirty="0"/>
          </a:p>
          <a:p>
            <a:pPr marL="139700" indent="-139700">
              <a:lnSpc>
                <a:spcPts val="1400"/>
              </a:lnSpc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scope limitation and the hand-off (TP02)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EEF2FB"/>
          </a:solidFill>
          <a:ln w="15875">
            <a:solidFill>
              <a:srgbClr val="1E2C4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794760"/>
            <a:ext cx="10012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“Resolved DKA” sounds like a routine BLS or AEMT transfer — the running drip makes it PM. Here medical necessity is easy to prove; the trap is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care.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Always confirm the dispatch level against what's actually infusing at the bedside.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8640" y="5166360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Case 1:  </a:t>
            </a:r>
            <a:pPr indent="0" marL="0">
              <a:lnSpc>
                <a:spcPts val="1500"/>
              </a:lnSpc>
              <a:buNone/>
            </a:pPr>
            <a:r>
              <a:rPr lang="en-US" sz="118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was correctly BLS with a weak chart. Case 2 is correctly PM with an easy chart. Sort and narrative are two separate judgments — get both right.</a:t>
            </a:r>
            <a:endParaRPr lang="en-US" sz="1180" dirty="0"/>
          </a:p>
        </p:txBody>
      </p:sp>
      <p:sp>
        <p:nvSpPr>
          <p:cNvPr id="18" name="Text 1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DRILL · CASE 1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Med-Nec narrative — before &amp; after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FBEDEF"/>
          </a:solidFill>
          <a:ln w="16510">
            <a:solidFill>
              <a:srgbClr val="B01B3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600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1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— fails QA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214884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5A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“Pt transported from [Hospital] to [SNF] for continued care per MD order. Pt stable during transport. No acute distress. Delivered to receiving facility without incident.”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72200" y="141732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E7F3EE"/>
          </a:solidFill>
          <a:ln w="16510">
            <a:solidFill>
              <a:srgbClr val="0F7B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03720" y="1600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— survives QA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446520" y="2103120"/>
            <a:ext cx="5029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1E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“62 y/o M, COPD exacerbation, hospital day 3, transferred from [Hospital] ED to [SNF]. At transport: alert, 2 L NC maintaining SpO₂ 94%; desaturates to 88% with dyspnea on minimal exertion. Bed-confined for transport per sending MD — unable to sit upright unsupported or tolerate other transport modes without risk of respiratory decompensation. Required continuous O₂, upright positioning, and respiratory monitoring throughout; SpO₂/RR monitored and documented q15 min. No distress en route; report given to [RN] at [SNF].”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548640" y="484632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EEF2FB"/>
          </a:solidFill>
          <a:ln w="15240">
            <a:solidFill>
              <a:srgbClr val="1E2C49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777240" y="5257800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F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at transport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F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dependence + exertional desat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F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other transport was unsafe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F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required &amp; provided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F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documented at intervals.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Both questions answered from the words alone.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C49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RETRIEVAL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whole academy so far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memory — call out, no notes. Answers on the next slide.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2203704"/>
            <a:ext cx="548640" cy="548640"/>
          </a:xfrm>
          <a:prstGeom prst="ellipse">
            <a:avLst/>
          </a:prstGeom>
          <a:solidFill>
            <a:srgbClr val="1E2C49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2203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463040" y="19659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two questions every IFT crew answers before departure.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548640" y="324612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3575304"/>
            <a:ext cx="548640" cy="548640"/>
          </a:xfrm>
          <a:prstGeom prst="ellipse">
            <a:avLst/>
          </a:prstGeom>
          <a:solidFill>
            <a:srgbClr val="1E2C49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" y="3575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463040" y="33375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on a norepinephrine (vasopressor) infusion is what minimum level of care?</a:t>
            </a:r>
            <a:endParaRPr lang="en-US" sz="1230" dirty="0"/>
          </a:p>
        </p:txBody>
      </p:sp>
      <p:sp>
        <p:nvSpPr>
          <p:cNvPr id="16" name="Shape 13"/>
          <p:cNvSpPr/>
          <p:nvPr/>
        </p:nvSpPr>
        <p:spPr>
          <a:xfrm>
            <a:off x="548640" y="461772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" y="4946904"/>
            <a:ext cx="548640" cy="548640"/>
          </a:xfrm>
          <a:prstGeom prst="ellipse">
            <a:avLst/>
          </a:prstGeom>
          <a:solidFill>
            <a:srgbClr val="1E2C49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463040" y="47091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False: on an accompanied ECMO transport, the AMR paramedic may adjust the pump if the specialty RN asks.</a:t>
            </a:r>
            <a:endParaRPr lang="en-US" sz="1230" dirty="0"/>
          </a:p>
        </p:txBody>
      </p:sp>
      <p:sp>
        <p:nvSpPr>
          <p:cNvPr id="20" name="Shape 17"/>
          <p:cNvSpPr/>
          <p:nvPr/>
        </p:nvSpPr>
        <p:spPr>
          <a:xfrm>
            <a:off x="6172200" y="187452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73368" y="2203704"/>
            <a:ext cx="548640" cy="548640"/>
          </a:xfrm>
          <a:prstGeom prst="ellipse">
            <a:avLst/>
          </a:prstGeom>
          <a:solidFill>
            <a:srgbClr val="1E2C49"/>
          </a:solidFill>
          <a:ln/>
        </p:spPr>
      </p:sp>
      <p:sp>
        <p:nvSpPr>
          <p:cNvPr id="22" name="Text 19"/>
          <p:cNvSpPr/>
          <p:nvPr/>
        </p:nvSpPr>
        <p:spPr>
          <a:xfrm>
            <a:off x="6373368" y="2203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086600" y="19659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dispatched AEMT and find a running norepinephrine drip at the bedside. What do you do?</a:t>
            </a:r>
            <a:endParaRPr lang="en-US" sz="1230" dirty="0"/>
          </a:p>
        </p:txBody>
      </p:sp>
      <p:sp>
        <p:nvSpPr>
          <p:cNvPr id="24" name="Shape 21"/>
          <p:cNvSpPr/>
          <p:nvPr/>
        </p:nvSpPr>
        <p:spPr>
          <a:xfrm>
            <a:off x="6172200" y="324612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73368" y="3575304"/>
            <a:ext cx="548640" cy="548640"/>
          </a:xfrm>
          <a:prstGeom prst="ellipse">
            <a:avLst/>
          </a:prstGeom>
          <a:solidFill>
            <a:srgbClr val="1E2C49"/>
          </a:solidFill>
          <a:ln/>
        </p:spPr>
      </p:sp>
      <p:sp>
        <p:nvSpPr>
          <p:cNvPr id="26" name="Text 23"/>
          <p:cNvSpPr/>
          <p:nvPr/>
        </p:nvSpPr>
        <p:spPr>
          <a:xfrm>
            <a:off x="6373368" y="3575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086600" y="33375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single line in a Section II protocol tells you the level of care for that transfer?</a:t>
            </a:r>
            <a:endParaRPr lang="en-US" sz="1230" dirty="0"/>
          </a:p>
        </p:txBody>
      </p:sp>
      <p:sp>
        <p:nvSpPr>
          <p:cNvPr id="28" name="Shape 25"/>
          <p:cNvSpPr/>
          <p:nvPr/>
        </p:nvSpPr>
        <p:spPr>
          <a:xfrm>
            <a:off x="6172200" y="461772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3F5F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73368" y="4946904"/>
            <a:ext cx="548640" cy="548640"/>
          </a:xfrm>
          <a:prstGeom prst="ellipse">
            <a:avLst/>
          </a:prstGeom>
          <a:solidFill>
            <a:srgbClr val="1E2C49"/>
          </a:solidFill>
          <a:ln/>
        </p:spPr>
      </p:sp>
      <p:sp>
        <p:nvSpPr>
          <p:cNvPr id="30" name="Text 27"/>
          <p:cNvSpPr/>
          <p:nvPr/>
        </p:nvSpPr>
        <p:spPr>
          <a:xfrm>
            <a:off x="6373368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086600" y="47091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medical-necessity narrative must prove which two things?</a:t>
            </a:r>
            <a:endParaRPr lang="en-US" sz="1230" dirty="0"/>
          </a:p>
        </p:txBody>
      </p:sp>
      <p:sp>
        <p:nvSpPr>
          <p:cNvPr id="32" name="Text 2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B5F"/>
          </a:solidFill>
          <a:ln/>
          <a:effectLst>
            <a:outerShdw sx="100000" sy="100000" kx="0" ky="0" algn="bl" rotWithShape="0" blurRad="63500" dist="25400" dir="5400000">
              <a:srgbClr val="9AA6BA">
                <a:alpha val="2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RETRIEVAL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16736" y="640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answers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9859975" y="438912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E7F3EE"/>
          </a:solidFill>
          <a:ln w="12700">
            <a:solidFill>
              <a:srgbClr val="BFE0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0F7B5F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71600" y="14173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level of care does the patient need?  +  Why does the patient need an ambulance (medical necessity)?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548640" y="2276856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E7F3EE"/>
          </a:solidFill>
          <a:ln w="12700">
            <a:solidFill>
              <a:srgbClr val="BFE0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359152"/>
            <a:ext cx="457200" cy="457200"/>
          </a:xfrm>
          <a:prstGeom prst="ellipse">
            <a:avLst/>
          </a:prstGeom>
          <a:solidFill>
            <a:srgbClr val="0F7B5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71600" y="2322576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Paramedic (PM / ALS). Vasopressor titration and IV medication infusions are PM-only.</a:t>
            </a:r>
            <a:endParaRPr lang="en-US" sz="1230" dirty="0"/>
          </a:p>
        </p:txBody>
      </p:sp>
      <p:sp>
        <p:nvSpPr>
          <p:cNvPr id="15" name="Shape 12"/>
          <p:cNvSpPr/>
          <p:nvPr/>
        </p:nvSpPr>
        <p:spPr>
          <a:xfrm>
            <a:off x="548640" y="2980944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E7F3EE"/>
          </a:solidFill>
          <a:ln w="12700">
            <a:solidFill>
              <a:srgbClr val="BFE0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" y="3163824"/>
            <a:ext cx="457200" cy="457200"/>
          </a:xfrm>
          <a:prstGeom prst="ellipse">
            <a:avLst/>
          </a:prstGeom>
          <a:solidFill>
            <a:srgbClr val="0F7B5F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71600" y="3026664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 Never adjust the specialty device — authority stays with the accompanying clinician; decline out-of-scope requests.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548640" y="38862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E7F3EE"/>
          </a:solidFill>
          <a:ln w="12700">
            <a:solidFill>
              <a:srgbClr val="BFE0D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0F7B5F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371600" y="39319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depart. Notify dispatch immediately and request a paramedic intercept or reassignment (norepinephrine is PM-only).</a:t>
            </a:r>
            <a:endParaRPr lang="en-US" sz="1230" dirty="0"/>
          </a:p>
        </p:txBody>
      </p:sp>
      <p:sp>
        <p:nvSpPr>
          <p:cNvPr id="23" name="Shape 20"/>
          <p:cNvSpPr/>
          <p:nvPr/>
        </p:nvSpPr>
        <p:spPr>
          <a:xfrm>
            <a:off x="548640" y="4791456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E7F3EE"/>
          </a:solidFill>
          <a:ln w="12700">
            <a:solidFill>
              <a:srgbClr val="BFE0D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4873752"/>
            <a:ext cx="457200" cy="457200"/>
          </a:xfrm>
          <a:prstGeom prst="ellipse">
            <a:avLst/>
          </a:prstGeom>
          <a:solidFill>
            <a:srgbClr val="0F7B5F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371600" y="4837176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“Common Active Therapies at Transfer” line.</a:t>
            </a:r>
            <a:endParaRPr lang="en-US" sz="1230" dirty="0"/>
          </a:p>
        </p:txBody>
      </p:sp>
      <p:sp>
        <p:nvSpPr>
          <p:cNvPr id="27" name="Shape 24"/>
          <p:cNvSpPr/>
          <p:nvPr/>
        </p:nvSpPr>
        <p:spPr>
          <a:xfrm>
            <a:off x="548640" y="5495544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E7F3EE"/>
          </a:solidFill>
          <a:ln w="12700">
            <a:solidFill>
              <a:srgbClr val="BFE0D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1520" y="5678424"/>
            <a:ext cx="457200" cy="457200"/>
          </a:xfrm>
          <a:prstGeom prst="ellipse">
            <a:avLst/>
          </a:prstGeom>
          <a:solidFill>
            <a:srgbClr val="0F7B5F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" y="5678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371600" y="5541264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3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Transport by other means is contraindicated / unsafe (e.g., condition requires en-route monitoring or skilled care), and (2) the level of service and destination are appropriate and covered.</a:t>
            </a:r>
            <a:endParaRPr lang="en-US" sz="1230" dirty="0"/>
          </a:p>
        </p:txBody>
      </p:sp>
      <p:sp>
        <p:nvSpPr>
          <p:cNvPr id="31" name="Text 2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</a:t>
            </a:r>
            <a:pPr algn="l" indent="0" marL="0">
              <a:buNone/>
            </a:pPr>
            <a:r>
              <a:rPr lang="en-US" sz="85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Phase 2 Academy · Session 1 · Call Types II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85800"/>
            <a:ext cx="310896" cy="310896"/>
          </a:xfrm>
          <a:prstGeom prst="ellipse">
            <a:avLst/>
          </a:prstGeom>
          <a:solidFill>
            <a:srgbClr val="0F7B5F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685800"/>
            <a:ext cx="310896" cy="310896"/>
          </a:xfrm>
          <a:prstGeom prst="ellipse">
            <a:avLst/>
          </a:prstGeom>
          <a:solidFill>
            <a:srgbClr val="B5730B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685800"/>
            <a:ext cx="310896" cy="310896"/>
          </a:xfrm>
          <a:prstGeom prst="ellipse">
            <a:avLst/>
          </a:prstGeom>
          <a:solidFill>
            <a:srgbClr val="B01B3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554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 →  Transport  →  Chart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therapies at transfer set the level of care — not the diagnosis label.</a:t>
            </a:r>
            <a:endParaRPr lang="en-US" sz="1500" dirty="0"/>
          </a:p>
          <a:p>
            <a:pPr marL="152400" indent="-1524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accompanied specialty transports you drive, monitor, and support — you never touch the device.</a:t>
            </a:r>
            <a:endParaRPr lang="en-US" sz="1500" dirty="0"/>
          </a:p>
          <a:p>
            <a:pPr marL="152400" indent="-15240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IFT chart must prove both the level of care and the medical necessity.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343400"/>
            <a:ext cx="10652760" cy="1600200"/>
          </a:xfrm>
          <a:prstGeom prst="roundRect">
            <a:avLst>
              <a:gd name="adj" fmla="val 6286"/>
            </a:avLst>
          </a:prstGeom>
          <a:solidFill>
            <a:srgbClr val="1E2C49"/>
          </a:solidFill>
          <a:ln w="12700">
            <a:solidFill>
              <a:srgbClr val="33456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6177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45537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45920" y="48280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 Ventilation (LTV 1200)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45920" y="523036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6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Modes, settings, and alarms · DOPE troubleshooting · paramedic manages a vented ICU-to-ICU transport while the EMT monitors and keeps the BVM ready.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72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Kansas City · Clinical Education · Phase 2 Academy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Types II — Pulmonary &amp; Medical (BLS) + Accompanied Specialty + Med-Nec</dc:title>
  <dc:subject>PptxGenJS Presentation</dc:subject>
  <dc:creator>AMR Kansas City — Clinical Education</dc:creator>
  <cp:lastModifiedBy>AMR Kansas City — Clinical Education</cp:lastModifiedBy>
  <cp:revision>1</cp:revision>
  <dcterms:created xsi:type="dcterms:W3CDTF">2026-07-09T14:04:13Z</dcterms:created>
  <dcterms:modified xsi:type="dcterms:W3CDTF">2026-07-09T14:04:13Z</dcterms:modified>
</cp:coreProperties>
</file>