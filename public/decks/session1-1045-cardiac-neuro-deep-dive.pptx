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meta-skill for the whole block. The KC protocols are deliberately uniform: same 7 headings every time. Tell trainees to stop trying to memorize drug doses and instead read two sections first on every call: Active Therapies (what's running = the acuity) and the tiered Standing Orders (can my crew legally run it). Everything else — monitoring, deterioration, diversion, documentation — follows the same rhythm we set this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the morning. These four questions are the reasoning spine we now apply to real cardiac and neuro transfers. Keep returning to them for each condition — by the time we hit the card-sort and the 1300 case lab, this should be automatic.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trainees the mental filing system before the details. Rate &amp; rhythm = an electrical problem (monitor, push meds, sometimes cardiovert/pace). Pump failure = a mechanical problem, almost always with a titratable drip (nitro, heparin, pressor) that pushes it to Paramedic. Post-arrest = the whole critical-care bundle. Naming the family first tells you roughly what crew you need before you read a single vital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rhythm call types. The single discriminator is the same each time: is there a titrating antiarrhythmic/rate-control drip, or a need to cardiovert/pace? Either forces a Paramedic. SVT is the one that can be AEMT-appropriate — but ONLY if the patient is already converted and stable with nothing running; if it recurs unstable, it needs cardioversion the AEMT can't deliver. Note the AEMT/EMT safety net in wide-complex: CPR and manual defib for pulseless VT/VF if the paramedic is unavailable.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Pump failure = mechanical problem = titratable drip = Paramedic. Reinforce the RV-infarct caution on STEMI (hold nitro if RV infarct suspected, watch for hypotension). Pulmonary edema is where CPAP matters — all levels can assist the mask seal and sit the patient upright, but the nitro drip is PM. Cardiogenic shock is the bridge to Session 4 (pressors + MCS); emphasize never interrupting a vasopressor during patient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Post-ROSC = the whole bundle: vent, sedation drip, pressor, often TTM. Always critical care. The single highest-yield teaching point is avoiding hyperoxia — titrate FiO2 to 94–98%, because hyperoxia independently worsens neurologic outcome after arrest. Re-arrest is the dominant deterioration; the crew must be ready for instant ACLS and must never interrupt the pressor or sedation during movement. This previews the ventilator content in Session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Neuro's unifying principle: whatever the diagnosis, the enemy is secondary injury — hypoxia, hypotension, and rising ICP. That's why the monitoring priorities look almost identical across all four (serial neuro exams, BP per sending parameters, airway/aspiration vigilance). Brain tumor/mass effect is usually the lowest acuity of the four but still a monitored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stroke curveball is permissive hypertension — trainees' instinct is to treat a high BP, but in ischemic stroke you hold unless the sending physician set parameters (≤180/105 with tPA). tPA is a PM-managed hospital drip. Aspiration/airway is the quiet killer — HOB 0–30°, suction ready. Hemorrhagic conversion presents as rapid neuro decline and is an immediate-diversion trigger.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protocol bundles four diagnoses because the mission is shared: prevent secondary injury. Drill the triad — hypoxia, hypotension, hyperventilation each worsen outcomes. The default is NOT to hyperventilate (target ETCO2 35–40); the only exception is imminent herniation, briefly and controlled. Nicardipine and other antihypertensive drips are titratable = Paramedic. Herniation signs (unequal pupil, rapid GCS decline, posturing) are immediate diversion.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grouped here. Status = ≥5 min or no return to baseline. Benzos (midazolam IV) are the paramedic intervention; the AEMT's role is to prep the med and treat hypoglycemia, and the EMT's is airway-protective positioning without restraining seizing limbs. Mass effect is usually your calmest neuro transfer, but a seizure or a GCS drop to ≤8 flips it to a high-acuity airway case quickly — so it's still a monitored, escalation-ready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card-sort key. If trainees remember one slide from this block, make it this one. The right-hand list is the trip-wire: any titrating drip, the vent, any electrical therapy, an active seizure, or a central line means Paramedic. Everything on the left is what an AEMT crew can legitimately take when the patient is stable and nothing is running. This is exactly what they'll apply in the next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small groups, ~20 min including present-back. Six sample cards are on the slide; add local transfers if you have them. Answers: A-fib/diltiazem drip = pump-adjacent rate control, Paramedic (titrating drip). SVT converted/stable/nothing running = AEMT-capable. STEMI = Paramedic (heparin/nitro drips), AEMT adds STEMI recognition. Stroke/tPA = Paramedic, permissive hypertension. ICH/nicardipine/intubated = critical care/Paramedic. Brain tumor/dexamethasone/GCS 13 = monitored AEMT-capable unless it deteriorates. Have each group name the out-of-scope item — that's the discriminator that sets the crew.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four-line summary and hand into the 1300 case lab. Reassure them the case studies use the exact same reasoning spine — read what's running, name the family, find the trip-wire, anticipate deterioration. No new content, just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3"/>
        </a:solidFill>
      </p:bgPr>
    </p:bg>
    <p:spTree>
      <p:nvGrpSpPr>
        <p:cNvPr id="1" name=""/>
        <p:cNvGrpSpPr/>
        <p:nvPr/>
      </p:nvGrpSpPr>
      <p:grpSpPr>
        <a:xfrm>
          <a:off x="0" y="0"/>
          <a:ext cx="0" cy="0"/>
          <a:chOff x="0" y="0"/>
          <a:chExt cx="0" cy="0"/>
        </a:xfrm>
      </p:grpSpPr>
      <p:sp>
        <p:nvSpPr>
          <p:cNvPr id="2" name="Shape 0"/>
          <p:cNvSpPr/>
          <p:nvPr/>
        </p:nvSpPr>
        <p:spPr>
          <a:xfrm>
            <a:off x="8138160" y="0"/>
            <a:ext cx="4053535" cy="6858000"/>
          </a:xfrm>
          <a:prstGeom prst="rect">
            <a:avLst/>
          </a:prstGeom>
          <a:solidFill>
            <a:srgbClr val="16405F"/>
          </a:solidFill>
          <a:ln/>
        </p:spPr>
      </p:sp>
      <p:sp>
        <p:nvSpPr>
          <p:cNvPr id="3" name="Shape 1"/>
          <p:cNvSpPr/>
          <p:nvPr/>
        </p:nvSpPr>
        <p:spPr>
          <a:xfrm>
            <a:off x="8732520" y="1828800"/>
            <a:ext cx="1417320" cy="1417320"/>
          </a:xfrm>
          <a:prstGeom prst="ellipse">
            <a:avLst/>
          </a:prstGeom>
          <a:solidFill>
            <a:srgbClr val="FFFFFF"/>
          </a:solidFill>
          <a:ln/>
          <a:effectLst>
            <a:outerShdw sx="100000" sy="100000" kx="0" ky="0" algn="bl" rotWithShape="0" blurRad="88900" dist="38100" dir="5400000">
              <a:srgbClr val="1B2A38">
                <a:alpha val="12000"/>
              </a:srgbClr>
            </a:outerShdw>
          </a:effectLst>
        </p:spPr>
      </p:sp>
      <p:pic>
        <p:nvPicPr>
          <p:cNvPr id="4" name="Image 0" descr="/home/claude/deck/icons/heartt.png">    </p:cNvPr>
          <p:cNvPicPr>
            <a:picLocks noChangeAspect="1"/>
          </p:cNvPicPr>
          <p:nvPr/>
        </p:nvPicPr>
        <p:blipFill>
          <a:blip r:embed="rId1"/>
          <a:stretch>
            <a:fillRect/>
          </a:stretch>
        </p:blipFill>
        <p:spPr>
          <a:xfrm>
            <a:off x="9101023" y="2197303"/>
            <a:ext cx="680314" cy="680314"/>
          </a:xfrm>
          <a:prstGeom prst="rect">
            <a:avLst/>
          </a:prstGeom>
        </p:spPr>
      </p:pic>
      <p:sp>
        <p:nvSpPr>
          <p:cNvPr id="5" name="Shape 2"/>
          <p:cNvSpPr/>
          <p:nvPr/>
        </p:nvSpPr>
        <p:spPr>
          <a:xfrm>
            <a:off x="10058400" y="3291840"/>
            <a:ext cx="1417320" cy="1417320"/>
          </a:xfrm>
          <a:prstGeom prst="ellipse">
            <a:avLst/>
          </a:prstGeom>
          <a:solidFill>
            <a:srgbClr val="FFFFFF"/>
          </a:solidFill>
          <a:ln/>
          <a:effectLst>
            <a:outerShdw sx="100000" sy="100000" kx="0" ky="0" algn="bl" rotWithShape="0" blurRad="88900" dist="38100" dir="5400000">
              <a:srgbClr val="1B2A38">
                <a:alpha val="12000"/>
              </a:srgbClr>
            </a:outerShdw>
          </a:effectLst>
        </p:spPr>
      </p:sp>
      <p:pic>
        <p:nvPicPr>
          <p:cNvPr id="6" name="Image 1" descr="/home/claude/deck/icons/braint.png">    </p:cNvPr>
          <p:cNvPicPr>
            <a:picLocks noChangeAspect="1"/>
          </p:cNvPicPr>
          <p:nvPr/>
        </p:nvPicPr>
        <p:blipFill>
          <a:blip r:embed="rId2"/>
          <a:stretch>
            <a:fillRect/>
          </a:stretch>
        </p:blipFill>
        <p:spPr>
          <a:xfrm>
            <a:off x="10426903" y="3660343"/>
            <a:ext cx="680314" cy="680314"/>
          </a:xfrm>
          <a:prstGeom prst="rect">
            <a:avLst/>
          </a:prstGeom>
        </p:spPr>
      </p:pic>
      <p:sp>
        <p:nvSpPr>
          <p:cNvPr id="7" name="Text 3"/>
          <p:cNvSpPr/>
          <p:nvPr/>
        </p:nvSpPr>
        <p:spPr>
          <a:xfrm>
            <a:off x="566928" y="1371600"/>
            <a:ext cx="7315200" cy="365760"/>
          </a:xfrm>
          <a:prstGeom prst="rect">
            <a:avLst/>
          </a:prstGeom>
          <a:noFill/>
          <a:ln/>
        </p:spPr>
        <p:txBody>
          <a:bodyPr wrap="square" lIns="0" tIns="0" rIns="0" bIns="0" rtlCol="0" anchor="ctr"/>
          <a:lstStyle/>
          <a:p>
            <a:pPr indent="0" marL="0">
              <a:buNone/>
            </a:pPr>
            <a:r>
              <a:rPr lang="en-US" sz="1500" b="1" spc="300" kern="0" dirty="0">
                <a:solidFill>
                  <a:srgbClr val="2A9D8F"/>
                </a:solidFill>
                <a:latin typeface="Calibri" pitchFamily="34" charset="0"/>
                <a:ea typeface="Calibri" pitchFamily="34" charset="-122"/>
                <a:cs typeface="Calibri" pitchFamily="34" charset="-120"/>
              </a:rPr>
              <a:t>SESSION 1  ·  1045–1200</a:t>
            </a:r>
            <a:endParaRPr lang="en-US" sz="1500" dirty="0"/>
          </a:p>
        </p:txBody>
      </p:sp>
      <p:sp>
        <p:nvSpPr>
          <p:cNvPr id="8" name="Text 4"/>
          <p:cNvSpPr/>
          <p:nvPr/>
        </p:nvSpPr>
        <p:spPr>
          <a:xfrm>
            <a:off x="566928" y="1828800"/>
            <a:ext cx="7406640" cy="1737360"/>
          </a:xfrm>
          <a:prstGeom prst="rect">
            <a:avLst/>
          </a:prstGeom>
          <a:noFill/>
          <a:ln/>
        </p:spPr>
        <p:txBody>
          <a:bodyPr wrap="square" lIns="0" tIns="0" rIns="0" bIns="0" rtlCol="0" anchor="ctr"/>
          <a:lstStyle/>
          <a:p>
            <a:pPr indent="0" marL="0">
              <a:lnSpc>
                <a:spcPts val="4600"/>
              </a:lnSpc>
              <a:buNone/>
            </a:pPr>
            <a:r>
              <a:rPr lang="en-US" sz="4600" b="1" dirty="0">
                <a:solidFill>
                  <a:srgbClr val="FFFFFF"/>
                </a:solidFill>
                <a:latin typeface="Century Schoolbook" pitchFamily="34" charset="0"/>
                <a:ea typeface="Century Schoolbook" pitchFamily="34" charset="-122"/>
                <a:cs typeface="Century Schoolbook" pitchFamily="34" charset="-120"/>
              </a:rPr>
              <a:t>Cardiac &amp; Neuro</a:t>
            </a:r>
            <a:endParaRPr lang="en-US" sz="4600" dirty="0"/>
          </a:p>
          <a:p>
            <a:pPr indent="0" marL="0">
              <a:lnSpc>
                <a:spcPts val="4600"/>
              </a:lnSpc>
              <a:buNone/>
            </a:pPr>
            <a:r>
              <a:rPr lang="en-US" sz="4600" b="1" dirty="0">
                <a:solidFill>
                  <a:srgbClr val="FFFFFF"/>
                </a:solidFill>
                <a:latin typeface="Century Schoolbook" pitchFamily="34" charset="0"/>
                <a:ea typeface="Century Schoolbook" pitchFamily="34" charset="-122"/>
                <a:cs typeface="Century Schoolbook" pitchFamily="34" charset="-120"/>
              </a:rPr>
              <a:t>IFT Call Types</a:t>
            </a:r>
            <a:endParaRPr lang="en-US" sz="4600" dirty="0"/>
          </a:p>
        </p:txBody>
      </p:sp>
      <p:sp>
        <p:nvSpPr>
          <p:cNvPr id="9" name="Text 5"/>
          <p:cNvSpPr/>
          <p:nvPr/>
        </p:nvSpPr>
        <p:spPr>
          <a:xfrm>
            <a:off x="566928" y="3703320"/>
            <a:ext cx="7315200" cy="457200"/>
          </a:xfrm>
          <a:prstGeom prst="rect">
            <a:avLst/>
          </a:prstGeom>
          <a:noFill/>
          <a:ln/>
        </p:spPr>
        <p:txBody>
          <a:bodyPr wrap="square" lIns="0" tIns="0" rIns="0" bIns="0" rtlCol="0" anchor="ctr"/>
          <a:lstStyle/>
          <a:p>
            <a:pPr indent="0" marL="0">
              <a:buNone/>
            </a:pPr>
            <a:r>
              <a:rPr lang="en-US" sz="1600" dirty="0">
                <a:solidFill>
                  <a:srgbClr val="C7D6E2"/>
                </a:solidFill>
                <a:latin typeface="Calibri" pitchFamily="34" charset="0"/>
                <a:ea typeface="Calibri" pitchFamily="34" charset="-122"/>
                <a:cs typeface="Calibri" pitchFamily="34" charset="-120"/>
              </a:rPr>
              <a:t>Reading the protocol · sorting the call · holding the scope line</a:t>
            </a:r>
            <a:endParaRPr lang="en-US" sz="1600" dirty="0"/>
          </a:p>
        </p:txBody>
      </p:sp>
      <p:sp>
        <p:nvSpPr>
          <p:cNvPr id="10" name="Text 6"/>
          <p:cNvSpPr/>
          <p:nvPr/>
        </p:nvSpPr>
        <p:spPr>
          <a:xfrm>
            <a:off x="566928" y="4526280"/>
            <a:ext cx="7315200" cy="914400"/>
          </a:xfrm>
          <a:prstGeom prst="rect">
            <a:avLst/>
          </a:prstGeom>
          <a:noFill/>
          <a:ln/>
        </p:spPr>
        <p:txBody>
          <a:bodyPr wrap="square" lIns="0" tIns="0" rIns="0" bIns="0" rtlCol="0" anchor="ctr"/>
          <a:lstStyle/>
          <a:p>
            <a:pPr indent="0" marL="0">
              <a:lnSpc>
                <a:spcPts val="2400"/>
              </a:lnSpc>
              <a:buNone/>
            </a:pPr>
            <a:r>
              <a:rPr lang="en-US" sz="1400" b="1" dirty="0">
                <a:solidFill>
                  <a:srgbClr val="E0982E"/>
                </a:solidFill>
                <a:latin typeface="Calibri" pitchFamily="34" charset="0"/>
                <a:ea typeface="Calibri" pitchFamily="34" charset="-122"/>
                <a:cs typeface="Calibri" pitchFamily="34" charset="-120"/>
              </a:rPr>
              <a:t>Deep dive + ALS / BLS scope drill (small-group card-sort)</a:t>
            </a:r>
            <a:endParaRPr lang="en-US" sz="1400" dirty="0"/>
          </a:p>
          <a:p>
            <a:pPr indent="0" marL="0">
              <a:lnSpc>
                <a:spcPts val="2400"/>
              </a:lnSpc>
              <a:buNone/>
            </a:pPr>
            <a:r>
              <a:rPr lang="en-US" sz="1400" dirty="0">
                <a:solidFill>
                  <a:srgbClr val="9FB4C6"/>
                </a:solidFill>
                <a:latin typeface="Calibri" pitchFamily="34" charset="0"/>
                <a:ea typeface="Calibri" pitchFamily="34" charset="-122"/>
                <a:cs typeface="Calibri" pitchFamily="34" charset="-120"/>
              </a:rPr>
              <a:t>Grounded in AMR Kansas City Protocols — Section II (II-1 to II-12)</a:t>
            </a:r>
            <a:endParaRPr lang="en-US" sz="1400" dirty="0"/>
          </a:p>
        </p:txBody>
      </p:sp>
      <p:sp>
        <p:nvSpPr>
          <p:cNvPr id="11" name="Text 7"/>
          <p:cNvSpPr/>
          <p:nvPr/>
        </p:nvSpPr>
        <p:spPr>
          <a:xfrm>
            <a:off x="566928" y="6455664"/>
            <a:ext cx="8229600" cy="274320"/>
          </a:xfrm>
          <a:prstGeom prst="rect">
            <a:avLst/>
          </a:prstGeom>
          <a:noFill/>
          <a:ln/>
        </p:spPr>
        <p:txBody>
          <a:bodyPr wrap="square" lIns="0" tIns="0" rIns="0" bIns="0"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AMR CES Academy  ·  Session 1  ·  Cardiac &amp; Neuro Deep Dive</a:t>
            </a:r>
            <a:endParaRPr lang="en-US" sz="900" dirty="0"/>
          </a:p>
        </p:txBody>
      </p:sp>
      <p:sp>
        <p:nvSpPr>
          <p:cNvPr id="12" name="Text 8"/>
          <p:cNvSpPr/>
          <p:nvPr/>
        </p:nvSpPr>
        <p:spPr>
          <a:xfrm>
            <a:off x="11076127" y="6455664"/>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566928" y="402336"/>
            <a:ext cx="109728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TRANSFERABLE SKILL</a:t>
            </a:r>
            <a:endParaRPr lang="en-US" sz="1200" dirty="0"/>
          </a:p>
        </p:txBody>
      </p:sp>
      <p:sp>
        <p:nvSpPr>
          <p:cNvPr id="3" name="Text 1"/>
          <p:cNvSpPr/>
          <p:nvPr/>
        </p:nvSpPr>
        <p:spPr>
          <a:xfrm>
            <a:off x="566928" y="676656"/>
            <a:ext cx="11064240" cy="658368"/>
          </a:xfrm>
          <a:prstGeom prst="rect">
            <a:avLst/>
          </a:prstGeom>
          <a:noFill/>
          <a:ln/>
        </p:spPr>
        <p:txBody>
          <a:bodyPr wrap="square" lIns="0" tIns="0" rIns="0" bIns="0" rtlCol="0" anchor="ctr"/>
          <a:lstStyle/>
          <a:p>
            <a:pPr indent="0" marL="0">
              <a:buNone/>
            </a:pPr>
            <a:r>
              <a:rPr lang="en-US" sz="2900" b="1" dirty="0">
                <a:solidFill>
                  <a:srgbClr val="0F2A43"/>
                </a:solidFill>
                <a:latin typeface="Century Schoolbook" pitchFamily="34" charset="0"/>
                <a:ea typeface="Century Schoolbook" pitchFamily="34" charset="-122"/>
                <a:cs typeface="Century Schoolbook" pitchFamily="34" charset="-120"/>
              </a:rPr>
              <a:t>Every IFT protocol has the same 7 parts</a:t>
            </a:r>
            <a:endParaRPr lang="en-US" sz="2900" dirty="0"/>
          </a:p>
        </p:txBody>
      </p:sp>
      <p:sp>
        <p:nvSpPr>
          <p:cNvPr id="4" name="Text 2"/>
          <p:cNvSpPr/>
          <p:nvPr/>
        </p:nvSpPr>
        <p:spPr>
          <a:xfrm>
            <a:off x="566928" y="1417320"/>
            <a:ext cx="11064240" cy="36576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Learn the skeleton once and every call type hangs on it. You are not memorizing 12 protocols — you are reading one structure 12 times.</a:t>
            </a:r>
            <a:endParaRPr lang="en-US" sz="1400" dirty="0"/>
          </a:p>
        </p:txBody>
      </p:sp>
      <p:sp>
        <p:nvSpPr>
          <p:cNvPr id="5" name="Shape 3"/>
          <p:cNvSpPr/>
          <p:nvPr/>
        </p:nvSpPr>
        <p:spPr>
          <a:xfrm>
            <a:off x="566928" y="1965960"/>
            <a:ext cx="7772400" cy="566928"/>
          </a:xfrm>
          <a:prstGeom prst="roundRect">
            <a:avLst>
              <a:gd name="adj" fmla="val 8065"/>
            </a:avLst>
          </a:prstGeom>
          <a:solidFill>
            <a:srgbClr val="FFFFFF"/>
          </a:solidFill>
          <a:ln w="12700">
            <a:solidFill>
              <a:srgbClr val="DDE4EB"/>
            </a:solidFill>
            <a:prstDash val="solid"/>
          </a:ln>
          <a:effectLst>
            <a:outerShdw sx="100000" sy="100000" kx="0" ky="0" algn="bl" rotWithShape="0" blurRad="88900" dist="38100" dir="5400000">
              <a:srgbClr val="1B2A38">
                <a:alpha val="12000"/>
              </a:srgbClr>
            </a:outerShdw>
          </a:effectLst>
        </p:spPr>
      </p:sp>
      <p:sp>
        <p:nvSpPr>
          <p:cNvPr id="6" name="Shape 4"/>
          <p:cNvSpPr/>
          <p:nvPr/>
        </p:nvSpPr>
        <p:spPr>
          <a:xfrm>
            <a:off x="694944" y="2057400"/>
            <a:ext cx="384048" cy="384048"/>
          </a:xfrm>
          <a:prstGeom prst="ellipse">
            <a:avLst/>
          </a:prstGeom>
          <a:solidFill>
            <a:srgbClr val="1C7293"/>
          </a:solidFill>
          <a:ln/>
        </p:spPr>
      </p:sp>
      <p:sp>
        <p:nvSpPr>
          <p:cNvPr id="7" name="Text 5"/>
          <p:cNvSpPr/>
          <p:nvPr/>
        </p:nvSpPr>
        <p:spPr>
          <a:xfrm>
            <a:off x="694944" y="205740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1</a:t>
            </a:r>
            <a:endParaRPr lang="en-US" sz="1600" dirty="0"/>
          </a:p>
        </p:txBody>
      </p:sp>
      <p:sp>
        <p:nvSpPr>
          <p:cNvPr id="8" name="Text 6"/>
          <p:cNvSpPr/>
          <p:nvPr/>
        </p:nvSpPr>
        <p:spPr>
          <a:xfrm>
            <a:off x="1252728" y="1965960"/>
            <a:ext cx="3108960" cy="566928"/>
          </a:xfrm>
          <a:prstGeom prst="rect">
            <a:avLst/>
          </a:prstGeom>
          <a:noFill/>
          <a:ln/>
        </p:spPr>
        <p:txBody>
          <a:bodyPr wrap="square" lIns="0" tIns="0" rIns="0" bIns="0" rtlCol="0" anchor="ctr"/>
          <a:lstStyle/>
          <a:p>
            <a:pPr indent="0" marL="0">
              <a:buNone/>
            </a:pPr>
            <a:r>
              <a:rPr lang="en-US" sz="1400" b="1" dirty="0">
                <a:solidFill>
                  <a:srgbClr val="0F2A43"/>
                </a:solidFill>
                <a:latin typeface="Century Schoolbook" pitchFamily="34" charset="0"/>
                <a:ea typeface="Century Schoolbook" pitchFamily="34" charset="-122"/>
                <a:cs typeface="Century Schoolbook" pitchFamily="34" charset="-120"/>
              </a:rPr>
              <a:t>Clinical overview</a:t>
            </a:r>
            <a:endParaRPr lang="en-US" sz="1400" dirty="0"/>
          </a:p>
        </p:txBody>
      </p:sp>
      <p:sp>
        <p:nvSpPr>
          <p:cNvPr id="9" name="Text 7"/>
          <p:cNvSpPr/>
          <p:nvPr/>
        </p:nvSpPr>
        <p:spPr>
          <a:xfrm>
            <a:off x="4407408" y="1965960"/>
            <a:ext cx="3794760" cy="566928"/>
          </a:xfrm>
          <a:prstGeom prst="rect">
            <a:avLst/>
          </a:prstGeom>
          <a:noFill/>
          <a:ln/>
        </p:spPr>
        <p:txBody>
          <a:bodyPr wrap="square" lIns="0" tIns="0" rIns="0" bIns="0" rtlCol="0" anchor="ctr"/>
          <a:lstStyle/>
          <a:p>
            <a:pPr indent="0" marL="0">
              <a:lnSpc>
                <a:spcPts val="1300"/>
              </a:lnSpc>
              <a:buNone/>
            </a:pPr>
            <a:r>
              <a:rPr lang="en-US" sz="1150" dirty="0">
                <a:solidFill>
                  <a:srgbClr val="18242F"/>
                </a:solidFill>
                <a:latin typeface="Calibri" pitchFamily="34" charset="0"/>
                <a:ea typeface="Calibri" pitchFamily="34" charset="-122"/>
                <a:cs typeface="Calibri" pitchFamily="34" charset="-120"/>
              </a:rPr>
              <a:t>Why this patient is being moved and what's at stake</a:t>
            </a:r>
            <a:endParaRPr lang="en-US" sz="1150" dirty="0"/>
          </a:p>
        </p:txBody>
      </p:sp>
      <p:sp>
        <p:nvSpPr>
          <p:cNvPr id="10" name="Shape 8"/>
          <p:cNvSpPr/>
          <p:nvPr/>
        </p:nvSpPr>
        <p:spPr>
          <a:xfrm>
            <a:off x="566928" y="2615184"/>
            <a:ext cx="7772400" cy="566928"/>
          </a:xfrm>
          <a:prstGeom prst="roundRect">
            <a:avLst>
              <a:gd name="adj" fmla="val 8065"/>
            </a:avLst>
          </a:prstGeom>
          <a:solidFill>
            <a:srgbClr val="FFFFFF"/>
          </a:solidFill>
          <a:ln w="12700">
            <a:solidFill>
              <a:srgbClr val="DDE4EB"/>
            </a:solidFill>
            <a:prstDash val="solid"/>
          </a:ln>
          <a:effectLst>
            <a:outerShdw sx="100000" sy="100000" kx="0" ky="0" algn="bl" rotWithShape="0" blurRad="88900" dist="38100" dir="5400000">
              <a:srgbClr val="1B2A38">
                <a:alpha val="12000"/>
              </a:srgbClr>
            </a:outerShdw>
          </a:effectLst>
        </p:spPr>
      </p:sp>
      <p:sp>
        <p:nvSpPr>
          <p:cNvPr id="11" name="Shape 9"/>
          <p:cNvSpPr/>
          <p:nvPr/>
        </p:nvSpPr>
        <p:spPr>
          <a:xfrm>
            <a:off x="694944" y="2706624"/>
            <a:ext cx="384048" cy="384048"/>
          </a:xfrm>
          <a:prstGeom prst="ellipse">
            <a:avLst/>
          </a:prstGeom>
          <a:solidFill>
            <a:srgbClr val="1C7293"/>
          </a:solidFill>
          <a:ln/>
        </p:spPr>
      </p:sp>
      <p:sp>
        <p:nvSpPr>
          <p:cNvPr id="12" name="Text 10"/>
          <p:cNvSpPr/>
          <p:nvPr/>
        </p:nvSpPr>
        <p:spPr>
          <a:xfrm>
            <a:off x="694944" y="270662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2</a:t>
            </a:r>
            <a:endParaRPr lang="en-US" sz="1600" dirty="0"/>
          </a:p>
        </p:txBody>
      </p:sp>
      <p:sp>
        <p:nvSpPr>
          <p:cNvPr id="13" name="Text 11"/>
          <p:cNvSpPr/>
          <p:nvPr/>
        </p:nvSpPr>
        <p:spPr>
          <a:xfrm>
            <a:off x="1252728" y="2615184"/>
            <a:ext cx="3108960" cy="566928"/>
          </a:xfrm>
          <a:prstGeom prst="rect">
            <a:avLst/>
          </a:prstGeom>
          <a:noFill/>
          <a:ln/>
        </p:spPr>
        <p:txBody>
          <a:bodyPr wrap="square" lIns="0" tIns="0" rIns="0" bIns="0" rtlCol="0" anchor="ctr"/>
          <a:lstStyle/>
          <a:p>
            <a:pPr indent="0" marL="0">
              <a:buNone/>
            </a:pPr>
            <a:r>
              <a:rPr lang="en-US" sz="1400" b="1" dirty="0">
                <a:solidFill>
                  <a:srgbClr val="0F2A43"/>
                </a:solidFill>
                <a:latin typeface="Century Schoolbook" pitchFamily="34" charset="0"/>
                <a:ea typeface="Century Schoolbook" pitchFamily="34" charset="-122"/>
                <a:cs typeface="Century Schoolbook" pitchFamily="34" charset="-120"/>
              </a:rPr>
              <a:t>Active therapies at transfer</a:t>
            </a:r>
            <a:endParaRPr lang="en-US" sz="1400" dirty="0"/>
          </a:p>
        </p:txBody>
      </p:sp>
      <p:sp>
        <p:nvSpPr>
          <p:cNvPr id="14" name="Text 12"/>
          <p:cNvSpPr/>
          <p:nvPr/>
        </p:nvSpPr>
        <p:spPr>
          <a:xfrm>
            <a:off x="4407408" y="2615184"/>
            <a:ext cx="3794760" cy="566928"/>
          </a:xfrm>
          <a:prstGeom prst="rect">
            <a:avLst/>
          </a:prstGeom>
          <a:noFill/>
          <a:ln/>
        </p:spPr>
        <p:txBody>
          <a:bodyPr wrap="square" lIns="0" tIns="0" rIns="0" bIns="0" rtlCol="0" anchor="ctr"/>
          <a:lstStyle/>
          <a:p>
            <a:pPr indent="0" marL="0">
              <a:lnSpc>
                <a:spcPts val="1300"/>
              </a:lnSpc>
              <a:buNone/>
            </a:pPr>
            <a:r>
              <a:rPr lang="en-US" sz="1150" dirty="0">
                <a:solidFill>
                  <a:srgbClr val="18242F"/>
                </a:solidFill>
                <a:latin typeface="Calibri" pitchFamily="34" charset="0"/>
                <a:ea typeface="Calibri" pitchFamily="34" charset="-122"/>
                <a:cs typeface="Calibri" pitchFamily="34" charset="-120"/>
              </a:rPr>
              <a:t>What's already running when you take the patient</a:t>
            </a:r>
            <a:endParaRPr lang="en-US" sz="1150" dirty="0"/>
          </a:p>
        </p:txBody>
      </p:sp>
      <p:sp>
        <p:nvSpPr>
          <p:cNvPr id="15" name="Shape 13"/>
          <p:cNvSpPr/>
          <p:nvPr/>
        </p:nvSpPr>
        <p:spPr>
          <a:xfrm>
            <a:off x="566928" y="3264408"/>
            <a:ext cx="7772400" cy="566928"/>
          </a:xfrm>
          <a:prstGeom prst="roundRect">
            <a:avLst>
              <a:gd name="adj" fmla="val 8065"/>
            </a:avLst>
          </a:prstGeom>
          <a:solidFill>
            <a:srgbClr val="FFFFFF"/>
          </a:solidFill>
          <a:ln w="12700">
            <a:solidFill>
              <a:srgbClr val="DDE4EB"/>
            </a:solidFill>
            <a:prstDash val="solid"/>
          </a:ln>
          <a:effectLst>
            <a:outerShdw sx="100000" sy="100000" kx="0" ky="0" algn="bl" rotWithShape="0" blurRad="88900" dist="38100" dir="5400000">
              <a:srgbClr val="1B2A38">
                <a:alpha val="12000"/>
              </a:srgbClr>
            </a:outerShdw>
          </a:effectLst>
        </p:spPr>
      </p:sp>
      <p:sp>
        <p:nvSpPr>
          <p:cNvPr id="16" name="Shape 14"/>
          <p:cNvSpPr/>
          <p:nvPr/>
        </p:nvSpPr>
        <p:spPr>
          <a:xfrm>
            <a:off x="694944" y="3355848"/>
            <a:ext cx="384048" cy="384048"/>
          </a:xfrm>
          <a:prstGeom prst="ellipse">
            <a:avLst/>
          </a:prstGeom>
          <a:solidFill>
            <a:srgbClr val="E0982E"/>
          </a:solidFill>
          <a:ln/>
        </p:spPr>
      </p:sp>
      <p:sp>
        <p:nvSpPr>
          <p:cNvPr id="17" name="Text 15"/>
          <p:cNvSpPr/>
          <p:nvPr/>
        </p:nvSpPr>
        <p:spPr>
          <a:xfrm>
            <a:off x="694944" y="335584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3</a:t>
            </a:r>
            <a:endParaRPr lang="en-US" sz="1600" dirty="0"/>
          </a:p>
        </p:txBody>
      </p:sp>
      <p:sp>
        <p:nvSpPr>
          <p:cNvPr id="18" name="Text 16"/>
          <p:cNvSpPr/>
          <p:nvPr/>
        </p:nvSpPr>
        <p:spPr>
          <a:xfrm>
            <a:off x="1252728" y="3264408"/>
            <a:ext cx="3108960" cy="566928"/>
          </a:xfrm>
          <a:prstGeom prst="rect">
            <a:avLst/>
          </a:prstGeom>
          <a:noFill/>
          <a:ln/>
        </p:spPr>
        <p:txBody>
          <a:bodyPr wrap="square" lIns="0" tIns="0" rIns="0" bIns="0" rtlCol="0" anchor="ctr"/>
          <a:lstStyle/>
          <a:p>
            <a:pPr indent="0" marL="0">
              <a:buNone/>
            </a:pPr>
            <a:r>
              <a:rPr lang="en-US" sz="1400" b="1" dirty="0">
                <a:solidFill>
                  <a:srgbClr val="0F2A43"/>
                </a:solidFill>
                <a:latin typeface="Century Schoolbook" pitchFamily="34" charset="0"/>
                <a:ea typeface="Century Schoolbook" pitchFamily="34" charset="-122"/>
                <a:cs typeface="Century Schoolbook" pitchFamily="34" charset="-120"/>
              </a:rPr>
              <a:t>Standing orders — EMT / AEMT / PM</a:t>
            </a:r>
            <a:endParaRPr lang="en-US" sz="1400" dirty="0"/>
          </a:p>
        </p:txBody>
      </p:sp>
      <p:sp>
        <p:nvSpPr>
          <p:cNvPr id="19" name="Text 17"/>
          <p:cNvSpPr/>
          <p:nvPr/>
        </p:nvSpPr>
        <p:spPr>
          <a:xfrm>
            <a:off x="4407408" y="3264408"/>
            <a:ext cx="3794760" cy="566928"/>
          </a:xfrm>
          <a:prstGeom prst="rect">
            <a:avLst/>
          </a:prstGeom>
          <a:noFill/>
          <a:ln/>
        </p:spPr>
        <p:txBody>
          <a:bodyPr wrap="square" lIns="0" tIns="0" rIns="0" bIns="0" rtlCol="0" anchor="ctr"/>
          <a:lstStyle/>
          <a:p>
            <a:pPr indent="0" marL="0">
              <a:lnSpc>
                <a:spcPts val="1300"/>
              </a:lnSpc>
              <a:buNone/>
            </a:pPr>
            <a:r>
              <a:rPr lang="en-US" sz="1150" dirty="0">
                <a:solidFill>
                  <a:srgbClr val="18242F"/>
                </a:solidFill>
                <a:latin typeface="Calibri" pitchFamily="34" charset="0"/>
                <a:ea typeface="Calibri" pitchFamily="34" charset="-122"/>
                <a:cs typeface="Calibri" pitchFamily="34" charset="-120"/>
              </a:rPr>
              <a:t>What each credential may do, tiered</a:t>
            </a:r>
            <a:endParaRPr lang="en-US" sz="1150" dirty="0"/>
          </a:p>
        </p:txBody>
      </p:sp>
      <p:sp>
        <p:nvSpPr>
          <p:cNvPr id="20" name="Shape 18"/>
          <p:cNvSpPr/>
          <p:nvPr/>
        </p:nvSpPr>
        <p:spPr>
          <a:xfrm>
            <a:off x="566928" y="3913632"/>
            <a:ext cx="7772400" cy="566928"/>
          </a:xfrm>
          <a:prstGeom prst="roundRect">
            <a:avLst>
              <a:gd name="adj" fmla="val 8065"/>
            </a:avLst>
          </a:prstGeom>
          <a:solidFill>
            <a:srgbClr val="FFFFFF"/>
          </a:solidFill>
          <a:ln w="12700">
            <a:solidFill>
              <a:srgbClr val="DDE4EB"/>
            </a:solidFill>
            <a:prstDash val="solid"/>
          </a:ln>
          <a:effectLst>
            <a:outerShdw sx="100000" sy="100000" kx="0" ky="0" algn="bl" rotWithShape="0" blurRad="88900" dist="38100" dir="5400000">
              <a:srgbClr val="1B2A38">
                <a:alpha val="12000"/>
              </a:srgbClr>
            </a:outerShdw>
          </a:effectLst>
        </p:spPr>
      </p:sp>
      <p:sp>
        <p:nvSpPr>
          <p:cNvPr id="21" name="Shape 19"/>
          <p:cNvSpPr/>
          <p:nvPr/>
        </p:nvSpPr>
        <p:spPr>
          <a:xfrm>
            <a:off x="694944" y="4005072"/>
            <a:ext cx="384048" cy="384048"/>
          </a:xfrm>
          <a:prstGeom prst="ellipse">
            <a:avLst/>
          </a:prstGeom>
          <a:solidFill>
            <a:srgbClr val="1C7293"/>
          </a:solidFill>
          <a:ln/>
        </p:spPr>
      </p:sp>
      <p:sp>
        <p:nvSpPr>
          <p:cNvPr id="22" name="Text 20"/>
          <p:cNvSpPr/>
          <p:nvPr/>
        </p:nvSpPr>
        <p:spPr>
          <a:xfrm>
            <a:off x="694944" y="40050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4</a:t>
            </a:r>
            <a:endParaRPr lang="en-US" sz="1600" dirty="0"/>
          </a:p>
        </p:txBody>
      </p:sp>
      <p:sp>
        <p:nvSpPr>
          <p:cNvPr id="23" name="Text 21"/>
          <p:cNvSpPr/>
          <p:nvPr/>
        </p:nvSpPr>
        <p:spPr>
          <a:xfrm>
            <a:off x="1252728" y="3913632"/>
            <a:ext cx="3108960" cy="566928"/>
          </a:xfrm>
          <a:prstGeom prst="rect">
            <a:avLst/>
          </a:prstGeom>
          <a:noFill/>
          <a:ln/>
        </p:spPr>
        <p:txBody>
          <a:bodyPr wrap="square" lIns="0" tIns="0" rIns="0" bIns="0" rtlCol="0" anchor="ctr"/>
          <a:lstStyle/>
          <a:p>
            <a:pPr indent="0" marL="0">
              <a:buNone/>
            </a:pPr>
            <a:r>
              <a:rPr lang="en-US" sz="1400" b="1" dirty="0">
                <a:solidFill>
                  <a:srgbClr val="0F2A43"/>
                </a:solidFill>
                <a:latin typeface="Century Schoolbook" pitchFamily="34" charset="0"/>
                <a:ea typeface="Century Schoolbook" pitchFamily="34" charset="-122"/>
                <a:cs typeface="Century Schoolbook" pitchFamily="34" charset="-120"/>
              </a:rPr>
              <a:t>Transport monitoring priorities</a:t>
            </a:r>
            <a:endParaRPr lang="en-US" sz="1400" dirty="0"/>
          </a:p>
        </p:txBody>
      </p:sp>
      <p:sp>
        <p:nvSpPr>
          <p:cNvPr id="24" name="Text 22"/>
          <p:cNvSpPr/>
          <p:nvPr/>
        </p:nvSpPr>
        <p:spPr>
          <a:xfrm>
            <a:off x="4407408" y="3913632"/>
            <a:ext cx="3794760" cy="566928"/>
          </a:xfrm>
          <a:prstGeom prst="rect">
            <a:avLst/>
          </a:prstGeom>
          <a:noFill/>
          <a:ln/>
        </p:spPr>
        <p:txBody>
          <a:bodyPr wrap="square" lIns="0" tIns="0" rIns="0" bIns="0" rtlCol="0" anchor="ctr"/>
          <a:lstStyle/>
          <a:p>
            <a:pPr indent="0" marL="0">
              <a:lnSpc>
                <a:spcPts val="1300"/>
              </a:lnSpc>
              <a:buNone/>
            </a:pPr>
            <a:r>
              <a:rPr lang="en-US" sz="1150" dirty="0">
                <a:solidFill>
                  <a:srgbClr val="18242F"/>
                </a:solidFill>
                <a:latin typeface="Calibri" pitchFamily="34" charset="0"/>
                <a:ea typeface="Calibri" pitchFamily="34" charset="-122"/>
                <a:cs typeface="Calibri" pitchFamily="34" charset="-120"/>
              </a:rPr>
              <a:t>What you watch, and how often</a:t>
            </a:r>
            <a:endParaRPr lang="en-US" sz="1150" dirty="0"/>
          </a:p>
        </p:txBody>
      </p:sp>
      <p:sp>
        <p:nvSpPr>
          <p:cNvPr id="25" name="Shape 23"/>
          <p:cNvSpPr/>
          <p:nvPr/>
        </p:nvSpPr>
        <p:spPr>
          <a:xfrm>
            <a:off x="566928" y="4562856"/>
            <a:ext cx="7772400" cy="566928"/>
          </a:xfrm>
          <a:prstGeom prst="roundRect">
            <a:avLst>
              <a:gd name="adj" fmla="val 8065"/>
            </a:avLst>
          </a:prstGeom>
          <a:solidFill>
            <a:srgbClr val="FFFFFF"/>
          </a:solidFill>
          <a:ln w="12700">
            <a:solidFill>
              <a:srgbClr val="DDE4EB"/>
            </a:solidFill>
            <a:prstDash val="solid"/>
          </a:ln>
          <a:effectLst>
            <a:outerShdw sx="100000" sy="100000" kx="0" ky="0" algn="bl" rotWithShape="0" blurRad="88900" dist="38100" dir="5400000">
              <a:srgbClr val="1B2A38">
                <a:alpha val="12000"/>
              </a:srgbClr>
            </a:outerShdw>
          </a:effectLst>
        </p:spPr>
      </p:sp>
      <p:sp>
        <p:nvSpPr>
          <p:cNvPr id="26" name="Shape 24"/>
          <p:cNvSpPr/>
          <p:nvPr/>
        </p:nvSpPr>
        <p:spPr>
          <a:xfrm>
            <a:off x="694944" y="4654296"/>
            <a:ext cx="384048" cy="384048"/>
          </a:xfrm>
          <a:prstGeom prst="ellipse">
            <a:avLst/>
          </a:prstGeom>
          <a:solidFill>
            <a:srgbClr val="1C7293"/>
          </a:solidFill>
          <a:ln/>
        </p:spPr>
      </p:sp>
      <p:sp>
        <p:nvSpPr>
          <p:cNvPr id="27" name="Text 25"/>
          <p:cNvSpPr/>
          <p:nvPr/>
        </p:nvSpPr>
        <p:spPr>
          <a:xfrm>
            <a:off x="694944" y="465429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5</a:t>
            </a:r>
            <a:endParaRPr lang="en-US" sz="1600" dirty="0"/>
          </a:p>
        </p:txBody>
      </p:sp>
      <p:sp>
        <p:nvSpPr>
          <p:cNvPr id="28" name="Text 26"/>
          <p:cNvSpPr/>
          <p:nvPr/>
        </p:nvSpPr>
        <p:spPr>
          <a:xfrm>
            <a:off x="1252728" y="4562856"/>
            <a:ext cx="3108960" cy="566928"/>
          </a:xfrm>
          <a:prstGeom prst="rect">
            <a:avLst/>
          </a:prstGeom>
          <a:noFill/>
          <a:ln/>
        </p:spPr>
        <p:txBody>
          <a:bodyPr wrap="square" lIns="0" tIns="0" rIns="0" bIns="0" rtlCol="0" anchor="ctr"/>
          <a:lstStyle/>
          <a:p>
            <a:pPr indent="0" marL="0">
              <a:buNone/>
            </a:pPr>
            <a:r>
              <a:rPr lang="en-US" sz="1400" b="1" dirty="0">
                <a:solidFill>
                  <a:srgbClr val="0F2A43"/>
                </a:solidFill>
                <a:latin typeface="Century Schoolbook" pitchFamily="34" charset="0"/>
                <a:ea typeface="Century Schoolbook" pitchFamily="34" charset="-122"/>
                <a:cs typeface="Century Schoolbook" pitchFamily="34" charset="-120"/>
              </a:rPr>
              <a:t>Anticipated deterioration</a:t>
            </a:r>
            <a:endParaRPr lang="en-US" sz="1400" dirty="0"/>
          </a:p>
        </p:txBody>
      </p:sp>
      <p:sp>
        <p:nvSpPr>
          <p:cNvPr id="29" name="Text 27"/>
          <p:cNvSpPr/>
          <p:nvPr/>
        </p:nvSpPr>
        <p:spPr>
          <a:xfrm>
            <a:off x="4407408" y="4562856"/>
            <a:ext cx="3794760" cy="566928"/>
          </a:xfrm>
          <a:prstGeom prst="rect">
            <a:avLst/>
          </a:prstGeom>
          <a:noFill/>
          <a:ln/>
        </p:spPr>
        <p:txBody>
          <a:bodyPr wrap="square" lIns="0" tIns="0" rIns="0" bIns="0" rtlCol="0" anchor="ctr"/>
          <a:lstStyle/>
          <a:p>
            <a:pPr indent="0" marL="0">
              <a:lnSpc>
                <a:spcPts val="1300"/>
              </a:lnSpc>
              <a:buNone/>
            </a:pPr>
            <a:r>
              <a:rPr lang="en-US" sz="1150" dirty="0">
                <a:solidFill>
                  <a:srgbClr val="18242F"/>
                </a:solidFill>
                <a:latin typeface="Calibri" pitchFamily="34" charset="0"/>
                <a:ea typeface="Calibri" pitchFamily="34" charset="-122"/>
                <a:cs typeface="Calibri" pitchFamily="34" charset="-120"/>
              </a:rPr>
              <a:t>The predictable ways this patient gets worse</a:t>
            </a:r>
            <a:endParaRPr lang="en-US" sz="1150" dirty="0"/>
          </a:p>
        </p:txBody>
      </p:sp>
      <p:sp>
        <p:nvSpPr>
          <p:cNvPr id="30" name="Shape 28"/>
          <p:cNvSpPr/>
          <p:nvPr/>
        </p:nvSpPr>
        <p:spPr>
          <a:xfrm>
            <a:off x="566928" y="5212080"/>
            <a:ext cx="7772400" cy="566928"/>
          </a:xfrm>
          <a:prstGeom prst="roundRect">
            <a:avLst>
              <a:gd name="adj" fmla="val 8065"/>
            </a:avLst>
          </a:prstGeom>
          <a:solidFill>
            <a:srgbClr val="FFFFFF"/>
          </a:solidFill>
          <a:ln w="12700">
            <a:solidFill>
              <a:srgbClr val="DDE4EB"/>
            </a:solidFill>
            <a:prstDash val="solid"/>
          </a:ln>
          <a:effectLst>
            <a:outerShdw sx="100000" sy="100000" kx="0" ky="0" algn="bl" rotWithShape="0" blurRad="88900" dist="38100" dir="5400000">
              <a:srgbClr val="1B2A38">
                <a:alpha val="12000"/>
              </a:srgbClr>
            </a:outerShdw>
          </a:effectLst>
        </p:spPr>
      </p:sp>
      <p:sp>
        <p:nvSpPr>
          <p:cNvPr id="31" name="Shape 29"/>
          <p:cNvSpPr/>
          <p:nvPr/>
        </p:nvSpPr>
        <p:spPr>
          <a:xfrm>
            <a:off x="694944" y="5303520"/>
            <a:ext cx="384048" cy="384048"/>
          </a:xfrm>
          <a:prstGeom prst="ellipse">
            <a:avLst/>
          </a:prstGeom>
          <a:solidFill>
            <a:srgbClr val="E0982E"/>
          </a:solidFill>
          <a:ln/>
        </p:spPr>
      </p:sp>
      <p:sp>
        <p:nvSpPr>
          <p:cNvPr id="32" name="Text 30"/>
          <p:cNvSpPr/>
          <p:nvPr/>
        </p:nvSpPr>
        <p:spPr>
          <a:xfrm>
            <a:off x="694944" y="5303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6</a:t>
            </a:r>
            <a:endParaRPr lang="en-US" sz="1600" dirty="0"/>
          </a:p>
        </p:txBody>
      </p:sp>
      <p:sp>
        <p:nvSpPr>
          <p:cNvPr id="33" name="Text 31"/>
          <p:cNvSpPr/>
          <p:nvPr/>
        </p:nvSpPr>
        <p:spPr>
          <a:xfrm>
            <a:off x="1252728" y="5212080"/>
            <a:ext cx="3108960" cy="566928"/>
          </a:xfrm>
          <a:prstGeom prst="rect">
            <a:avLst/>
          </a:prstGeom>
          <a:noFill/>
          <a:ln/>
        </p:spPr>
        <p:txBody>
          <a:bodyPr wrap="square" lIns="0" tIns="0" rIns="0" bIns="0" rtlCol="0" anchor="ctr"/>
          <a:lstStyle/>
          <a:p>
            <a:pPr indent="0" marL="0">
              <a:buNone/>
            </a:pPr>
            <a:r>
              <a:rPr lang="en-US" sz="1400" b="1" dirty="0">
                <a:solidFill>
                  <a:srgbClr val="0F2A43"/>
                </a:solidFill>
                <a:latin typeface="Century Schoolbook" pitchFamily="34" charset="0"/>
                <a:ea typeface="Century Schoolbook" pitchFamily="34" charset="-122"/>
                <a:cs typeface="Century Schoolbook" pitchFamily="34" charset="-120"/>
              </a:rPr>
              <a:t>Diversion triggers</a:t>
            </a:r>
            <a:endParaRPr lang="en-US" sz="1400" dirty="0"/>
          </a:p>
        </p:txBody>
      </p:sp>
      <p:sp>
        <p:nvSpPr>
          <p:cNvPr id="34" name="Text 32"/>
          <p:cNvSpPr/>
          <p:nvPr/>
        </p:nvSpPr>
        <p:spPr>
          <a:xfrm>
            <a:off x="4407408" y="5212080"/>
            <a:ext cx="3794760" cy="566928"/>
          </a:xfrm>
          <a:prstGeom prst="rect">
            <a:avLst/>
          </a:prstGeom>
          <a:noFill/>
          <a:ln/>
        </p:spPr>
        <p:txBody>
          <a:bodyPr wrap="square" lIns="0" tIns="0" rIns="0" bIns="0" rtlCol="0" anchor="ctr"/>
          <a:lstStyle/>
          <a:p>
            <a:pPr indent="0" marL="0">
              <a:lnSpc>
                <a:spcPts val="1300"/>
              </a:lnSpc>
              <a:buNone/>
            </a:pPr>
            <a:r>
              <a:rPr lang="en-US" sz="1150" dirty="0">
                <a:solidFill>
                  <a:srgbClr val="18242F"/>
                </a:solidFill>
                <a:latin typeface="Calibri" pitchFamily="34" charset="0"/>
                <a:ea typeface="Calibri" pitchFamily="34" charset="-122"/>
                <a:cs typeface="Calibri" pitchFamily="34" charset="-120"/>
              </a:rPr>
              <a:t>The findings that force an immediate reroute</a:t>
            </a:r>
            <a:endParaRPr lang="en-US" sz="1150" dirty="0"/>
          </a:p>
        </p:txBody>
      </p:sp>
      <p:sp>
        <p:nvSpPr>
          <p:cNvPr id="35" name="Shape 33"/>
          <p:cNvSpPr/>
          <p:nvPr/>
        </p:nvSpPr>
        <p:spPr>
          <a:xfrm>
            <a:off x="566928" y="5861304"/>
            <a:ext cx="7772400" cy="566928"/>
          </a:xfrm>
          <a:prstGeom prst="roundRect">
            <a:avLst>
              <a:gd name="adj" fmla="val 8065"/>
            </a:avLst>
          </a:prstGeom>
          <a:solidFill>
            <a:srgbClr val="FFFFFF"/>
          </a:solidFill>
          <a:ln w="12700">
            <a:solidFill>
              <a:srgbClr val="DDE4EB"/>
            </a:solidFill>
            <a:prstDash val="solid"/>
          </a:ln>
          <a:effectLst>
            <a:outerShdw sx="100000" sy="100000" kx="0" ky="0" algn="bl" rotWithShape="0" blurRad="88900" dist="38100" dir="5400000">
              <a:srgbClr val="1B2A38">
                <a:alpha val="12000"/>
              </a:srgbClr>
            </a:outerShdw>
          </a:effectLst>
        </p:spPr>
      </p:sp>
      <p:sp>
        <p:nvSpPr>
          <p:cNvPr id="36" name="Shape 34"/>
          <p:cNvSpPr/>
          <p:nvPr/>
        </p:nvSpPr>
        <p:spPr>
          <a:xfrm>
            <a:off x="694944" y="5952744"/>
            <a:ext cx="384048" cy="384048"/>
          </a:xfrm>
          <a:prstGeom prst="ellipse">
            <a:avLst/>
          </a:prstGeom>
          <a:solidFill>
            <a:srgbClr val="1C7293"/>
          </a:solidFill>
          <a:ln/>
        </p:spPr>
      </p:sp>
      <p:sp>
        <p:nvSpPr>
          <p:cNvPr id="37" name="Text 35"/>
          <p:cNvSpPr/>
          <p:nvPr/>
        </p:nvSpPr>
        <p:spPr>
          <a:xfrm>
            <a:off x="694944" y="595274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7</a:t>
            </a:r>
            <a:endParaRPr lang="en-US" sz="1600" dirty="0"/>
          </a:p>
        </p:txBody>
      </p:sp>
      <p:sp>
        <p:nvSpPr>
          <p:cNvPr id="38" name="Text 36"/>
          <p:cNvSpPr/>
          <p:nvPr/>
        </p:nvSpPr>
        <p:spPr>
          <a:xfrm>
            <a:off x="1252728" y="5861304"/>
            <a:ext cx="3108960" cy="566928"/>
          </a:xfrm>
          <a:prstGeom prst="rect">
            <a:avLst/>
          </a:prstGeom>
          <a:noFill/>
          <a:ln/>
        </p:spPr>
        <p:txBody>
          <a:bodyPr wrap="square" lIns="0" tIns="0" rIns="0" bIns="0" rtlCol="0" anchor="ctr"/>
          <a:lstStyle/>
          <a:p>
            <a:pPr indent="0" marL="0">
              <a:buNone/>
            </a:pPr>
            <a:r>
              <a:rPr lang="en-US" sz="1400" b="1" dirty="0">
                <a:solidFill>
                  <a:srgbClr val="0F2A43"/>
                </a:solidFill>
                <a:latin typeface="Century Schoolbook" pitchFamily="34" charset="0"/>
                <a:ea typeface="Century Schoolbook" pitchFamily="34" charset="-122"/>
                <a:cs typeface="Century Schoolbook" pitchFamily="34" charset="-120"/>
              </a:rPr>
              <a:t>Documentation priorities</a:t>
            </a:r>
            <a:endParaRPr lang="en-US" sz="1400" dirty="0"/>
          </a:p>
        </p:txBody>
      </p:sp>
      <p:sp>
        <p:nvSpPr>
          <p:cNvPr id="39" name="Text 37"/>
          <p:cNvSpPr/>
          <p:nvPr/>
        </p:nvSpPr>
        <p:spPr>
          <a:xfrm>
            <a:off x="4407408" y="5861304"/>
            <a:ext cx="3794760" cy="566928"/>
          </a:xfrm>
          <a:prstGeom prst="rect">
            <a:avLst/>
          </a:prstGeom>
          <a:noFill/>
          <a:ln/>
        </p:spPr>
        <p:txBody>
          <a:bodyPr wrap="square" lIns="0" tIns="0" rIns="0" bIns="0" rtlCol="0" anchor="ctr"/>
          <a:lstStyle/>
          <a:p>
            <a:pPr indent="0" marL="0">
              <a:lnSpc>
                <a:spcPts val="1300"/>
              </a:lnSpc>
              <a:buNone/>
            </a:pPr>
            <a:r>
              <a:rPr lang="en-US" sz="1150" dirty="0">
                <a:solidFill>
                  <a:srgbClr val="18242F"/>
                </a:solidFill>
                <a:latin typeface="Calibri" pitchFamily="34" charset="0"/>
                <a:ea typeface="Calibri" pitchFamily="34" charset="-122"/>
                <a:cs typeface="Calibri" pitchFamily="34" charset="-120"/>
              </a:rPr>
              <a:t>What the chart must prove — including med-nec</a:t>
            </a:r>
            <a:endParaRPr lang="en-US" sz="1150" dirty="0"/>
          </a:p>
        </p:txBody>
      </p:sp>
      <p:sp>
        <p:nvSpPr>
          <p:cNvPr id="40" name="Shape 38"/>
          <p:cNvSpPr/>
          <p:nvPr/>
        </p:nvSpPr>
        <p:spPr>
          <a:xfrm>
            <a:off x="8659368" y="1965960"/>
            <a:ext cx="2971800" cy="3950208"/>
          </a:xfrm>
          <a:prstGeom prst="roundRect">
            <a:avLst>
              <a:gd name="adj" fmla="val 2462"/>
            </a:avLst>
          </a:prstGeom>
          <a:solidFill>
            <a:srgbClr val="0F2A43"/>
          </a:solidFill>
          <a:ln/>
          <a:effectLst>
            <a:outerShdw sx="100000" sy="100000" kx="0" ky="0" algn="bl" rotWithShape="0" blurRad="88900" dist="38100" dir="5400000">
              <a:srgbClr val="1B2A38">
                <a:alpha val="12000"/>
              </a:srgbClr>
            </a:outerShdw>
          </a:effectLst>
        </p:spPr>
      </p:sp>
      <p:sp>
        <p:nvSpPr>
          <p:cNvPr id="41" name="Shape 39"/>
          <p:cNvSpPr/>
          <p:nvPr/>
        </p:nvSpPr>
        <p:spPr>
          <a:xfrm>
            <a:off x="9688068" y="2286000"/>
            <a:ext cx="914400" cy="914400"/>
          </a:xfrm>
          <a:prstGeom prst="ellipse">
            <a:avLst/>
          </a:prstGeom>
          <a:solidFill>
            <a:srgbClr val="1C7293"/>
          </a:solidFill>
          <a:ln/>
          <a:effectLst>
            <a:outerShdw sx="100000" sy="100000" kx="0" ky="0" algn="bl" rotWithShape="0" blurRad="88900" dist="38100" dir="5400000">
              <a:srgbClr val="1B2A38">
                <a:alpha val="12000"/>
              </a:srgbClr>
            </a:outerShdw>
          </a:effectLst>
        </p:spPr>
      </p:sp>
      <p:pic>
        <p:nvPicPr>
          <p:cNvPr id="42" name="Image 0" descr="/home/claude/deck/icons/stethw.png">    </p:cNvPr>
          <p:cNvPicPr>
            <a:picLocks noChangeAspect="1"/>
          </p:cNvPicPr>
          <p:nvPr/>
        </p:nvPicPr>
        <p:blipFill>
          <a:blip r:embed="rId1"/>
          <a:stretch>
            <a:fillRect/>
          </a:stretch>
        </p:blipFill>
        <p:spPr>
          <a:xfrm>
            <a:off x="9925812" y="2523744"/>
            <a:ext cx="438912" cy="438912"/>
          </a:xfrm>
          <a:prstGeom prst="rect">
            <a:avLst/>
          </a:prstGeom>
        </p:spPr>
      </p:pic>
      <p:sp>
        <p:nvSpPr>
          <p:cNvPr id="43" name="Text 40"/>
          <p:cNvSpPr/>
          <p:nvPr/>
        </p:nvSpPr>
        <p:spPr>
          <a:xfrm>
            <a:off x="8933688" y="3337560"/>
            <a:ext cx="24231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Two parts do the heavy lifting</a:t>
            </a:r>
            <a:endParaRPr lang="en-US" sz="1600" dirty="0"/>
          </a:p>
        </p:txBody>
      </p:sp>
      <p:sp>
        <p:nvSpPr>
          <p:cNvPr id="44" name="Text 41"/>
          <p:cNvSpPr/>
          <p:nvPr/>
        </p:nvSpPr>
        <p:spPr>
          <a:xfrm>
            <a:off x="8933688" y="3886200"/>
            <a:ext cx="2423160" cy="1828800"/>
          </a:xfrm>
          <a:prstGeom prst="rect">
            <a:avLst/>
          </a:prstGeom>
          <a:noFill/>
          <a:ln/>
        </p:spPr>
        <p:txBody>
          <a:bodyPr wrap="square" lIns="0" tIns="0" rIns="0" bIns="0" rtlCol="0" anchor="ctr"/>
          <a:lstStyle/>
          <a:p>
            <a:pPr algn="ctr" indent="0" marL="0">
              <a:lnSpc>
                <a:spcPts val="1900"/>
              </a:lnSpc>
              <a:buNone/>
            </a:pPr>
            <a:r>
              <a:rPr lang="en-US" sz="1350" b="1" dirty="0">
                <a:solidFill>
                  <a:srgbClr val="E0982E"/>
                </a:solidFill>
                <a:latin typeface="Calibri" pitchFamily="34" charset="0"/>
                <a:ea typeface="Calibri" pitchFamily="34" charset="-122"/>
                <a:cs typeface="Calibri" pitchFamily="34" charset="-120"/>
              </a:rPr>
              <a:t>Active therapies</a:t>
            </a:r>
            <a:pPr algn="ctr" indent="0" marL="0">
              <a:lnSpc>
                <a:spcPts val="1900"/>
              </a:lnSpc>
              <a:buNone/>
            </a:pPr>
            <a:r>
              <a:rPr lang="en-US" sz="1350" dirty="0">
                <a:solidFill>
                  <a:srgbClr val="E4ECF3"/>
                </a:solidFill>
                <a:latin typeface="Calibri" pitchFamily="34" charset="0"/>
                <a:ea typeface="Calibri" pitchFamily="34" charset="-122"/>
                <a:cs typeface="Calibri" pitchFamily="34" charset="-120"/>
              </a:rPr>
              <a:t> tells you the acuity and what's running.  </a:t>
            </a:r>
            <a:pPr algn="ctr" indent="0" marL="0">
              <a:lnSpc>
                <a:spcPts val="1900"/>
              </a:lnSpc>
              <a:buNone/>
            </a:pPr>
            <a:r>
              <a:rPr lang="en-US" sz="1350" b="1" dirty="0">
                <a:solidFill>
                  <a:srgbClr val="E0982E"/>
                </a:solidFill>
                <a:latin typeface="Calibri" pitchFamily="34" charset="0"/>
                <a:ea typeface="Calibri" pitchFamily="34" charset="-122"/>
                <a:cs typeface="Calibri" pitchFamily="34" charset="-120"/>
              </a:rPr>
              <a:t>Standing orders</a:t>
            </a:r>
            <a:pPr algn="ctr" indent="0" marL="0">
              <a:lnSpc>
                <a:spcPts val="1900"/>
              </a:lnSpc>
              <a:buNone/>
            </a:pPr>
            <a:r>
              <a:rPr lang="en-US" sz="1350" dirty="0">
                <a:solidFill>
                  <a:srgbClr val="E4ECF3"/>
                </a:solidFill>
                <a:latin typeface="Calibri" pitchFamily="34" charset="0"/>
                <a:ea typeface="Calibri" pitchFamily="34" charset="-122"/>
                <a:cs typeface="Calibri" pitchFamily="34" charset="-120"/>
              </a:rPr>
              <a:t> tells you whether your crew can legally take it.</a:t>
            </a:r>
            <a:endParaRPr lang="en-US" sz="1350" dirty="0"/>
          </a:p>
        </p:txBody>
      </p:sp>
      <p:sp>
        <p:nvSpPr>
          <p:cNvPr id="46" name="Text 42"/>
          <p:cNvSpPr/>
          <p:nvPr/>
        </p:nvSpPr>
        <p:spPr>
          <a:xfrm>
            <a:off x="566928" y="6455664"/>
            <a:ext cx="8229600" cy="274320"/>
          </a:xfrm>
          <a:prstGeom prst="rect">
            <a:avLst/>
          </a:prstGeom>
          <a:noFill/>
          <a:ln/>
        </p:spPr>
        <p:txBody>
          <a:bodyPr wrap="square" lIns="0" tIns="0" rIns="0" bIns="0"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AMR CES Academy  ·  Session 1  ·  Cardiac &amp; Neuro Deep Dive</a:t>
            </a:r>
            <a:endParaRPr lang="en-US" sz="900" dirty="0"/>
          </a:p>
        </p:txBody>
      </p:sp>
      <p:sp>
        <p:nvSpPr>
          <p:cNvPr id="47" name="Text 43"/>
          <p:cNvSpPr/>
          <p:nvPr/>
        </p:nvSpPr>
        <p:spPr>
          <a:xfrm>
            <a:off x="11076127" y="6455664"/>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566928" y="402336"/>
            <a:ext cx="109728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REASONING SPINE</a:t>
            </a:r>
            <a:endParaRPr lang="en-US" sz="1200" dirty="0"/>
          </a:p>
        </p:txBody>
      </p:sp>
      <p:sp>
        <p:nvSpPr>
          <p:cNvPr id="3" name="Text 1"/>
          <p:cNvSpPr/>
          <p:nvPr/>
        </p:nvSpPr>
        <p:spPr>
          <a:xfrm>
            <a:off x="566928" y="676656"/>
            <a:ext cx="11064240" cy="658368"/>
          </a:xfrm>
          <a:prstGeom prst="rect">
            <a:avLst/>
          </a:prstGeom>
          <a:noFill/>
          <a:ln/>
        </p:spPr>
        <p:txBody>
          <a:bodyPr wrap="square" lIns="0" tIns="0" rIns="0" bIns="0" rtlCol="0" anchor="ctr"/>
          <a:lstStyle/>
          <a:p>
            <a:pPr indent="0" marL="0">
              <a:buNone/>
            </a:pPr>
            <a:r>
              <a:rPr lang="en-US" sz="2900" b="1" dirty="0">
                <a:solidFill>
                  <a:srgbClr val="0F2A43"/>
                </a:solidFill>
                <a:latin typeface="Century Schoolbook" pitchFamily="34" charset="0"/>
                <a:ea typeface="Century Schoolbook" pitchFamily="34" charset="-122"/>
                <a:cs typeface="Century Schoolbook" pitchFamily="34" charset="-120"/>
              </a:rPr>
              <a:t>Four questions for every call type</a:t>
            </a:r>
            <a:endParaRPr lang="en-US" sz="2900" dirty="0"/>
          </a:p>
        </p:txBody>
      </p:sp>
      <p:sp>
        <p:nvSpPr>
          <p:cNvPr id="4" name="Text 2"/>
          <p:cNvSpPr/>
          <p:nvPr/>
        </p:nvSpPr>
        <p:spPr>
          <a:xfrm>
            <a:off x="566928" y="1417320"/>
            <a:ext cx="11064240" cy="36576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The same four questions from this morning, now applied to specific cardiac and neuro transfers.</a:t>
            </a:r>
            <a:endParaRPr lang="en-US" sz="1400" dirty="0"/>
          </a:p>
        </p:txBody>
      </p:sp>
      <p:sp>
        <p:nvSpPr>
          <p:cNvPr id="5" name="Shape 3"/>
          <p:cNvSpPr/>
          <p:nvPr/>
        </p:nvSpPr>
        <p:spPr>
          <a:xfrm>
            <a:off x="566928" y="2011680"/>
            <a:ext cx="2615184" cy="3566160"/>
          </a:xfrm>
          <a:prstGeom prst="roundRect">
            <a:avLst>
              <a:gd name="adj" fmla="val 2797"/>
            </a:avLst>
          </a:prstGeom>
          <a:solidFill>
            <a:srgbClr val="FFFFFF"/>
          </a:solidFill>
          <a:ln w="12700">
            <a:solidFill>
              <a:srgbClr val="DDE4EB"/>
            </a:solidFill>
            <a:prstDash val="solid"/>
          </a:ln>
          <a:effectLst>
            <a:outerShdw sx="100000" sy="100000" kx="0" ky="0" algn="bl" rotWithShape="0" blurRad="88900" dist="38100" dir="5400000">
              <a:srgbClr val="1B2A38">
                <a:alpha val="12000"/>
              </a:srgbClr>
            </a:outerShdw>
          </a:effectLst>
        </p:spPr>
      </p:sp>
      <p:sp>
        <p:nvSpPr>
          <p:cNvPr id="6" name="Shape 4"/>
          <p:cNvSpPr/>
          <p:nvPr/>
        </p:nvSpPr>
        <p:spPr>
          <a:xfrm>
            <a:off x="1371600" y="2377440"/>
            <a:ext cx="1005840" cy="1005840"/>
          </a:xfrm>
          <a:prstGeom prst="ellipse">
            <a:avLst/>
          </a:prstGeom>
          <a:solidFill>
            <a:srgbClr val="1C7293"/>
          </a:solidFill>
          <a:ln/>
          <a:effectLst>
            <a:outerShdw sx="100000" sy="100000" kx="0" ky="0" algn="bl" rotWithShape="0" blurRad="88900" dist="38100" dir="5400000">
              <a:srgbClr val="1B2A38">
                <a:alpha val="12000"/>
              </a:srgbClr>
            </a:outerShdw>
          </a:effectLst>
        </p:spPr>
      </p:sp>
      <p:pic>
        <p:nvPicPr>
          <p:cNvPr id="7" name="Image 0" descr="/home/claude/deck/icons/dropw.png">    </p:cNvPr>
          <p:cNvPicPr>
            <a:picLocks noChangeAspect="1"/>
          </p:cNvPicPr>
          <p:nvPr/>
        </p:nvPicPr>
        <p:blipFill>
          <a:blip r:embed="rId1"/>
          <a:stretch>
            <a:fillRect/>
          </a:stretch>
        </p:blipFill>
        <p:spPr>
          <a:xfrm>
            <a:off x="1633118" y="2638958"/>
            <a:ext cx="482803" cy="482803"/>
          </a:xfrm>
          <a:prstGeom prst="rect">
            <a:avLst/>
          </a:prstGeom>
        </p:spPr>
      </p:pic>
      <p:sp>
        <p:nvSpPr>
          <p:cNvPr id="8" name="Text 5"/>
          <p:cNvSpPr/>
          <p:nvPr/>
        </p:nvSpPr>
        <p:spPr>
          <a:xfrm>
            <a:off x="749808" y="3566160"/>
            <a:ext cx="2249424" cy="502920"/>
          </a:xfrm>
          <a:prstGeom prst="rect">
            <a:avLst/>
          </a:prstGeom>
          <a:noFill/>
          <a:ln/>
        </p:spPr>
        <p:txBody>
          <a:bodyPr wrap="square" lIns="0" tIns="0" rIns="0" bIns="0" rtlCol="0" anchor="ctr"/>
          <a:lstStyle/>
          <a:p>
            <a:pPr algn="ctr" indent="0" marL="0">
              <a:buNone/>
            </a:pPr>
            <a:r>
              <a:rPr lang="en-US" sz="1700" b="1" dirty="0">
                <a:solidFill>
                  <a:srgbClr val="0F2A43"/>
                </a:solidFill>
                <a:latin typeface="Century Schoolbook" pitchFamily="34" charset="0"/>
                <a:ea typeface="Century Schoolbook" pitchFamily="34" charset="-122"/>
                <a:cs typeface="Century Schoolbook" pitchFamily="34" charset="-120"/>
              </a:rPr>
              <a:t>What's running?</a:t>
            </a:r>
            <a:endParaRPr lang="en-US" sz="1700" dirty="0"/>
          </a:p>
        </p:txBody>
      </p:sp>
      <p:sp>
        <p:nvSpPr>
          <p:cNvPr id="9" name="Text 6"/>
          <p:cNvSpPr/>
          <p:nvPr/>
        </p:nvSpPr>
        <p:spPr>
          <a:xfrm>
            <a:off x="822960" y="4114800"/>
            <a:ext cx="2103120" cy="1280160"/>
          </a:xfrm>
          <a:prstGeom prst="rect">
            <a:avLst/>
          </a:prstGeom>
          <a:noFill/>
          <a:ln/>
        </p:spPr>
        <p:txBody>
          <a:bodyPr wrap="square" lIns="0" tIns="0" rIns="0" bIns="0" rtlCol="0" anchor="ctr"/>
          <a:lstStyle/>
          <a:p>
            <a:pPr algn="ctr" indent="0" marL="0">
              <a:lnSpc>
                <a:spcPts val="1600"/>
              </a:lnSpc>
              <a:buNone/>
            </a:pPr>
            <a:r>
              <a:rPr lang="en-US" sz="1250" dirty="0">
                <a:solidFill>
                  <a:srgbClr val="18242F"/>
                </a:solidFill>
                <a:latin typeface="Calibri" pitchFamily="34" charset="0"/>
                <a:ea typeface="Calibri" pitchFamily="34" charset="-122"/>
                <a:cs typeface="Calibri" pitchFamily="34" charset="-120"/>
              </a:rPr>
              <a:t>Drips, vent, pacing, devices. This sets the acuity and the crew you need.</a:t>
            </a:r>
            <a:endParaRPr lang="en-US" sz="1250" dirty="0"/>
          </a:p>
        </p:txBody>
      </p:sp>
      <p:sp>
        <p:nvSpPr>
          <p:cNvPr id="10" name="Shape 7"/>
          <p:cNvSpPr/>
          <p:nvPr/>
        </p:nvSpPr>
        <p:spPr>
          <a:xfrm>
            <a:off x="3401568" y="2011680"/>
            <a:ext cx="2615184" cy="3566160"/>
          </a:xfrm>
          <a:prstGeom prst="roundRect">
            <a:avLst>
              <a:gd name="adj" fmla="val 2797"/>
            </a:avLst>
          </a:prstGeom>
          <a:solidFill>
            <a:srgbClr val="FFFFFF"/>
          </a:solidFill>
          <a:ln w="12700">
            <a:solidFill>
              <a:srgbClr val="DDE4EB"/>
            </a:solidFill>
            <a:prstDash val="solid"/>
          </a:ln>
          <a:effectLst>
            <a:outerShdw sx="100000" sy="100000" kx="0" ky="0" algn="bl" rotWithShape="0" blurRad="88900" dist="38100" dir="5400000">
              <a:srgbClr val="1B2A38">
                <a:alpha val="12000"/>
              </a:srgbClr>
            </a:outerShdw>
          </a:effectLst>
        </p:spPr>
      </p:sp>
      <p:sp>
        <p:nvSpPr>
          <p:cNvPr id="11" name="Shape 8"/>
          <p:cNvSpPr/>
          <p:nvPr/>
        </p:nvSpPr>
        <p:spPr>
          <a:xfrm>
            <a:off x="4206240" y="2377440"/>
            <a:ext cx="1005840" cy="1005840"/>
          </a:xfrm>
          <a:prstGeom prst="ellipse">
            <a:avLst/>
          </a:prstGeom>
          <a:solidFill>
            <a:srgbClr val="2A9D8F"/>
          </a:solidFill>
          <a:ln/>
          <a:effectLst>
            <a:outerShdw sx="100000" sy="100000" kx="0" ky="0" algn="bl" rotWithShape="0" blurRad="88900" dist="38100" dir="5400000">
              <a:srgbClr val="1B2A38">
                <a:alpha val="12000"/>
              </a:srgbClr>
            </a:outerShdw>
          </a:effectLst>
        </p:spPr>
      </p:sp>
      <p:pic>
        <p:nvPicPr>
          <p:cNvPr id="12" name="Image 1" descr="/home/claude/deck/icons/usermd.png">    </p:cNvPr>
          <p:cNvPicPr>
            <a:picLocks noChangeAspect="1"/>
          </p:cNvPicPr>
          <p:nvPr/>
        </p:nvPicPr>
        <p:blipFill>
          <a:blip r:embed="rId2"/>
          <a:stretch>
            <a:fillRect/>
          </a:stretch>
        </p:blipFill>
        <p:spPr>
          <a:xfrm>
            <a:off x="4467758" y="2638958"/>
            <a:ext cx="482803" cy="482803"/>
          </a:xfrm>
          <a:prstGeom prst="rect">
            <a:avLst/>
          </a:prstGeom>
        </p:spPr>
      </p:pic>
      <p:sp>
        <p:nvSpPr>
          <p:cNvPr id="13" name="Text 9"/>
          <p:cNvSpPr/>
          <p:nvPr/>
        </p:nvSpPr>
        <p:spPr>
          <a:xfrm>
            <a:off x="3584448" y="3566160"/>
            <a:ext cx="2249424" cy="502920"/>
          </a:xfrm>
          <a:prstGeom prst="rect">
            <a:avLst/>
          </a:prstGeom>
          <a:noFill/>
          <a:ln/>
        </p:spPr>
        <p:txBody>
          <a:bodyPr wrap="square" lIns="0" tIns="0" rIns="0" bIns="0" rtlCol="0" anchor="ctr"/>
          <a:lstStyle/>
          <a:p>
            <a:pPr algn="ctr" indent="0" marL="0">
              <a:buNone/>
            </a:pPr>
            <a:r>
              <a:rPr lang="en-US" sz="1700" b="1" dirty="0">
                <a:solidFill>
                  <a:srgbClr val="0F2A43"/>
                </a:solidFill>
                <a:latin typeface="Century Schoolbook" pitchFamily="34" charset="0"/>
                <a:ea typeface="Century Schoolbook" pitchFamily="34" charset="-122"/>
                <a:cs typeface="Century Schoolbook" pitchFamily="34" charset="-120"/>
              </a:rPr>
              <a:t>Whose scope?</a:t>
            </a:r>
            <a:endParaRPr lang="en-US" sz="1700" dirty="0"/>
          </a:p>
        </p:txBody>
      </p:sp>
      <p:sp>
        <p:nvSpPr>
          <p:cNvPr id="14" name="Text 10"/>
          <p:cNvSpPr/>
          <p:nvPr/>
        </p:nvSpPr>
        <p:spPr>
          <a:xfrm>
            <a:off x="3657600" y="4114800"/>
            <a:ext cx="2103120" cy="1280160"/>
          </a:xfrm>
          <a:prstGeom prst="rect">
            <a:avLst/>
          </a:prstGeom>
          <a:noFill/>
          <a:ln/>
        </p:spPr>
        <p:txBody>
          <a:bodyPr wrap="square" lIns="0" tIns="0" rIns="0" bIns="0" rtlCol="0" anchor="ctr"/>
          <a:lstStyle/>
          <a:p>
            <a:pPr algn="ctr" indent="0" marL="0">
              <a:lnSpc>
                <a:spcPts val="1600"/>
              </a:lnSpc>
              <a:buNone/>
            </a:pPr>
            <a:r>
              <a:rPr lang="en-US" sz="1250" dirty="0">
                <a:solidFill>
                  <a:srgbClr val="18242F"/>
                </a:solidFill>
                <a:latin typeface="Calibri" pitchFamily="34" charset="0"/>
                <a:ea typeface="Calibri" pitchFamily="34" charset="-122"/>
                <a:cs typeface="Calibri" pitchFamily="34" charset="-120"/>
              </a:rPr>
              <a:t>Can an AEMT take it, or does a drip / vent / procedure force a Paramedic?</a:t>
            </a:r>
            <a:endParaRPr lang="en-US" sz="1250" dirty="0"/>
          </a:p>
        </p:txBody>
      </p:sp>
      <p:sp>
        <p:nvSpPr>
          <p:cNvPr id="15" name="Shape 11"/>
          <p:cNvSpPr/>
          <p:nvPr/>
        </p:nvSpPr>
        <p:spPr>
          <a:xfrm>
            <a:off x="6236208" y="2011680"/>
            <a:ext cx="2615184" cy="3566160"/>
          </a:xfrm>
          <a:prstGeom prst="roundRect">
            <a:avLst>
              <a:gd name="adj" fmla="val 2797"/>
            </a:avLst>
          </a:prstGeom>
          <a:solidFill>
            <a:srgbClr val="FFFFFF"/>
          </a:solidFill>
          <a:ln w="12700">
            <a:solidFill>
              <a:srgbClr val="DDE4EB"/>
            </a:solidFill>
            <a:prstDash val="solid"/>
          </a:ln>
          <a:effectLst>
            <a:outerShdw sx="100000" sy="100000" kx="0" ky="0" algn="bl" rotWithShape="0" blurRad="88900" dist="38100" dir="5400000">
              <a:srgbClr val="1B2A38">
                <a:alpha val="12000"/>
              </a:srgbClr>
            </a:outerShdw>
          </a:effectLst>
        </p:spPr>
      </p:sp>
      <p:sp>
        <p:nvSpPr>
          <p:cNvPr id="16" name="Shape 12"/>
          <p:cNvSpPr/>
          <p:nvPr/>
        </p:nvSpPr>
        <p:spPr>
          <a:xfrm>
            <a:off x="7040880" y="2377440"/>
            <a:ext cx="1005840" cy="1005840"/>
          </a:xfrm>
          <a:prstGeom prst="ellipse">
            <a:avLst/>
          </a:prstGeom>
          <a:solidFill>
            <a:srgbClr val="1C7293"/>
          </a:solidFill>
          <a:ln/>
          <a:effectLst>
            <a:outerShdw sx="100000" sy="100000" kx="0" ky="0" algn="bl" rotWithShape="0" blurRad="88900" dist="38100" dir="5400000">
              <a:srgbClr val="1B2A38">
                <a:alpha val="12000"/>
              </a:srgbClr>
            </a:outerShdw>
          </a:effectLst>
        </p:spPr>
      </p:sp>
      <p:pic>
        <p:nvPicPr>
          <p:cNvPr id="17" name="Image 2" descr="/home/claude/deck/icons/wavew.png">    </p:cNvPr>
          <p:cNvPicPr>
            <a:picLocks noChangeAspect="1"/>
          </p:cNvPicPr>
          <p:nvPr/>
        </p:nvPicPr>
        <p:blipFill>
          <a:blip r:embed="rId3"/>
          <a:stretch>
            <a:fillRect/>
          </a:stretch>
        </p:blipFill>
        <p:spPr>
          <a:xfrm>
            <a:off x="7302398" y="2638958"/>
            <a:ext cx="482803" cy="482803"/>
          </a:xfrm>
          <a:prstGeom prst="rect">
            <a:avLst/>
          </a:prstGeom>
        </p:spPr>
      </p:pic>
      <p:sp>
        <p:nvSpPr>
          <p:cNvPr id="18" name="Text 13"/>
          <p:cNvSpPr/>
          <p:nvPr/>
        </p:nvSpPr>
        <p:spPr>
          <a:xfrm>
            <a:off x="6419088" y="3566160"/>
            <a:ext cx="2249424" cy="502920"/>
          </a:xfrm>
          <a:prstGeom prst="rect">
            <a:avLst/>
          </a:prstGeom>
          <a:noFill/>
          <a:ln/>
        </p:spPr>
        <p:txBody>
          <a:bodyPr wrap="square" lIns="0" tIns="0" rIns="0" bIns="0" rtlCol="0" anchor="ctr"/>
          <a:lstStyle/>
          <a:p>
            <a:pPr algn="ctr" indent="0" marL="0">
              <a:buNone/>
            </a:pPr>
            <a:r>
              <a:rPr lang="en-US" sz="1700" b="1" dirty="0">
                <a:solidFill>
                  <a:srgbClr val="0F2A43"/>
                </a:solidFill>
                <a:latin typeface="Century Schoolbook" pitchFamily="34" charset="0"/>
                <a:ea typeface="Century Schoolbook" pitchFamily="34" charset="-122"/>
                <a:cs typeface="Century Schoolbook" pitchFamily="34" charset="-120"/>
              </a:rPr>
              <a:t>What deteriorates?</a:t>
            </a:r>
            <a:endParaRPr lang="en-US" sz="1700" dirty="0"/>
          </a:p>
        </p:txBody>
      </p:sp>
      <p:sp>
        <p:nvSpPr>
          <p:cNvPr id="19" name="Text 14"/>
          <p:cNvSpPr/>
          <p:nvPr/>
        </p:nvSpPr>
        <p:spPr>
          <a:xfrm>
            <a:off x="6492240" y="4114800"/>
            <a:ext cx="2103120" cy="1280160"/>
          </a:xfrm>
          <a:prstGeom prst="rect">
            <a:avLst/>
          </a:prstGeom>
          <a:noFill/>
          <a:ln/>
        </p:spPr>
        <p:txBody>
          <a:bodyPr wrap="square" lIns="0" tIns="0" rIns="0" bIns="0" rtlCol="0" anchor="ctr"/>
          <a:lstStyle/>
          <a:p>
            <a:pPr algn="ctr" indent="0" marL="0">
              <a:lnSpc>
                <a:spcPts val="1600"/>
              </a:lnSpc>
              <a:buNone/>
            </a:pPr>
            <a:r>
              <a:rPr lang="en-US" sz="1250" dirty="0">
                <a:solidFill>
                  <a:srgbClr val="18242F"/>
                </a:solidFill>
                <a:latin typeface="Calibri" pitchFamily="34" charset="0"/>
                <a:ea typeface="Calibri" pitchFamily="34" charset="-122"/>
                <a:cs typeface="Calibri" pitchFamily="34" charset="-120"/>
              </a:rPr>
              <a:t>Every protocol lists the predictable failure modes. Anticipate them.</a:t>
            </a:r>
            <a:endParaRPr lang="en-US" sz="1250" dirty="0"/>
          </a:p>
        </p:txBody>
      </p:sp>
      <p:sp>
        <p:nvSpPr>
          <p:cNvPr id="20" name="Shape 15"/>
          <p:cNvSpPr/>
          <p:nvPr/>
        </p:nvSpPr>
        <p:spPr>
          <a:xfrm>
            <a:off x="9070848" y="2011680"/>
            <a:ext cx="2615184" cy="3566160"/>
          </a:xfrm>
          <a:prstGeom prst="roundRect">
            <a:avLst>
              <a:gd name="adj" fmla="val 2797"/>
            </a:avLst>
          </a:prstGeom>
          <a:solidFill>
            <a:srgbClr val="FFFFFF"/>
          </a:solidFill>
          <a:ln w="12700">
            <a:solidFill>
              <a:srgbClr val="DDE4EB"/>
            </a:solidFill>
            <a:prstDash val="solid"/>
          </a:ln>
          <a:effectLst>
            <a:outerShdw sx="100000" sy="100000" kx="0" ky="0" algn="bl" rotWithShape="0" blurRad="88900" dist="38100" dir="5400000">
              <a:srgbClr val="1B2A38">
                <a:alpha val="12000"/>
              </a:srgbClr>
            </a:outerShdw>
          </a:effectLst>
        </p:spPr>
      </p:sp>
      <p:sp>
        <p:nvSpPr>
          <p:cNvPr id="21" name="Shape 16"/>
          <p:cNvSpPr/>
          <p:nvPr/>
        </p:nvSpPr>
        <p:spPr>
          <a:xfrm>
            <a:off x="9875520" y="2377440"/>
            <a:ext cx="1005840" cy="1005840"/>
          </a:xfrm>
          <a:prstGeom prst="ellipse">
            <a:avLst/>
          </a:prstGeom>
          <a:solidFill>
            <a:srgbClr val="2A9D8F"/>
          </a:solidFill>
          <a:ln/>
          <a:effectLst>
            <a:outerShdw sx="100000" sy="100000" kx="0" ky="0" algn="bl" rotWithShape="0" blurRad="88900" dist="38100" dir="5400000">
              <a:srgbClr val="1B2A38">
                <a:alpha val="12000"/>
              </a:srgbClr>
            </a:outerShdw>
          </a:effectLst>
        </p:spPr>
      </p:sp>
      <p:pic>
        <p:nvPicPr>
          <p:cNvPr id="22" name="Image 3" descr="/home/claude/deck/icons/compassw.png">    </p:cNvPr>
          <p:cNvPicPr>
            <a:picLocks noChangeAspect="1"/>
          </p:cNvPicPr>
          <p:nvPr/>
        </p:nvPicPr>
        <p:blipFill>
          <a:blip r:embed="rId4"/>
          <a:stretch>
            <a:fillRect/>
          </a:stretch>
        </p:blipFill>
        <p:spPr>
          <a:xfrm>
            <a:off x="10137038" y="2638958"/>
            <a:ext cx="482803" cy="482803"/>
          </a:xfrm>
          <a:prstGeom prst="rect">
            <a:avLst/>
          </a:prstGeom>
        </p:spPr>
      </p:pic>
      <p:sp>
        <p:nvSpPr>
          <p:cNvPr id="23" name="Text 17"/>
          <p:cNvSpPr/>
          <p:nvPr/>
        </p:nvSpPr>
        <p:spPr>
          <a:xfrm>
            <a:off x="9253728" y="3566160"/>
            <a:ext cx="2249424" cy="502920"/>
          </a:xfrm>
          <a:prstGeom prst="rect">
            <a:avLst/>
          </a:prstGeom>
          <a:noFill/>
          <a:ln/>
        </p:spPr>
        <p:txBody>
          <a:bodyPr wrap="square" lIns="0" tIns="0" rIns="0" bIns="0" rtlCol="0" anchor="ctr"/>
          <a:lstStyle/>
          <a:p>
            <a:pPr algn="ctr" indent="0" marL="0">
              <a:buNone/>
            </a:pPr>
            <a:r>
              <a:rPr lang="en-US" sz="1700" b="1" dirty="0">
                <a:solidFill>
                  <a:srgbClr val="0F2A43"/>
                </a:solidFill>
                <a:latin typeface="Century Schoolbook" pitchFamily="34" charset="0"/>
                <a:ea typeface="Century Schoolbook" pitchFamily="34" charset="-122"/>
                <a:cs typeface="Century Schoolbook" pitchFamily="34" charset="-120"/>
              </a:rPr>
              <a:t>When do I divert?</a:t>
            </a:r>
            <a:endParaRPr lang="en-US" sz="1700" dirty="0"/>
          </a:p>
        </p:txBody>
      </p:sp>
      <p:sp>
        <p:nvSpPr>
          <p:cNvPr id="24" name="Text 18"/>
          <p:cNvSpPr/>
          <p:nvPr/>
        </p:nvSpPr>
        <p:spPr>
          <a:xfrm>
            <a:off x="9326880" y="4114800"/>
            <a:ext cx="2103120" cy="1280160"/>
          </a:xfrm>
          <a:prstGeom prst="rect">
            <a:avLst/>
          </a:prstGeom>
          <a:noFill/>
          <a:ln/>
        </p:spPr>
        <p:txBody>
          <a:bodyPr wrap="square" lIns="0" tIns="0" rIns="0" bIns="0" rtlCol="0" anchor="ctr"/>
          <a:lstStyle/>
          <a:p>
            <a:pPr algn="ctr" indent="0" marL="0">
              <a:lnSpc>
                <a:spcPts val="1600"/>
              </a:lnSpc>
              <a:buNone/>
            </a:pPr>
            <a:r>
              <a:rPr lang="en-US" sz="1250" dirty="0">
                <a:solidFill>
                  <a:srgbClr val="18242F"/>
                </a:solidFill>
                <a:latin typeface="Calibri" pitchFamily="34" charset="0"/>
                <a:ea typeface="Calibri" pitchFamily="34" charset="-122"/>
                <a:cs typeface="Calibri" pitchFamily="34" charset="-120"/>
              </a:rPr>
              <a:t>Know the immediate-diversion triggers before you leave the dock.</a:t>
            </a:r>
            <a:endParaRPr lang="en-US" sz="1250" dirty="0"/>
          </a:p>
        </p:txBody>
      </p:sp>
      <p:sp>
        <p:nvSpPr>
          <p:cNvPr id="25" name="Text 19"/>
          <p:cNvSpPr/>
          <p:nvPr/>
        </p:nvSpPr>
        <p:spPr>
          <a:xfrm>
            <a:off x="566928" y="5852160"/>
            <a:ext cx="11064240" cy="457200"/>
          </a:xfrm>
          <a:prstGeom prst="rect">
            <a:avLst/>
          </a:prstGeom>
          <a:noFill/>
          <a:ln/>
        </p:spPr>
        <p:txBody>
          <a:bodyPr wrap="square" lIns="0" tIns="0" rIns="0" bIns="0" rtlCol="0" anchor="ctr"/>
          <a:lstStyle/>
          <a:p>
            <a:pPr algn="ctr" indent="0" marL="0">
              <a:buNone/>
            </a:pPr>
            <a:r>
              <a:rPr lang="en-US" sz="1350" b="1" i="1" dirty="0">
                <a:solidFill>
                  <a:srgbClr val="1C7293"/>
                </a:solidFill>
                <a:latin typeface="Calibri" pitchFamily="34" charset="0"/>
                <a:ea typeface="Calibri" pitchFamily="34" charset="-122"/>
                <a:cs typeface="Calibri" pitchFamily="34" charset="-120"/>
              </a:rPr>
              <a:t>Answer these four and the chart writes itself: </a:t>
            </a:r>
            <a:pPr algn="ctr" indent="0" marL="0">
              <a:buNone/>
            </a:pPr>
            <a:r>
              <a:rPr lang="en-US" sz="1350" i="1" dirty="0">
                <a:solidFill>
                  <a:srgbClr val="18242F"/>
                </a:solidFill>
                <a:latin typeface="Calibri" pitchFamily="34" charset="0"/>
                <a:ea typeface="Calibri" pitchFamily="34" charset="-122"/>
                <a:cs typeface="Calibri" pitchFamily="34" charset="-120"/>
              </a:rPr>
              <a:t>call type, level of care, monitoring plan, and medical necessity all fall out of the answers.</a:t>
            </a:r>
            <a:endParaRPr lang="en-US" sz="1350" dirty="0"/>
          </a:p>
        </p:txBody>
      </p:sp>
      <p:sp>
        <p:nvSpPr>
          <p:cNvPr id="27" name="Text 20"/>
          <p:cNvSpPr/>
          <p:nvPr/>
        </p:nvSpPr>
        <p:spPr>
          <a:xfrm>
            <a:off x="566928" y="6455664"/>
            <a:ext cx="8229600" cy="274320"/>
          </a:xfrm>
          <a:prstGeom prst="rect">
            <a:avLst/>
          </a:prstGeom>
          <a:noFill/>
          <a:ln/>
        </p:spPr>
        <p:txBody>
          <a:bodyPr wrap="square" lIns="0" tIns="0" rIns="0" bIns="0"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AMR CES Academy  ·  Session 1  ·  Cardiac &amp; Neuro Deep Dive</a:t>
            </a:r>
            <a:endParaRPr lang="en-US" sz="900" dirty="0"/>
          </a:p>
        </p:txBody>
      </p:sp>
      <p:sp>
        <p:nvSpPr>
          <p:cNvPr id="28" name="Text 21"/>
          <p:cNvSpPr/>
          <p:nvPr/>
        </p:nvSpPr>
        <p:spPr>
          <a:xfrm>
            <a:off x="11076127" y="6455664"/>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566928" y="402336"/>
            <a:ext cx="109728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CARDIAC CALL TYPES</a:t>
            </a:r>
            <a:endParaRPr lang="en-US" sz="1200" dirty="0"/>
          </a:p>
        </p:txBody>
      </p:sp>
      <p:sp>
        <p:nvSpPr>
          <p:cNvPr id="3" name="Text 1"/>
          <p:cNvSpPr/>
          <p:nvPr/>
        </p:nvSpPr>
        <p:spPr>
          <a:xfrm>
            <a:off x="566928" y="676656"/>
            <a:ext cx="11064240" cy="658368"/>
          </a:xfrm>
          <a:prstGeom prst="rect">
            <a:avLst/>
          </a:prstGeom>
          <a:noFill/>
          <a:ln/>
        </p:spPr>
        <p:txBody>
          <a:bodyPr wrap="square" lIns="0" tIns="0" rIns="0" bIns="0" rtlCol="0" anchor="ctr"/>
          <a:lstStyle/>
          <a:p>
            <a:pPr indent="0" marL="0">
              <a:buNone/>
            </a:pPr>
            <a:r>
              <a:rPr lang="en-US" sz="2900" b="1" dirty="0">
                <a:solidFill>
                  <a:srgbClr val="0F2A43"/>
                </a:solidFill>
                <a:latin typeface="Century Schoolbook" pitchFamily="34" charset="0"/>
                <a:ea typeface="Century Schoolbook" pitchFamily="34" charset="-122"/>
                <a:cs typeface="Century Schoolbook" pitchFamily="34" charset="-120"/>
              </a:rPr>
              <a:t>Cardiac at a glance — three families</a:t>
            </a:r>
            <a:endParaRPr lang="en-US" sz="2900" dirty="0"/>
          </a:p>
        </p:txBody>
      </p:sp>
      <p:sp>
        <p:nvSpPr>
          <p:cNvPr id="4" name="Text 2"/>
          <p:cNvSpPr/>
          <p:nvPr/>
        </p:nvSpPr>
        <p:spPr>
          <a:xfrm>
            <a:off x="566928" y="1417320"/>
            <a:ext cx="11064240" cy="36576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Eight cardiac protocols sort into three problem families. Name the family first, then the specifics follow.</a:t>
            </a:r>
            <a:endParaRPr lang="en-US" sz="1400" dirty="0"/>
          </a:p>
        </p:txBody>
      </p:sp>
      <p:sp>
        <p:nvSpPr>
          <p:cNvPr id="5" name="Shape 3"/>
          <p:cNvSpPr/>
          <p:nvPr/>
        </p:nvSpPr>
        <p:spPr>
          <a:xfrm>
            <a:off x="566928" y="2011680"/>
            <a:ext cx="3529584" cy="3794760"/>
          </a:xfrm>
          <a:prstGeom prst="roundRect">
            <a:avLst>
              <a:gd name="adj" fmla="val 2073"/>
            </a:avLst>
          </a:prstGeom>
          <a:solidFill>
            <a:srgbClr val="FFFFFF"/>
          </a:solidFill>
          <a:ln w="12700">
            <a:solidFill>
              <a:srgbClr val="DDE4EB"/>
            </a:solidFill>
            <a:prstDash val="solid"/>
          </a:ln>
          <a:effectLst>
            <a:outerShdw sx="100000" sy="100000" kx="0" ky="0" algn="bl" rotWithShape="0" blurRad="88900" dist="38100" dir="5400000">
              <a:srgbClr val="1B2A38">
                <a:alpha val="12000"/>
              </a:srgbClr>
            </a:outerShdw>
          </a:effectLst>
        </p:spPr>
      </p:sp>
      <p:sp>
        <p:nvSpPr>
          <p:cNvPr id="6" name="Shape 4"/>
          <p:cNvSpPr/>
          <p:nvPr/>
        </p:nvSpPr>
        <p:spPr>
          <a:xfrm>
            <a:off x="859536" y="2304288"/>
            <a:ext cx="841248" cy="841248"/>
          </a:xfrm>
          <a:prstGeom prst="ellipse">
            <a:avLst/>
          </a:prstGeom>
          <a:solidFill>
            <a:srgbClr val="1C7293"/>
          </a:solidFill>
          <a:ln/>
          <a:effectLst>
            <a:outerShdw sx="100000" sy="100000" kx="0" ky="0" algn="bl" rotWithShape="0" blurRad="88900" dist="38100" dir="5400000">
              <a:srgbClr val="1B2A38">
                <a:alpha val="12000"/>
              </a:srgbClr>
            </a:outerShdw>
          </a:effectLst>
        </p:spPr>
      </p:sp>
      <p:pic>
        <p:nvPicPr>
          <p:cNvPr id="7" name="Image 0" descr="/home/claude/deck/icons/boltw.png">    </p:cNvPr>
          <p:cNvPicPr>
            <a:picLocks noChangeAspect="1"/>
          </p:cNvPicPr>
          <p:nvPr/>
        </p:nvPicPr>
        <p:blipFill>
          <a:blip r:embed="rId1"/>
          <a:stretch>
            <a:fillRect/>
          </a:stretch>
        </p:blipFill>
        <p:spPr>
          <a:xfrm>
            <a:off x="1078260" y="2523012"/>
            <a:ext cx="403799" cy="403799"/>
          </a:xfrm>
          <a:prstGeom prst="rect">
            <a:avLst/>
          </a:prstGeom>
        </p:spPr>
      </p:pic>
      <p:sp>
        <p:nvSpPr>
          <p:cNvPr id="8" name="Text 5"/>
          <p:cNvSpPr/>
          <p:nvPr/>
        </p:nvSpPr>
        <p:spPr>
          <a:xfrm>
            <a:off x="1801368" y="2304288"/>
            <a:ext cx="2066544" cy="841248"/>
          </a:xfrm>
          <a:prstGeom prst="rect">
            <a:avLst/>
          </a:prstGeom>
          <a:noFill/>
          <a:ln/>
        </p:spPr>
        <p:txBody>
          <a:bodyPr wrap="square" lIns="0" tIns="0" rIns="0" bIns="0" rtlCol="0" anchor="ctr"/>
          <a:lstStyle/>
          <a:p>
            <a:pPr indent="0" marL="0">
              <a:buNone/>
            </a:pPr>
            <a:r>
              <a:rPr lang="en-US" sz="1900" b="1" dirty="0">
                <a:solidFill>
                  <a:srgbClr val="0F2A43"/>
                </a:solidFill>
                <a:latin typeface="Century Schoolbook" pitchFamily="34" charset="0"/>
                <a:ea typeface="Century Schoolbook" pitchFamily="34" charset="-122"/>
                <a:cs typeface="Century Schoolbook" pitchFamily="34" charset="-120"/>
              </a:rPr>
              <a:t>Rate &amp; rhythm</a:t>
            </a:r>
            <a:endParaRPr lang="en-US" sz="1900" dirty="0"/>
          </a:p>
        </p:txBody>
      </p:sp>
      <p:sp>
        <p:nvSpPr>
          <p:cNvPr id="9" name="Text 6"/>
          <p:cNvSpPr/>
          <p:nvPr/>
        </p:nvSpPr>
        <p:spPr>
          <a:xfrm>
            <a:off x="877824" y="3337560"/>
            <a:ext cx="2907792" cy="1737360"/>
          </a:xfrm>
          <a:prstGeom prst="rect">
            <a:avLst/>
          </a:prstGeom>
          <a:noFill/>
          <a:ln/>
        </p:spPr>
        <p:txBody>
          <a:bodyPr wrap="square" lIns="0" tIns="0" rIns="0" bIns="0" rtlCol="0" anchor="ctr"/>
          <a:lstStyle/>
          <a:p>
            <a:pPr marL="165100" indent="-165100">
              <a:lnSpc>
                <a:spcPts val="1600"/>
              </a:lnSpc>
              <a:spcAft>
                <a:spcPts val="600"/>
              </a:spcAft>
              <a:buSzPct val="100000"/>
              <a:buChar char="•"/>
            </a:pPr>
            <a:r>
              <a:rPr lang="en-US" sz="1300" dirty="0">
                <a:solidFill>
                  <a:srgbClr val="18242F"/>
                </a:solidFill>
                <a:latin typeface="Calibri" pitchFamily="34" charset="0"/>
                <a:ea typeface="Calibri" pitchFamily="34" charset="-122"/>
                <a:cs typeface="Calibri" pitchFamily="34" charset="-120"/>
              </a:rPr>
              <a:t>Bradycardia (II-1)</a:t>
            </a:r>
            <a:endParaRPr lang="en-US" sz="1300" dirty="0"/>
          </a:p>
          <a:p>
            <a:pPr marL="165100" indent="-165100">
              <a:lnSpc>
                <a:spcPts val="1600"/>
              </a:lnSpc>
              <a:spcAft>
                <a:spcPts val="600"/>
              </a:spcAft>
              <a:buSzPct val="100000"/>
              <a:buChar char="•"/>
            </a:pPr>
            <a:r>
              <a:rPr lang="en-US" sz="1300" dirty="0">
                <a:solidFill>
                  <a:srgbClr val="18242F"/>
                </a:solidFill>
                <a:latin typeface="Calibri" pitchFamily="34" charset="0"/>
                <a:ea typeface="Calibri" pitchFamily="34" charset="-122"/>
                <a:cs typeface="Calibri" pitchFamily="34" charset="-120"/>
              </a:rPr>
              <a:t>SVT (II-2)</a:t>
            </a:r>
            <a:endParaRPr lang="en-US" sz="1300" dirty="0"/>
          </a:p>
          <a:p>
            <a:pPr marL="165100" indent="-165100">
              <a:lnSpc>
                <a:spcPts val="1600"/>
              </a:lnSpc>
              <a:spcAft>
                <a:spcPts val="600"/>
              </a:spcAft>
              <a:buSzPct val="100000"/>
              <a:buChar char="•"/>
            </a:pPr>
            <a:r>
              <a:rPr lang="en-US" sz="1300" dirty="0">
                <a:solidFill>
                  <a:srgbClr val="18242F"/>
                </a:solidFill>
                <a:latin typeface="Calibri" pitchFamily="34" charset="0"/>
                <a:ea typeface="Calibri" pitchFamily="34" charset="-122"/>
                <a:cs typeface="Calibri" pitchFamily="34" charset="-120"/>
              </a:rPr>
              <a:t>A-fib with RVR (II-3)</a:t>
            </a:r>
            <a:endParaRPr lang="en-US" sz="1300" dirty="0"/>
          </a:p>
          <a:p>
            <a:pPr marL="165100" indent="-165100">
              <a:lnSpc>
                <a:spcPts val="1600"/>
              </a:lnSpc>
              <a:spcAft>
                <a:spcPts val="600"/>
              </a:spcAft>
              <a:buSzPct val="100000"/>
              <a:buChar char="•"/>
            </a:pPr>
            <a:r>
              <a:rPr lang="en-US" sz="1300" dirty="0">
                <a:solidFill>
                  <a:srgbClr val="18242F"/>
                </a:solidFill>
                <a:latin typeface="Calibri" pitchFamily="34" charset="0"/>
                <a:ea typeface="Calibri" pitchFamily="34" charset="-122"/>
                <a:cs typeface="Calibri" pitchFamily="34" charset="-120"/>
              </a:rPr>
              <a:t>Wide-complex tachycardia (II-4)</a:t>
            </a:r>
            <a:endParaRPr lang="en-US" sz="1300" dirty="0"/>
          </a:p>
        </p:txBody>
      </p:sp>
      <p:sp>
        <p:nvSpPr>
          <p:cNvPr id="10" name="Shape 7"/>
          <p:cNvSpPr/>
          <p:nvPr/>
        </p:nvSpPr>
        <p:spPr>
          <a:xfrm>
            <a:off x="877824" y="4754880"/>
            <a:ext cx="2907792" cy="0"/>
          </a:xfrm>
          <a:prstGeom prst="line">
            <a:avLst/>
          </a:prstGeom>
          <a:noFill/>
          <a:ln w="12700">
            <a:solidFill>
              <a:srgbClr val="DDE4EB"/>
            </a:solidFill>
            <a:prstDash val="solid"/>
          </a:ln>
        </p:spPr>
      </p:sp>
      <p:sp>
        <p:nvSpPr>
          <p:cNvPr id="11" name="Text 8"/>
          <p:cNvSpPr/>
          <p:nvPr/>
        </p:nvSpPr>
        <p:spPr>
          <a:xfrm>
            <a:off x="877824" y="4846320"/>
            <a:ext cx="2907792" cy="822960"/>
          </a:xfrm>
          <a:prstGeom prst="rect">
            <a:avLst/>
          </a:prstGeom>
          <a:noFill/>
          <a:ln/>
        </p:spPr>
        <p:txBody>
          <a:bodyPr wrap="square" lIns="0" tIns="0" rIns="0" bIns="0" rtlCol="0" anchor="ctr"/>
          <a:lstStyle/>
          <a:p>
            <a:pPr indent="0" marL="0">
              <a:lnSpc>
                <a:spcPts val="1400"/>
              </a:lnSpc>
              <a:buNone/>
            </a:pPr>
            <a:r>
              <a:rPr lang="en-US" sz="1150" i="1" dirty="0">
                <a:solidFill>
                  <a:srgbClr val="5C6B7A"/>
                </a:solidFill>
                <a:latin typeface="Calibri" pitchFamily="34" charset="0"/>
                <a:ea typeface="Calibri" pitchFamily="34" charset="-122"/>
                <a:cs typeface="Calibri" pitchFamily="34" charset="-120"/>
              </a:rPr>
              <a:t>Electrical problem — monitor, meds, sometimes shock/pace</a:t>
            </a:r>
            <a:endParaRPr lang="en-US" sz="1150" dirty="0"/>
          </a:p>
        </p:txBody>
      </p:sp>
      <p:sp>
        <p:nvSpPr>
          <p:cNvPr id="12" name="Shape 9"/>
          <p:cNvSpPr/>
          <p:nvPr/>
        </p:nvSpPr>
        <p:spPr>
          <a:xfrm>
            <a:off x="4352544" y="2011680"/>
            <a:ext cx="3529584" cy="3794760"/>
          </a:xfrm>
          <a:prstGeom prst="roundRect">
            <a:avLst>
              <a:gd name="adj" fmla="val 2073"/>
            </a:avLst>
          </a:prstGeom>
          <a:solidFill>
            <a:srgbClr val="FFFFFF"/>
          </a:solidFill>
          <a:ln w="12700">
            <a:solidFill>
              <a:srgbClr val="DDE4EB"/>
            </a:solidFill>
            <a:prstDash val="solid"/>
          </a:ln>
          <a:effectLst>
            <a:outerShdw sx="100000" sy="100000" kx="0" ky="0" algn="bl" rotWithShape="0" blurRad="88900" dist="38100" dir="5400000">
              <a:srgbClr val="1B2A38">
                <a:alpha val="12000"/>
              </a:srgbClr>
            </a:outerShdw>
          </a:effectLst>
        </p:spPr>
      </p:sp>
      <p:sp>
        <p:nvSpPr>
          <p:cNvPr id="13" name="Shape 10"/>
          <p:cNvSpPr/>
          <p:nvPr/>
        </p:nvSpPr>
        <p:spPr>
          <a:xfrm>
            <a:off x="4645152" y="2304288"/>
            <a:ext cx="841248" cy="841248"/>
          </a:xfrm>
          <a:prstGeom prst="ellipse">
            <a:avLst/>
          </a:prstGeom>
          <a:solidFill>
            <a:srgbClr val="2A9D8F"/>
          </a:solidFill>
          <a:ln/>
          <a:effectLst>
            <a:outerShdw sx="100000" sy="100000" kx="0" ky="0" algn="bl" rotWithShape="0" blurRad="88900" dist="38100" dir="5400000">
              <a:srgbClr val="1B2A38">
                <a:alpha val="12000"/>
              </a:srgbClr>
            </a:outerShdw>
          </a:effectLst>
        </p:spPr>
      </p:sp>
      <p:pic>
        <p:nvPicPr>
          <p:cNvPr id="14" name="Image 1" descr="/home/claude/deck/icons/pumpw.png">    </p:cNvPr>
          <p:cNvPicPr>
            <a:picLocks noChangeAspect="1"/>
          </p:cNvPicPr>
          <p:nvPr/>
        </p:nvPicPr>
        <p:blipFill>
          <a:blip r:embed="rId2"/>
          <a:stretch>
            <a:fillRect/>
          </a:stretch>
        </p:blipFill>
        <p:spPr>
          <a:xfrm>
            <a:off x="4863876" y="2523012"/>
            <a:ext cx="403799" cy="403799"/>
          </a:xfrm>
          <a:prstGeom prst="rect">
            <a:avLst/>
          </a:prstGeom>
        </p:spPr>
      </p:pic>
      <p:sp>
        <p:nvSpPr>
          <p:cNvPr id="15" name="Text 11"/>
          <p:cNvSpPr/>
          <p:nvPr/>
        </p:nvSpPr>
        <p:spPr>
          <a:xfrm>
            <a:off x="5586984" y="2304288"/>
            <a:ext cx="2066544" cy="841248"/>
          </a:xfrm>
          <a:prstGeom prst="rect">
            <a:avLst/>
          </a:prstGeom>
          <a:noFill/>
          <a:ln/>
        </p:spPr>
        <p:txBody>
          <a:bodyPr wrap="square" lIns="0" tIns="0" rIns="0" bIns="0" rtlCol="0" anchor="ctr"/>
          <a:lstStyle/>
          <a:p>
            <a:pPr indent="0" marL="0">
              <a:buNone/>
            </a:pPr>
            <a:r>
              <a:rPr lang="en-US" sz="1900" b="1" dirty="0">
                <a:solidFill>
                  <a:srgbClr val="0F2A43"/>
                </a:solidFill>
                <a:latin typeface="Century Schoolbook" pitchFamily="34" charset="0"/>
                <a:ea typeface="Century Schoolbook" pitchFamily="34" charset="-122"/>
                <a:cs typeface="Century Schoolbook" pitchFamily="34" charset="-120"/>
              </a:rPr>
              <a:t>Pump failure</a:t>
            </a:r>
            <a:endParaRPr lang="en-US" sz="1900" dirty="0"/>
          </a:p>
        </p:txBody>
      </p:sp>
      <p:sp>
        <p:nvSpPr>
          <p:cNvPr id="16" name="Text 12"/>
          <p:cNvSpPr/>
          <p:nvPr/>
        </p:nvSpPr>
        <p:spPr>
          <a:xfrm>
            <a:off x="4663440" y="3337560"/>
            <a:ext cx="2907792" cy="1737360"/>
          </a:xfrm>
          <a:prstGeom prst="rect">
            <a:avLst/>
          </a:prstGeom>
          <a:noFill/>
          <a:ln/>
        </p:spPr>
        <p:txBody>
          <a:bodyPr wrap="square" lIns="0" tIns="0" rIns="0" bIns="0" rtlCol="0" anchor="ctr"/>
          <a:lstStyle/>
          <a:p>
            <a:pPr marL="165100" indent="-165100">
              <a:lnSpc>
                <a:spcPts val="1600"/>
              </a:lnSpc>
              <a:spcAft>
                <a:spcPts val="600"/>
              </a:spcAft>
              <a:buSzPct val="100000"/>
              <a:buChar char="•"/>
            </a:pPr>
            <a:r>
              <a:rPr lang="en-US" sz="1300" dirty="0">
                <a:solidFill>
                  <a:srgbClr val="18242F"/>
                </a:solidFill>
                <a:latin typeface="Calibri" pitchFamily="34" charset="0"/>
                <a:ea typeface="Calibri" pitchFamily="34" charset="-122"/>
                <a:cs typeface="Calibri" pitchFamily="34" charset="-120"/>
              </a:rPr>
              <a:t>ACS — NSTEMI / STEMI (II-5)</a:t>
            </a:r>
            <a:endParaRPr lang="en-US" sz="1300" dirty="0"/>
          </a:p>
          <a:p>
            <a:pPr marL="165100" indent="-165100">
              <a:lnSpc>
                <a:spcPts val="1600"/>
              </a:lnSpc>
              <a:spcAft>
                <a:spcPts val="600"/>
              </a:spcAft>
              <a:buSzPct val="100000"/>
              <a:buChar char="•"/>
            </a:pPr>
            <a:r>
              <a:rPr lang="en-US" sz="1300" dirty="0">
                <a:solidFill>
                  <a:srgbClr val="18242F"/>
                </a:solidFill>
                <a:latin typeface="Calibri" pitchFamily="34" charset="0"/>
                <a:ea typeface="Calibri" pitchFamily="34" charset="-122"/>
                <a:cs typeface="Calibri" pitchFamily="34" charset="-120"/>
              </a:rPr>
              <a:t>Pulmonary edema / HF (II-6)</a:t>
            </a:r>
            <a:endParaRPr lang="en-US" sz="1300" dirty="0"/>
          </a:p>
          <a:p>
            <a:pPr marL="165100" indent="-165100">
              <a:lnSpc>
                <a:spcPts val="1600"/>
              </a:lnSpc>
              <a:spcAft>
                <a:spcPts val="600"/>
              </a:spcAft>
              <a:buSzPct val="100000"/>
              <a:buChar char="•"/>
            </a:pPr>
            <a:r>
              <a:rPr lang="en-US" sz="1300" dirty="0">
                <a:solidFill>
                  <a:srgbClr val="18242F"/>
                </a:solidFill>
                <a:latin typeface="Calibri" pitchFamily="34" charset="0"/>
                <a:ea typeface="Calibri" pitchFamily="34" charset="-122"/>
                <a:cs typeface="Calibri" pitchFamily="34" charset="-120"/>
              </a:rPr>
              <a:t>Cardiogenic shock (II-7)</a:t>
            </a:r>
            <a:endParaRPr lang="en-US" sz="1300" dirty="0"/>
          </a:p>
        </p:txBody>
      </p:sp>
      <p:sp>
        <p:nvSpPr>
          <p:cNvPr id="17" name="Shape 13"/>
          <p:cNvSpPr/>
          <p:nvPr/>
        </p:nvSpPr>
        <p:spPr>
          <a:xfrm>
            <a:off x="4663440" y="4754880"/>
            <a:ext cx="2907792" cy="0"/>
          </a:xfrm>
          <a:prstGeom prst="line">
            <a:avLst/>
          </a:prstGeom>
          <a:noFill/>
          <a:ln w="12700">
            <a:solidFill>
              <a:srgbClr val="DDE4EB"/>
            </a:solidFill>
            <a:prstDash val="solid"/>
          </a:ln>
        </p:spPr>
      </p:sp>
      <p:sp>
        <p:nvSpPr>
          <p:cNvPr id="18" name="Text 14"/>
          <p:cNvSpPr/>
          <p:nvPr/>
        </p:nvSpPr>
        <p:spPr>
          <a:xfrm>
            <a:off x="4663440" y="4846320"/>
            <a:ext cx="2907792" cy="822960"/>
          </a:xfrm>
          <a:prstGeom prst="rect">
            <a:avLst/>
          </a:prstGeom>
          <a:noFill/>
          <a:ln/>
        </p:spPr>
        <p:txBody>
          <a:bodyPr wrap="square" lIns="0" tIns="0" rIns="0" bIns="0" rtlCol="0" anchor="ctr"/>
          <a:lstStyle/>
          <a:p>
            <a:pPr indent="0" marL="0">
              <a:lnSpc>
                <a:spcPts val="1400"/>
              </a:lnSpc>
              <a:buNone/>
            </a:pPr>
            <a:r>
              <a:rPr lang="en-US" sz="1150" i="1" dirty="0">
                <a:solidFill>
                  <a:srgbClr val="5C6B7A"/>
                </a:solidFill>
                <a:latin typeface="Calibri" pitchFamily="34" charset="0"/>
                <a:ea typeface="Calibri" pitchFamily="34" charset="-122"/>
                <a:cs typeface="Calibri" pitchFamily="34" charset="-120"/>
              </a:rPr>
              <a:t>Mechanical problem — nitro / heparin / pressor drips</a:t>
            </a:r>
            <a:endParaRPr lang="en-US" sz="1150" dirty="0"/>
          </a:p>
        </p:txBody>
      </p:sp>
      <p:sp>
        <p:nvSpPr>
          <p:cNvPr id="19" name="Shape 15"/>
          <p:cNvSpPr/>
          <p:nvPr/>
        </p:nvSpPr>
        <p:spPr>
          <a:xfrm>
            <a:off x="8138160" y="2011680"/>
            <a:ext cx="3529584" cy="3794760"/>
          </a:xfrm>
          <a:prstGeom prst="roundRect">
            <a:avLst>
              <a:gd name="adj" fmla="val 2073"/>
            </a:avLst>
          </a:prstGeom>
          <a:solidFill>
            <a:srgbClr val="FFFFFF"/>
          </a:solidFill>
          <a:ln w="12700">
            <a:solidFill>
              <a:srgbClr val="DDE4EB"/>
            </a:solidFill>
            <a:prstDash val="solid"/>
          </a:ln>
          <a:effectLst>
            <a:outerShdw sx="100000" sy="100000" kx="0" ky="0" algn="bl" rotWithShape="0" blurRad="88900" dist="38100" dir="5400000">
              <a:srgbClr val="1B2A38">
                <a:alpha val="12000"/>
              </a:srgbClr>
            </a:outerShdw>
          </a:effectLst>
        </p:spPr>
      </p:sp>
      <p:sp>
        <p:nvSpPr>
          <p:cNvPr id="20" name="Shape 16"/>
          <p:cNvSpPr/>
          <p:nvPr/>
        </p:nvSpPr>
        <p:spPr>
          <a:xfrm>
            <a:off x="8430768" y="2304288"/>
            <a:ext cx="841248" cy="841248"/>
          </a:xfrm>
          <a:prstGeom prst="ellipse">
            <a:avLst/>
          </a:prstGeom>
          <a:solidFill>
            <a:srgbClr val="E0982E"/>
          </a:solidFill>
          <a:ln/>
          <a:effectLst>
            <a:outerShdw sx="100000" sy="100000" kx="0" ky="0" algn="bl" rotWithShape="0" blurRad="88900" dist="38100" dir="5400000">
              <a:srgbClr val="1B2A38">
                <a:alpha val="12000"/>
              </a:srgbClr>
            </a:outerShdw>
          </a:effectLst>
        </p:spPr>
      </p:sp>
      <p:pic>
        <p:nvPicPr>
          <p:cNvPr id="21" name="Image 2" descr="/home/claude/deck/icons/heartw.png">    </p:cNvPr>
          <p:cNvPicPr>
            <a:picLocks noChangeAspect="1"/>
          </p:cNvPicPr>
          <p:nvPr/>
        </p:nvPicPr>
        <p:blipFill>
          <a:blip r:embed="rId3"/>
          <a:stretch>
            <a:fillRect/>
          </a:stretch>
        </p:blipFill>
        <p:spPr>
          <a:xfrm>
            <a:off x="8649492" y="2523012"/>
            <a:ext cx="403799" cy="403799"/>
          </a:xfrm>
          <a:prstGeom prst="rect">
            <a:avLst/>
          </a:prstGeom>
        </p:spPr>
      </p:pic>
      <p:sp>
        <p:nvSpPr>
          <p:cNvPr id="22" name="Text 17"/>
          <p:cNvSpPr/>
          <p:nvPr/>
        </p:nvSpPr>
        <p:spPr>
          <a:xfrm>
            <a:off x="9372600" y="2304288"/>
            <a:ext cx="2066544" cy="841248"/>
          </a:xfrm>
          <a:prstGeom prst="rect">
            <a:avLst/>
          </a:prstGeom>
          <a:noFill/>
          <a:ln/>
        </p:spPr>
        <p:txBody>
          <a:bodyPr wrap="square" lIns="0" tIns="0" rIns="0" bIns="0" rtlCol="0" anchor="ctr"/>
          <a:lstStyle/>
          <a:p>
            <a:pPr indent="0" marL="0">
              <a:buNone/>
            </a:pPr>
            <a:r>
              <a:rPr lang="en-US" sz="1900" b="1" dirty="0">
                <a:solidFill>
                  <a:srgbClr val="0F2A43"/>
                </a:solidFill>
                <a:latin typeface="Century Schoolbook" pitchFamily="34" charset="0"/>
                <a:ea typeface="Century Schoolbook" pitchFamily="34" charset="-122"/>
                <a:cs typeface="Century Schoolbook" pitchFamily="34" charset="-120"/>
              </a:rPr>
              <a:t>Post-arrest</a:t>
            </a:r>
            <a:endParaRPr lang="en-US" sz="1900" dirty="0"/>
          </a:p>
        </p:txBody>
      </p:sp>
      <p:sp>
        <p:nvSpPr>
          <p:cNvPr id="23" name="Text 18"/>
          <p:cNvSpPr/>
          <p:nvPr/>
        </p:nvSpPr>
        <p:spPr>
          <a:xfrm>
            <a:off x="8449056" y="3337560"/>
            <a:ext cx="2907792" cy="1737360"/>
          </a:xfrm>
          <a:prstGeom prst="rect">
            <a:avLst/>
          </a:prstGeom>
          <a:noFill/>
          <a:ln/>
        </p:spPr>
        <p:txBody>
          <a:bodyPr wrap="square" lIns="0" tIns="0" rIns="0" bIns="0" rtlCol="0" anchor="ctr"/>
          <a:lstStyle/>
          <a:p>
            <a:pPr marL="165100" indent="-165100">
              <a:lnSpc>
                <a:spcPts val="1600"/>
              </a:lnSpc>
              <a:spcAft>
                <a:spcPts val="600"/>
              </a:spcAft>
              <a:buSzPct val="100000"/>
              <a:buChar char="•"/>
            </a:pPr>
            <a:r>
              <a:rPr lang="en-US" sz="1300" dirty="0">
                <a:solidFill>
                  <a:srgbClr val="18242F"/>
                </a:solidFill>
                <a:latin typeface="Calibri" pitchFamily="34" charset="0"/>
                <a:ea typeface="Calibri" pitchFamily="34" charset="-122"/>
                <a:cs typeface="Calibri" pitchFamily="34" charset="-120"/>
              </a:rPr>
              <a:t>Post-cardiac arrest syndrome (II-8)</a:t>
            </a:r>
            <a:endParaRPr lang="en-US" sz="1300" dirty="0"/>
          </a:p>
        </p:txBody>
      </p:sp>
      <p:sp>
        <p:nvSpPr>
          <p:cNvPr id="24" name="Shape 19"/>
          <p:cNvSpPr/>
          <p:nvPr/>
        </p:nvSpPr>
        <p:spPr>
          <a:xfrm>
            <a:off x="8449056" y="4754880"/>
            <a:ext cx="2907792" cy="0"/>
          </a:xfrm>
          <a:prstGeom prst="line">
            <a:avLst/>
          </a:prstGeom>
          <a:noFill/>
          <a:ln w="12700">
            <a:solidFill>
              <a:srgbClr val="DDE4EB"/>
            </a:solidFill>
            <a:prstDash val="solid"/>
          </a:ln>
        </p:spPr>
      </p:sp>
      <p:sp>
        <p:nvSpPr>
          <p:cNvPr id="25" name="Text 20"/>
          <p:cNvSpPr/>
          <p:nvPr/>
        </p:nvSpPr>
        <p:spPr>
          <a:xfrm>
            <a:off x="8449056" y="4846320"/>
            <a:ext cx="2907792" cy="822960"/>
          </a:xfrm>
          <a:prstGeom prst="rect">
            <a:avLst/>
          </a:prstGeom>
          <a:noFill/>
          <a:ln/>
        </p:spPr>
        <p:txBody>
          <a:bodyPr wrap="square" lIns="0" tIns="0" rIns="0" bIns="0" rtlCol="0" anchor="ctr"/>
          <a:lstStyle/>
          <a:p>
            <a:pPr indent="0" marL="0">
              <a:lnSpc>
                <a:spcPts val="1400"/>
              </a:lnSpc>
              <a:buNone/>
            </a:pPr>
            <a:r>
              <a:rPr lang="en-US" sz="1150" i="1" dirty="0">
                <a:solidFill>
                  <a:srgbClr val="5C6B7A"/>
                </a:solidFill>
                <a:latin typeface="Calibri" pitchFamily="34" charset="0"/>
                <a:ea typeface="Calibri" pitchFamily="34" charset="-122"/>
                <a:cs typeface="Calibri" pitchFamily="34" charset="-120"/>
              </a:rPr>
              <a:t>The whole bundle — vent + sedation + pressor, high re-arrest risk</a:t>
            </a:r>
            <a:endParaRPr lang="en-US" sz="1150" dirty="0"/>
          </a:p>
        </p:txBody>
      </p:sp>
      <p:sp>
        <p:nvSpPr>
          <p:cNvPr id="27" name="Text 21"/>
          <p:cNvSpPr/>
          <p:nvPr/>
        </p:nvSpPr>
        <p:spPr>
          <a:xfrm>
            <a:off x="566928" y="6455664"/>
            <a:ext cx="8229600" cy="274320"/>
          </a:xfrm>
          <a:prstGeom prst="rect">
            <a:avLst/>
          </a:prstGeom>
          <a:noFill/>
          <a:ln/>
        </p:spPr>
        <p:txBody>
          <a:bodyPr wrap="square" lIns="0" tIns="0" rIns="0" bIns="0"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AMR CES Academy  ·  Session 1  ·  Cardiac &amp; Neuro Deep Dive</a:t>
            </a:r>
            <a:endParaRPr lang="en-US" sz="900" dirty="0"/>
          </a:p>
        </p:txBody>
      </p:sp>
      <p:sp>
        <p:nvSpPr>
          <p:cNvPr id="28" name="Text 22"/>
          <p:cNvSpPr/>
          <p:nvPr/>
        </p:nvSpPr>
        <p:spPr>
          <a:xfrm>
            <a:off x="11076127" y="6455664"/>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566928" y="402336"/>
            <a:ext cx="109728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CARDIAC  ·  RATE &amp; RHYTHM</a:t>
            </a:r>
            <a:endParaRPr lang="en-US" sz="1200" dirty="0"/>
          </a:p>
        </p:txBody>
      </p:sp>
      <p:sp>
        <p:nvSpPr>
          <p:cNvPr id="3" name="Text 1"/>
          <p:cNvSpPr/>
          <p:nvPr/>
        </p:nvSpPr>
        <p:spPr>
          <a:xfrm>
            <a:off x="566928" y="676656"/>
            <a:ext cx="11064240" cy="658368"/>
          </a:xfrm>
          <a:prstGeom prst="rect">
            <a:avLst/>
          </a:prstGeom>
          <a:noFill/>
          <a:ln/>
        </p:spPr>
        <p:txBody>
          <a:bodyPr wrap="square" lIns="0" tIns="0" rIns="0" bIns="0" rtlCol="0" anchor="ctr"/>
          <a:lstStyle/>
          <a:p>
            <a:pPr indent="0" marL="0">
              <a:buNone/>
            </a:pPr>
            <a:r>
              <a:rPr lang="en-US" sz="2900" b="1" dirty="0">
                <a:solidFill>
                  <a:srgbClr val="0F2A43"/>
                </a:solidFill>
                <a:latin typeface="Century Schoolbook" pitchFamily="34" charset="0"/>
                <a:ea typeface="Century Schoolbook" pitchFamily="34" charset="-122"/>
                <a:cs typeface="Century Schoolbook" pitchFamily="34" charset="-120"/>
              </a:rPr>
              <a:t>The dysrhythmias: brady, SVT, A-fib, wide-complex</a:t>
            </a:r>
            <a:endParaRPr lang="en-US" sz="2900" dirty="0"/>
          </a:p>
        </p:txBody>
      </p:sp>
      <p:sp>
        <p:nvSpPr>
          <p:cNvPr id="4" name="Text 2"/>
          <p:cNvSpPr/>
          <p:nvPr/>
        </p:nvSpPr>
        <p:spPr>
          <a:xfrm>
            <a:off x="566928" y="1417320"/>
            <a:ext cx="11064240" cy="365760"/>
          </a:xfrm>
          <a:prstGeom prst="rect">
            <a:avLst/>
          </a:prstGeom>
          <a:noFill/>
          <a:ln/>
        </p:spPr>
        <p:txBody>
          <a:bodyPr wrap="square" lIns="0" tIns="0" rIns="0" bIns="0" rtlCol="0" anchor="ctr"/>
          <a:lstStyle/>
          <a:p>
            <a:pPr indent="0" marL="0">
              <a:buNone/>
            </a:pPr>
            <a:r>
              <a:rPr lang="en-US" sz="1350" i="1" dirty="0">
                <a:solidFill>
                  <a:srgbClr val="5C6B7A"/>
                </a:solidFill>
                <a:latin typeface="Calibri" pitchFamily="34" charset="0"/>
                <a:ea typeface="Calibri" pitchFamily="34" charset="-122"/>
                <a:cs typeface="Calibri" pitchFamily="34" charset="-120"/>
              </a:rPr>
              <a:t>An electrical problem. The discriminator is always the same: a titrating antiarrhythmic/rate-control drip, or a need to cardiovert/pace, forces a Paramedic.</a:t>
            </a:r>
            <a:endParaRPr lang="en-US" sz="13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920240"/>
          <a:ext cx="11064240" cy="914400"/>
        </p:xfrm>
        <a:graphic>
          <a:graphicData uri="http://schemas.openxmlformats.org/drawingml/2006/table">
            <a:tbl>
              <a:tblPr/>
              <a:tblGrid>
                <a:gridCol w="2468880"/>
                <a:gridCol w="3017520"/>
                <a:gridCol w="3246120"/>
                <a:gridCol w="2331720"/>
              </a:tblGrid>
              <a:tr h="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Condition</a:t>
                      </a:r>
                      <a:endParaRPr lang="en-US" sz="12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0F2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What's running</a:t>
                      </a:r>
                      <a:endParaRPr lang="en-US" sz="12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0F2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Scope line</a:t>
                      </a:r>
                      <a:endParaRPr lang="en-US" sz="12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0F2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Watch for</a:t>
                      </a:r>
                      <a:endParaRPr lang="en-US" sz="12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0F2A43"/>
                    </a:solidFill>
                  </a:tcPr>
                </a:tc>
              </a:tr>
              <a:tr h="0">
                <a:tc>
                  <a:txBody>
                    <a:bodyPr/>
                    <a:lstStyle/>
                    <a:p>
                      <a:pPr indent="0" marL="0">
                        <a:buNone/>
                      </a:pPr>
                      <a:r>
                        <a:rPr lang="en-US" sz="1250" b="1" dirty="0">
                          <a:solidFill>
                            <a:srgbClr val="0F2A43"/>
                          </a:solidFill>
                          <a:latin typeface="Calibri" pitchFamily="34" charset="0"/>
                          <a:ea typeface="Calibri" pitchFamily="34" charset="-122"/>
                          <a:cs typeface="Calibri" pitchFamily="34" charset="-120"/>
                        </a:rPr>
                        <a:t>Bradycardia</a:t>
                      </a:r>
                      <a:endParaRPr lang="en-US" sz="1200" dirty="0">
                        <a:latin typeface="Calibri" charset="0"/>
                        <a:ea typeface="Calibri" charset="0"/>
                        <a:cs typeface="Calibri" charset="0"/>
                      </a:endParaRPr>
                    </a:p>
                    <a:p>
                      <a:pPr indent="0" marL="0">
                        <a:buNone/>
                      </a:pPr>
                      <a:r>
                        <a:rPr lang="en-US" sz="1000" dirty="0">
                          <a:solidFill>
                            <a:srgbClr val="5C6B7A"/>
                          </a:solidFill>
                          <a:latin typeface="Calibri" pitchFamily="34" charset="0"/>
                          <a:ea typeface="Calibri" pitchFamily="34" charset="-122"/>
                          <a:cs typeface="Calibri" pitchFamily="34" charset="-120"/>
                        </a:rPr>
                        <a:t>II-1  ·  </a:t>
                      </a:r>
                      <a:pPr indent="0" marL="0">
                        <a:buNone/>
                      </a:pPr>
                      <a:r>
                        <a:rPr lang="en-US" sz="1000" b="1" dirty="0">
                          <a:solidFill>
                            <a:srgbClr val="E0982E"/>
                          </a:solidFill>
                          <a:latin typeface="Calibri" pitchFamily="34" charset="0"/>
                          <a:ea typeface="Calibri" pitchFamily="34" charset="-122"/>
                          <a:cs typeface="Calibri" pitchFamily="34" charset="-120"/>
                        </a:rPr>
                        <a:t>PM</a:t>
                      </a:r>
                      <a:endParaRPr lang="en-US" sz="120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FFFFFF"/>
                    </a:solidFill>
                  </a:tcPr>
                </a:tc>
                <a:tc>
                  <a:txBody>
                    <a:bodyPr/>
                    <a:lstStyle/>
                    <a:p>
                      <a:pPr indent="0" marL="0">
                        <a:buNone/>
                      </a:pPr>
                      <a:r>
                        <a:rPr lang="en-US" sz="1150" dirty="0">
                          <a:solidFill>
                            <a:srgbClr val="18242F"/>
                          </a:solidFill>
                          <a:latin typeface="Calibri" pitchFamily="34" charset="0"/>
                          <a:ea typeface="Calibri" pitchFamily="34" charset="-122"/>
                          <a:cs typeface="Calibri" pitchFamily="34" charset="-120"/>
                        </a:rPr>
                        <a:t>Transcutaneous pacing, norepinephrine, continuous ECG</a:t>
                      </a:r>
                      <a:endParaRPr lang="en-US" sz="11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FFFFFF"/>
                    </a:solidFill>
                  </a:tcPr>
                </a:tc>
                <a:tc>
                  <a:txBody>
                    <a:bodyPr/>
                    <a:lstStyle/>
                    <a:p>
                      <a:pPr indent="0" marL="0">
                        <a:buNone/>
                      </a:pPr>
                      <a:r>
                        <a:rPr lang="en-US" sz="1150" dirty="0">
                          <a:solidFill>
                            <a:srgbClr val="18242F"/>
                          </a:solidFill>
                          <a:latin typeface="Calibri" pitchFamily="34" charset="0"/>
                          <a:ea typeface="Calibri" pitchFamily="34" charset="-122"/>
                          <a:cs typeface="Calibri" pitchFamily="34" charset="-120"/>
                        </a:rPr>
                        <a:t>Pacing, atropine, pressor titration = PM. AEMT/EMT: monitor, IV, report.</a:t>
                      </a:r>
                      <a:endParaRPr lang="en-US" sz="11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FFFFFF"/>
                    </a:solidFill>
                  </a:tcPr>
                </a:tc>
                <a:tc>
                  <a:txBody>
                    <a:bodyPr/>
                    <a:lstStyle/>
                    <a:p>
                      <a:pPr indent="0" marL="0">
                        <a:buNone/>
                      </a:pPr>
                      <a:r>
                        <a:rPr lang="en-US" sz="1150" dirty="0">
                          <a:solidFill>
                            <a:srgbClr val="18242F"/>
                          </a:solidFill>
                          <a:latin typeface="Calibri" pitchFamily="34" charset="0"/>
                          <a:ea typeface="Calibri" pitchFamily="34" charset="-122"/>
                          <a:cs typeface="Calibri" pitchFamily="34" charset="-120"/>
                        </a:rPr>
                        <a:t>Loss of capture, high-grade AV block, cardiogenic shock</a:t>
                      </a:r>
                      <a:endParaRPr lang="en-US" sz="11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0F2A43"/>
                          </a:solidFill>
                          <a:latin typeface="Calibri" pitchFamily="34" charset="0"/>
                          <a:ea typeface="Calibri" pitchFamily="34" charset="-122"/>
                          <a:cs typeface="Calibri" pitchFamily="34" charset="-120"/>
                        </a:rPr>
                        <a:t>SVT</a:t>
                      </a:r>
                      <a:endParaRPr lang="en-US" sz="1200" dirty="0">
                        <a:latin typeface="Calibri" charset="0"/>
                        <a:ea typeface="Calibri" charset="0"/>
                        <a:cs typeface="Calibri" charset="0"/>
                      </a:endParaRPr>
                    </a:p>
                    <a:p>
                      <a:pPr indent="0" marL="0">
                        <a:buNone/>
                      </a:pPr>
                      <a:r>
                        <a:rPr lang="en-US" sz="1000" dirty="0">
                          <a:solidFill>
                            <a:srgbClr val="5C6B7A"/>
                          </a:solidFill>
                          <a:latin typeface="Calibri" pitchFamily="34" charset="0"/>
                          <a:ea typeface="Calibri" pitchFamily="34" charset="-122"/>
                          <a:cs typeface="Calibri" pitchFamily="34" charset="-120"/>
                        </a:rPr>
                        <a:t>II-2  ·  </a:t>
                      </a:r>
                      <a:pPr indent="0" marL="0">
                        <a:buNone/>
                      </a:pPr>
                      <a:r>
                        <a:rPr lang="en-US" sz="1000" b="1" dirty="0">
                          <a:solidFill>
                            <a:srgbClr val="1C7293"/>
                          </a:solidFill>
                          <a:latin typeface="Calibri" pitchFamily="34" charset="0"/>
                          <a:ea typeface="Calibri" pitchFamily="34" charset="-122"/>
                          <a:cs typeface="Calibri" pitchFamily="34" charset="-120"/>
                        </a:rPr>
                        <a:t>AEMT-capable*</a:t>
                      </a:r>
                      <a:endParaRPr lang="en-US" sz="120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EEF3F7"/>
                    </a:solidFill>
                  </a:tcPr>
                </a:tc>
                <a:tc>
                  <a:txBody>
                    <a:bodyPr/>
                    <a:lstStyle/>
                    <a:p>
                      <a:pPr indent="0" marL="0">
                        <a:buNone/>
                      </a:pPr>
                      <a:r>
                        <a:rPr lang="en-US" sz="1150" dirty="0">
                          <a:solidFill>
                            <a:srgbClr val="18242F"/>
                          </a:solidFill>
                          <a:latin typeface="Calibri" pitchFamily="34" charset="0"/>
                          <a:ea typeface="Calibri" pitchFamily="34" charset="-122"/>
                          <a:cs typeface="Calibri" pitchFamily="34" charset="-120"/>
                        </a:rPr>
                        <a:t>Cardiac monitor, IV; antiarrhythmic infusion only if started</a:t>
                      </a:r>
                      <a:endParaRPr lang="en-US" sz="11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EEF3F7"/>
                    </a:solidFill>
                  </a:tcPr>
                </a:tc>
                <a:tc>
                  <a:txBody>
                    <a:bodyPr/>
                    <a:lstStyle/>
                    <a:p>
                      <a:pPr indent="0" marL="0">
                        <a:buNone/>
                      </a:pPr>
                      <a:r>
                        <a:rPr lang="en-US" sz="1150" dirty="0">
                          <a:solidFill>
                            <a:srgbClr val="18242F"/>
                          </a:solidFill>
                          <a:latin typeface="Calibri" pitchFamily="34" charset="0"/>
                          <a:ea typeface="Calibri" pitchFamily="34" charset="-122"/>
                          <a:cs typeface="Calibri" pitchFamily="34" charset="-120"/>
                        </a:rPr>
                        <a:t>AEMT may take stable/converted patients. Adenosine + cardioversion = PM.</a:t>
                      </a:r>
                      <a:endParaRPr lang="en-US" sz="11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EEF3F7"/>
                    </a:solidFill>
                  </a:tcPr>
                </a:tc>
                <a:tc>
                  <a:txBody>
                    <a:bodyPr/>
                    <a:lstStyle/>
                    <a:p>
                      <a:pPr indent="0" marL="0">
                        <a:buNone/>
                      </a:pPr>
                      <a:r>
                        <a:rPr lang="en-US" sz="1150" dirty="0">
                          <a:solidFill>
                            <a:srgbClr val="18242F"/>
                          </a:solidFill>
                          <a:latin typeface="Calibri" pitchFamily="34" charset="0"/>
                          <a:ea typeface="Calibri" pitchFamily="34" charset="-122"/>
                          <a:cs typeface="Calibri" pitchFamily="34" charset="-120"/>
                        </a:rPr>
                        <a:t>Recurrence, degeneration to A-fib, instability</a:t>
                      </a:r>
                      <a:endParaRPr lang="en-US" sz="11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EEF3F7"/>
                    </a:solidFill>
                  </a:tcPr>
                </a:tc>
              </a:tr>
              <a:tr h="0">
                <a:tc>
                  <a:txBody>
                    <a:bodyPr/>
                    <a:lstStyle/>
                    <a:p>
                      <a:pPr indent="0" marL="0">
                        <a:buNone/>
                      </a:pPr>
                      <a:r>
                        <a:rPr lang="en-US" sz="1250" b="1" dirty="0">
                          <a:solidFill>
                            <a:srgbClr val="0F2A43"/>
                          </a:solidFill>
                          <a:latin typeface="Calibri" pitchFamily="34" charset="0"/>
                          <a:ea typeface="Calibri" pitchFamily="34" charset="-122"/>
                          <a:cs typeface="Calibri" pitchFamily="34" charset="-120"/>
                        </a:rPr>
                        <a:t>A-fib with RVR</a:t>
                      </a:r>
                      <a:endParaRPr lang="en-US" sz="1200" dirty="0">
                        <a:latin typeface="Calibri" charset="0"/>
                        <a:ea typeface="Calibri" charset="0"/>
                        <a:cs typeface="Calibri" charset="0"/>
                      </a:endParaRPr>
                    </a:p>
                    <a:p>
                      <a:pPr indent="0" marL="0">
                        <a:buNone/>
                      </a:pPr>
                      <a:r>
                        <a:rPr lang="en-US" sz="1000" dirty="0">
                          <a:solidFill>
                            <a:srgbClr val="5C6B7A"/>
                          </a:solidFill>
                          <a:latin typeface="Calibri" pitchFamily="34" charset="0"/>
                          <a:ea typeface="Calibri" pitchFamily="34" charset="-122"/>
                          <a:cs typeface="Calibri" pitchFamily="34" charset="-120"/>
                        </a:rPr>
                        <a:t>II-3  ·  </a:t>
                      </a:r>
                      <a:pPr indent="0" marL="0">
                        <a:buNone/>
                      </a:pPr>
                      <a:r>
                        <a:rPr lang="en-US" sz="1000" b="1" dirty="0">
                          <a:solidFill>
                            <a:srgbClr val="E0982E"/>
                          </a:solidFill>
                          <a:latin typeface="Calibri" pitchFamily="34" charset="0"/>
                          <a:ea typeface="Calibri" pitchFamily="34" charset="-122"/>
                          <a:cs typeface="Calibri" pitchFamily="34" charset="-120"/>
                        </a:rPr>
                        <a:t>PM</a:t>
                      </a:r>
                      <a:endParaRPr lang="en-US" sz="120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FFFFFF"/>
                    </a:solidFill>
                  </a:tcPr>
                </a:tc>
                <a:tc>
                  <a:txBody>
                    <a:bodyPr/>
                    <a:lstStyle/>
                    <a:p>
                      <a:pPr indent="0" marL="0">
                        <a:buNone/>
                      </a:pPr>
                      <a:r>
                        <a:rPr lang="en-US" sz="1150" dirty="0">
                          <a:solidFill>
                            <a:srgbClr val="18242F"/>
                          </a:solidFill>
                          <a:latin typeface="Calibri" pitchFamily="34" charset="0"/>
                          <a:ea typeface="Calibri" pitchFamily="34" charset="-122"/>
                          <a:cs typeface="Calibri" pitchFamily="34" charset="-120"/>
                        </a:rPr>
                        <a:t>Diltiazem / beta-blocker rate-control drip, heparin</a:t>
                      </a:r>
                      <a:endParaRPr lang="en-US" sz="11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FFFFFF"/>
                    </a:solidFill>
                  </a:tcPr>
                </a:tc>
                <a:tc>
                  <a:txBody>
                    <a:bodyPr/>
                    <a:lstStyle/>
                    <a:p>
                      <a:pPr indent="0" marL="0">
                        <a:buNone/>
                      </a:pPr>
                      <a:r>
                        <a:rPr lang="en-US" sz="1150" dirty="0">
                          <a:solidFill>
                            <a:srgbClr val="18242F"/>
                          </a:solidFill>
                          <a:latin typeface="Calibri" pitchFamily="34" charset="0"/>
                          <a:ea typeface="Calibri" pitchFamily="34" charset="-122"/>
                          <a:cs typeface="Calibri" pitchFamily="34" charset="-120"/>
                        </a:rPr>
                        <a:t>Titratable rate-control drip = PM. No new agents if hypotensive.</a:t>
                      </a:r>
                      <a:endParaRPr lang="en-US" sz="11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FFFFFF"/>
                    </a:solidFill>
                  </a:tcPr>
                </a:tc>
                <a:tc>
                  <a:txBody>
                    <a:bodyPr/>
                    <a:lstStyle/>
                    <a:p>
                      <a:pPr indent="0" marL="0">
                        <a:buNone/>
                      </a:pPr>
                      <a:r>
                        <a:rPr lang="en-US" sz="1150" dirty="0">
                          <a:solidFill>
                            <a:srgbClr val="18242F"/>
                          </a:solidFill>
                          <a:latin typeface="Calibri" pitchFamily="34" charset="0"/>
                          <a:ea typeface="Calibri" pitchFamily="34" charset="-122"/>
                          <a:cs typeface="Calibri" pitchFamily="34" charset="-120"/>
                        </a:rPr>
                        <a:t>Hypotension from rate control, recurrent RVR, ischemia</a:t>
                      </a:r>
                      <a:endParaRPr lang="en-US" sz="11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0F2A43"/>
                          </a:solidFill>
                          <a:latin typeface="Calibri" pitchFamily="34" charset="0"/>
                          <a:ea typeface="Calibri" pitchFamily="34" charset="-122"/>
                          <a:cs typeface="Calibri" pitchFamily="34" charset="-120"/>
                        </a:rPr>
                        <a:t>Wide-complex tachycardia</a:t>
                      </a:r>
                      <a:endParaRPr lang="en-US" sz="1200" dirty="0">
                        <a:latin typeface="Calibri" charset="0"/>
                        <a:ea typeface="Calibri" charset="0"/>
                        <a:cs typeface="Calibri" charset="0"/>
                      </a:endParaRPr>
                    </a:p>
                    <a:p>
                      <a:pPr indent="0" marL="0">
                        <a:buNone/>
                      </a:pPr>
                      <a:r>
                        <a:rPr lang="en-US" sz="1000" dirty="0">
                          <a:solidFill>
                            <a:srgbClr val="5C6B7A"/>
                          </a:solidFill>
                          <a:latin typeface="Calibri" pitchFamily="34" charset="0"/>
                          <a:ea typeface="Calibri" pitchFamily="34" charset="-122"/>
                          <a:cs typeface="Calibri" pitchFamily="34" charset="-120"/>
                        </a:rPr>
                        <a:t>II-4  ·  </a:t>
                      </a:r>
                      <a:pPr indent="0" marL="0">
                        <a:buNone/>
                      </a:pPr>
                      <a:r>
                        <a:rPr lang="en-US" sz="1000" b="1" dirty="0">
                          <a:solidFill>
                            <a:srgbClr val="E0982E"/>
                          </a:solidFill>
                          <a:latin typeface="Calibri" pitchFamily="34" charset="0"/>
                          <a:ea typeface="Calibri" pitchFamily="34" charset="-122"/>
                          <a:cs typeface="Calibri" pitchFamily="34" charset="-120"/>
                        </a:rPr>
                        <a:t>PM</a:t>
                      </a:r>
                      <a:endParaRPr lang="en-US" sz="120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EEF3F7"/>
                    </a:solidFill>
                  </a:tcPr>
                </a:tc>
                <a:tc>
                  <a:txBody>
                    <a:bodyPr/>
                    <a:lstStyle/>
                    <a:p>
                      <a:pPr indent="0" marL="0">
                        <a:buNone/>
                      </a:pPr>
                      <a:r>
                        <a:rPr lang="en-US" sz="1150" dirty="0">
                          <a:solidFill>
                            <a:srgbClr val="18242F"/>
                          </a:solidFill>
                          <a:latin typeface="Calibri" pitchFamily="34" charset="0"/>
                          <a:ea typeface="Calibri" pitchFamily="34" charset="-122"/>
                          <a:cs typeface="Calibri" pitchFamily="34" charset="-120"/>
                        </a:rPr>
                        <a:t>Amiodarone or lidocaine infusion, continuous ECG</a:t>
                      </a:r>
                      <a:endParaRPr lang="en-US" sz="11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EEF3F7"/>
                    </a:solidFill>
                  </a:tcPr>
                </a:tc>
                <a:tc>
                  <a:txBody>
                    <a:bodyPr/>
                    <a:lstStyle/>
                    <a:p>
                      <a:pPr indent="0" marL="0">
                        <a:buNone/>
                      </a:pPr>
                      <a:r>
                        <a:rPr lang="en-US" sz="1150" dirty="0">
                          <a:solidFill>
                            <a:srgbClr val="18242F"/>
                          </a:solidFill>
                          <a:latin typeface="Calibri" pitchFamily="34" charset="0"/>
                          <a:ea typeface="Calibri" pitchFamily="34" charset="-122"/>
                          <a:cs typeface="Calibri" pitchFamily="34" charset="-120"/>
                        </a:rPr>
                        <a:t>Presume VT. Antiarrhythmic drip + cardioversion = PM.</a:t>
                      </a:r>
                      <a:endParaRPr lang="en-US" sz="11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EEF3F7"/>
                    </a:solidFill>
                  </a:tcPr>
                </a:tc>
                <a:tc>
                  <a:txBody>
                    <a:bodyPr/>
                    <a:lstStyle/>
                    <a:p>
                      <a:pPr indent="0" marL="0">
                        <a:buNone/>
                      </a:pPr>
                      <a:r>
                        <a:rPr lang="en-US" sz="1150" dirty="0">
                          <a:solidFill>
                            <a:srgbClr val="18242F"/>
                          </a:solidFill>
                          <a:latin typeface="Calibri" pitchFamily="34" charset="0"/>
                          <a:ea typeface="Calibri" pitchFamily="34" charset="-122"/>
                          <a:cs typeface="Calibri" pitchFamily="34" charset="-120"/>
                        </a:rPr>
                        <a:t>Pulseless VT / VF, cardiogenic shock</a:t>
                      </a:r>
                      <a:endParaRPr lang="en-US" sz="11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EEF3F7"/>
                    </a:solidFill>
                  </a:tcPr>
                </a:tc>
              </a:tr>
            </a:tbl>
          </a:graphicData>
        </a:graphic>
      </p:graphicFrame>
      <p:sp>
        <p:nvSpPr>
          <p:cNvPr id="6" name="Text 3"/>
          <p:cNvSpPr/>
          <p:nvPr/>
        </p:nvSpPr>
        <p:spPr>
          <a:xfrm>
            <a:off x="566928" y="5989320"/>
            <a:ext cx="11064240" cy="274320"/>
          </a:xfrm>
          <a:prstGeom prst="rect">
            <a:avLst/>
          </a:prstGeom>
          <a:noFill/>
          <a:ln/>
        </p:spPr>
        <p:txBody>
          <a:bodyPr wrap="square" lIns="0" tIns="0" rIns="0" bIns="0" rtlCol="0" anchor="ctr"/>
          <a:lstStyle/>
          <a:p>
            <a:pPr indent="0" marL="0">
              <a:buNone/>
            </a:pPr>
            <a:r>
              <a:rPr lang="en-US" sz="1050" i="1" dirty="0">
                <a:solidFill>
                  <a:srgbClr val="5C6B7A"/>
                </a:solidFill>
                <a:latin typeface="Calibri" pitchFamily="34" charset="0"/>
                <a:ea typeface="Calibri" pitchFamily="34" charset="-122"/>
                <a:cs typeface="Calibri" pitchFamily="34" charset="-120"/>
              </a:rPr>
              <a:t>* SVT is AEMT-capable only when stable and converted with nothing titrating. Any active drip or instability = Paramedic.</a:t>
            </a:r>
            <a:endParaRPr lang="en-US" sz="1050" dirty="0"/>
          </a:p>
        </p:txBody>
      </p:sp>
      <p:sp>
        <p:nvSpPr>
          <p:cNvPr id="8" name="Text 4"/>
          <p:cNvSpPr/>
          <p:nvPr/>
        </p:nvSpPr>
        <p:spPr>
          <a:xfrm>
            <a:off x="566928" y="6455664"/>
            <a:ext cx="8229600" cy="274320"/>
          </a:xfrm>
          <a:prstGeom prst="rect">
            <a:avLst/>
          </a:prstGeom>
          <a:noFill/>
          <a:ln/>
        </p:spPr>
        <p:txBody>
          <a:bodyPr wrap="square" lIns="0" tIns="0" rIns="0" bIns="0"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AMR CES Academy  ·  Session 1  ·  Cardiac &amp; Neuro Deep Dive</a:t>
            </a:r>
            <a:endParaRPr lang="en-US" sz="900" dirty="0"/>
          </a:p>
        </p:txBody>
      </p:sp>
      <p:sp>
        <p:nvSpPr>
          <p:cNvPr id="9" name="Text 5"/>
          <p:cNvSpPr/>
          <p:nvPr/>
        </p:nvSpPr>
        <p:spPr>
          <a:xfrm>
            <a:off x="11076127" y="6455664"/>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566928" y="402336"/>
            <a:ext cx="109728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CARDIAC  ·  PUMP FAILURE</a:t>
            </a:r>
            <a:endParaRPr lang="en-US" sz="1200" dirty="0"/>
          </a:p>
        </p:txBody>
      </p:sp>
      <p:sp>
        <p:nvSpPr>
          <p:cNvPr id="3" name="Text 1"/>
          <p:cNvSpPr/>
          <p:nvPr/>
        </p:nvSpPr>
        <p:spPr>
          <a:xfrm>
            <a:off x="566928" y="676656"/>
            <a:ext cx="11064240" cy="658368"/>
          </a:xfrm>
          <a:prstGeom prst="rect">
            <a:avLst/>
          </a:prstGeom>
          <a:noFill/>
          <a:ln/>
        </p:spPr>
        <p:txBody>
          <a:bodyPr wrap="square" lIns="0" tIns="0" rIns="0" bIns="0" rtlCol="0" anchor="ctr"/>
          <a:lstStyle/>
          <a:p>
            <a:pPr indent="0" marL="0">
              <a:buNone/>
            </a:pPr>
            <a:r>
              <a:rPr lang="en-US" sz="2900" b="1" dirty="0">
                <a:solidFill>
                  <a:srgbClr val="0F2A43"/>
                </a:solidFill>
                <a:latin typeface="Century Schoolbook" pitchFamily="34" charset="0"/>
                <a:ea typeface="Century Schoolbook" pitchFamily="34" charset="-122"/>
                <a:cs typeface="Century Schoolbook" pitchFamily="34" charset="-120"/>
              </a:rPr>
              <a:t>ACS/STEMI, pulmonary edema &amp; cardiogenic shock</a:t>
            </a:r>
            <a:endParaRPr lang="en-US" sz="2900" dirty="0"/>
          </a:p>
        </p:txBody>
      </p:sp>
      <p:sp>
        <p:nvSpPr>
          <p:cNvPr id="4" name="Text 2"/>
          <p:cNvSpPr/>
          <p:nvPr/>
        </p:nvSpPr>
        <p:spPr>
          <a:xfrm>
            <a:off x="566928" y="1417320"/>
            <a:ext cx="11064240" cy="365760"/>
          </a:xfrm>
          <a:prstGeom prst="rect">
            <a:avLst/>
          </a:prstGeom>
          <a:noFill/>
          <a:ln/>
        </p:spPr>
        <p:txBody>
          <a:bodyPr wrap="square" lIns="0" tIns="0" rIns="0" bIns="0" rtlCol="0" anchor="ctr"/>
          <a:lstStyle/>
          <a:p>
            <a:pPr indent="0" marL="0">
              <a:buNone/>
            </a:pPr>
            <a:r>
              <a:rPr lang="en-US" sz="1350" i="1" dirty="0">
                <a:solidFill>
                  <a:srgbClr val="5C6B7A"/>
                </a:solidFill>
                <a:latin typeface="Calibri" pitchFamily="34" charset="0"/>
                <a:ea typeface="Calibri" pitchFamily="34" charset="-122"/>
                <a:cs typeface="Calibri" pitchFamily="34" charset="-120"/>
              </a:rPr>
              <a:t>A mechanical problem. These calls almost always carry a titratable drip (nitro, heparin, pressor) — which is what sets the crew.</a:t>
            </a:r>
            <a:endParaRPr lang="en-US" sz="13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920240"/>
          <a:ext cx="11064240" cy="914400"/>
        </p:xfrm>
        <a:graphic>
          <a:graphicData uri="http://schemas.openxmlformats.org/drawingml/2006/table">
            <a:tbl>
              <a:tblPr/>
              <a:tblGrid>
                <a:gridCol w="2468880"/>
                <a:gridCol w="3017520"/>
                <a:gridCol w="3246120"/>
                <a:gridCol w="2331720"/>
              </a:tblGrid>
              <a:tr h="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Condition</a:t>
                      </a:r>
                      <a:endParaRPr lang="en-US" sz="12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0F2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What's running</a:t>
                      </a:r>
                      <a:endParaRPr lang="en-US" sz="12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0F2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Scope line</a:t>
                      </a:r>
                      <a:endParaRPr lang="en-US" sz="12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0F2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Watch for</a:t>
                      </a:r>
                      <a:endParaRPr lang="en-US" sz="12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0F2A43"/>
                    </a:solidFill>
                  </a:tcPr>
                </a:tc>
              </a:tr>
              <a:tr h="0">
                <a:tc>
                  <a:txBody>
                    <a:bodyPr/>
                    <a:lstStyle/>
                    <a:p>
                      <a:pPr indent="0" marL="0">
                        <a:buNone/>
                      </a:pPr>
                      <a:r>
                        <a:rPr lang="en-US" sz="1250" b="1" dirty="0">
                          <a:solidFill>
                            <a:srgbClr val="0F2A43"/>
                          </a:solidFill>
                          <a:latin typeface="Calibri" pitchFamily="34" charset="0"/>
                          <a:ea typeface="Calibri" pitchFamily="34" charset="-122"/>
                          <a:cs typeface="Calibri" pitchFamily="34" charset="-120"/>
                        </a:rPr>
                        <a:t>ACS — NSTEMI / STEMI</a:t>
                      </a:r>
                      <a:endParaRPr lang="en-US" sz="1200" dirty="0">
                        <a:latin typeface="Calibri" charset="0"/>
                        <a:ea typeface="Calibri" charset="0"/>
                        <a:cs typeface="Calibri" charset="0"/>
                      </a:endParaRPr>
                    </a:p>
                    <a:p>
                      <a:pPr indent="0" marL="0">
                        <a:buNone/>
                      </a:pPr>
                      <a:r>
                        <a:rPr lang="en-US" sz="1000" dirty="0">
                          <a:solidFill>
                            <a:srgbClr val="5C6B7A"/>
                          </a:solidFill>
                          <a:latin typeface="Calibri" pitchFamily="34" charset="0"/>
                          <a:ea typeface="Calibri" pitchFamily="34" charset="-122"/>
                          <a:cs typeface="Calibri" pitchFamily="34" charset="-120"/>
                        </a:rPr>
                        <a:t>II-5  ·  </a:t>
                      </a:r>
                      <a:pPr indent="0" marL="0">
                        <a:buNone/>
                      </a:pPr>
                      <a:r>
                        <a:rPr lang="en-US" sz="1000" b="1" dirty="0">
                          <a:solidFill>
                            <a:srgbClr val="E0982E"/>
                          </a:solidFill>
                          <a:latin typeface="Calibri" pitchFamily="34" charset="0"/>
                          <a:ea typeface="Calibri" pitchFamily="34" charset="-122"/>
                          <a:cs typeface="Calibri" pitchFamily="34" charset="-120"/>
                        </a:rPr>
                        <a:t>PM</a:t>
                      </a:r>
                      <a:endParaRPr lang="en-US" sz="120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FFFFFF"/>
                    </a:solidFill>
                  </a:tcPr>
                </a:tc>
                <a:tc>
                  <a:txBody>
                    <a:bodyPr/>
                    <a:lstStyle/>
                    <a:p>
                      <a:pPr indent="0" marL="0">
                        <a:buNone/>
                      </a:pPr>
                      <a:r>
                        <a:rPr lang="en-US" sz="1150" dirty="0">
                          <a:solidFill>
                            <a:srgbClr val="18242F"/>
                          </a:solidFill>
                          <a:latin typeface="Calibri" pitchFamily="34" charset="0"/>
                          <a:ea typeface="Calibri" pitchFamily="34" charset="-122"/>
                          <a:cs typeface="Calibri" pitchFamily="34" charset="-120"/>
                        </a:rPr>
                        <a:t>Heparin drip, nitroglycerin drip, ASA given, O₂ only if &lt;94%</a:t>
                      </a:r>
                      <a:endParaRPr lang="en-US" sz="11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FFFFFF"/>
                    </a:solidFill>
                  </a:tcPr>
                </a:tc>
                <a:tc>
                  <a:txBody>
                    <a:bodyPr/>
                    <a:lstStyle/>
                    <a:p>
                      <a:pPr indent="0" marL="0">
                        <a:buNone/>
                      </a:pPr>
                      <a:r>
                        <a:rPr lang="en-US" sz="1150" dirty="0">
                          <a:solidFill>
                            <a:srgbClr val="18242F"/>
                          </a:solidFill>
                          <a:latin typeface="Calibri" pitchFamily="34" charset="0"/>
                          <a:ea typeface="Calibri" pitchFamily="34" charset="-122"/>
                          <a:cs typeface="Calibri" pitchFamily="34" charset="-120"/>
                        </a:rPr>
                        <a:t>AEMT reads 12-lead for STEMI + notifies. Heparin/nitro drips + tPA = PM.</a:t>
                      </a:r>
                      <a:endParaRPr lang="en-US" sz="11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FFFFFF"/>
                    </a:solidFill>
                  </a:tcPr>
                </a:tc>
                <a:tc>
                  <a:txBody>
                    <a:bodyPr/>
                    <a:lstStyle/>
                    <a:p>
                      <a:pPr indent="0" marL="0">
                        <a:buNone/>
                      </a:pPr>
                      <a:r>
                        <a:rPr lang="en-US" sz="1150" dirty="0">
                          <a:solidFill>
                            <a:srgbClr val="18242F"/>
                          </a:solidFill>
                          <a:latin typeface="Calibri" pitchFamily="34" charset="0"/>
                          <a:ea typeface="Calibri" pitchFamily="34" charset="-122"/>
                          <a:cs typeface="Calibri" pitchFamily="34" charset="-120"/>
                        </a:rPr>
                        <a:t>V-dysrhythmia, cardiogenic shock, RV infarct (hold nitro)</a:t>
                      </a:r>
                      <a:endParaRPr lang="en-US" sz="11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0F2A43"/>
                          </a:solidFill>
                          <a:latin typeface="Calibri" pitchFamily="34" charset="0"/>
                          <a:ea typeface="Calibri" pitchFamily="34" charset="-122"/>
                          <a:cs typeface="Calibri" pitchFamily="34" charset="-120"/>
                        </a:rPr>
                        <a:t>Pulmonary edema / HF</a:t>
                      </a:r>
                      <a:endParaRPr lang="en-US" sz="1200" dirty="0">
                        <a:latin typeface="Calibri" charset="0"/>
                        <a:ea typeface="Calibri" charset="0"/>
                        <a:cs typeface="Calibri" charset="0"/>
                      </a:endParaRPr>
                    </a:p>
                    <a:p>
                      <a:pPr indent="0" marL="0">
                        <a:buNone/>
                      </a:pPr>
                      <a:r>
                        <a:rPr lang="en-US" sz="1000" dirty="0">
                          <a:solidFill>
                            <a:srgbClr val="5C6B7A"/>
                          </a:solidFill>
                          <a:latin typeface="Calibri" pitchFamily="34" charset="0"/>
                          <a:ea typeface="Calibri" pitchFamily="34" charset="-122"/>
                          <a:cs typeface="Calibri" pitchFamily="34" charset="-120"/>
                        </a:rPr>
                        <a:t>II-6  ·  </a:t>
                      </a:r>
                      <a:pPr indent="0" marL="0">
                        <a:buNone/>
                      </a:pPr>
                      <a:r>
                        <a:rPr lang="en-US" sz="1000" b="1" dirty="0">
                          <a:solidFill>
                            <a:srgbClr val="E0982E"/>
                          </a:solidFill>
                          <a:latin typeface="Calibri" pitchFamily="34" charset="0"/>
                          <a:ea typeface="Calibri" pitchFamily="34" charset="-122"/>
                          <a:cs typeface="Calibri" pitchFamily="34" charset="-120"/>
                        </a:rPr>
                        <a:t>PM</a:t>
                      </a:r>
                      <a:endParaRPr lang="en-US" sz="120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EEF3F7"/>
                    </a:solidFill>
                  </a:tcPr>
                </a:tc>
                <a:tc>
                  <a:txBody>
                    <a:bodyPr/>
                    <a:lstStyle/>
                    <a:p>
                      <a:pPr indent="0" marL="0">
                        <a:buNone/>
                      </a:pPr>
                      <a:r>
                        <a:rPr lang="en-US" sz="1150" dirty="0">
                          <a:solidFill>
                            <a:srgbClr val="18242F"/>
                          </a:solidFill>
                          <a:latin typeface="Calibri" pitchFamily="34" charset="0"/>
                          <a:ea typeface="Calibri" pitchFamily="34" charset="-122"/>
                          <a:cs typeface="Calibri" pitchFamily="34" charset="-120"/>
                        </a:rPr>
                        <a:t>Nitroglycerin drip, CPAP/BiPAP (Flow-Safe II), recent diuretic</a:t>
                      </a:r>
                      <a:endParaRPr lang="en-US" sz="11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EEF3F7"/>
                    </a:solidFill>
                  </a:tcPr>
                </a:tc>
                <a:tc>
                  <a:txBody>
                    <a:bodyPr/>
                    <a:lstStyle/>
                    <a:p>
                      <a:pPr indent="0" marL="0">
                        <a:buNone/>
                      </a:pPr>
                      <a:r>
                        <a:rPr lang="en-US" sz="1150" dirty="0">
                          <a:solidFill>
                            <a:srgbClr val="18242F"/>
                          </a:solidFill>
                          <a:latin typeface="Calibri" pitchFamily="34" charset="0"/>
                          <a:ea typeface="Calibri" pitchFamily="34" charset="-122"/>
                          <a:cs typeface="Calibri" pitchFamily="34" charset="-120"/>
                        </a:rPr>
                        <a:t>All levels assist CPAP + upright positioning. Nitro drip titration = PM.</a:t>
                      </a:r>
                      <a:endParaRPr lang="en-US" sz="11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EEF3F7"/>
                    </a:solidFill>
                  </a:tcPr>
                </a:tc>
                <a:tc>
                  <a:txBody>
                    <a:bodyPr/>
                    <a:lstStyle/>
                    <a:p>
                      <a:pPr indent="0" marL="0">
                        <a:buNone/>
                      </a:pPr>
                      <a:r>
                        <a:rPr lang="en-US" sz="1150" dirty="0">
                          <a:solidFill>
                            <a:srgbClr val="18242F"/>
                          </a:solidFill>
                          <a:latin typeface="Calibri" pitchFamily="34" charset="0"/>
                          <a:ea typeface="Calibri" pitchFamily="34" charset="-122"/>
                          <a:cs typeface="Calibri" pitchFamily="34" charset="-120"/>
                        </a:rPr>
                        <a:t>Respiratory fatigue → failure, hypotension from vasodilator</a:t>
                      </a:r>
                      <a:endParaRPr lang="en-US" sz="11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EEF3F7"/>
                    </a:solidFill>
                  </a:tcPr>
                </a:tc>
              </a:tr>
              <a:tr h="0">
                <a:tc>
                  <a:txBody>
                    <a:bodyPr/>
                    <a:lstStyle/>
                    <a:p>
                      <a:pPr indent="0" marL="0">
                        <a:buNone/>
                      </a:pPr>
                      <a:r>
                        <a:rPr lang="en-US" sz="1250" b="1" dirty="0">
                          <a:solidFill>
                            <a:srgbClr val="0F2A43"/>
                          </a:solidFill>
                          <a:latin typeface="Calibri" pitchFamily="34" charset="0"/>
                          <a:ea typeface="Calibri" pitchFamily="34" charset="-122"/>
                          <a:cs typeface="Calibri" pitchFamily="34" charset="-120"/>
                        </a:rPr>
                        <a:t>Cardiogenic shock</a:t>
                      </a:r>
                      <a:endParaRPr lang="en-US" sz="1200" dirty="0">
                        <a:latin typeface="Calibri" charset="0"/>
                        <a:ea typeface="Calibri" charset="0"/>
                        <a:cs typeface="Calibri" charset="0"/>
                      </a:endParaRPr>
                    </a:p>
                    <a:p>
                      <a:pPr indent="0" marL="0">
                        <a:buNone/>
                      </a:pPr>
                      <a:r>
                        <a:rPr lang="en-US" sz="1000" dirty="0">
                          <a:solidFill>
                            <a:srgbClr val="5C6B7A"/>
                          </a:solidFill>
                          <a:latin typeface="Calibri" pitchFamily="34" charset="0"/>
                          <a:ea typeface="Calibri" pitchFamily="34" charset="-122"/>
                          <a:cs typeface="Calibri" pitchFamily="34" charset="-120"/>
                        </a:rPr>
                        <a:t>II-7  ·  </a:t>
                      </a:r>
                      <a:pPr indent="0" marL="0">
                        <a:buNone/>
                      </a:pPr>
                      <a:r>
                        <a:rPr lang="en-US" sz="1000" b="1" dirty="0">
                          <a:solidFill>
                            <a:srgbClr val="B23A2E"/>
                          </a:solidFill>
                          <a:latin typeface="Calibri" pitchFamily="34" charset="0"/>
                          <a:ea typeface="Calibri" pitchFamily="34" charset="-122"/>
                          <a:cs typeface="Calibri" pitchFamily="34" charset="-120"/>
                        </a:rPr>
                        <a:t>Critical care</a:t>
                      </a:r>
                      <a:endParaRPr lang="en-US" sz="120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FFFFFF"/>
                    </a:solidFill>
                  </a:tcPr>
                </a:tc>
                <a:tc>
                  <a:txBody>
                    <a:bodyPr/>
                    <a:lstStyle/>
                    <a:p>
                      <a:pPr indent="0" marL="0">
                        <a:buNone/>
                      </a:pPr>
                      <a:r>
                        <a:rPr lang="en-US" sz="1150" dirty="0">
                          <a:solidFill>
                            <a:srgbClr val="18242F"/>
                          </a:solidFill>
                          <a:latin typeface="Calibri" pitchFamily="34" charset="0"/>
                          <a:ea typeface="Calibri" pitchFamily="34" charset="-122"/>
                          <a:cs typeface="Calibri" pitchFamily="34" charset="-120"/>
                        </a:rPr>
                        <a:t>Norepinephrine + inotrope drips, possible MCS, invasive lines</a:t>
                      </a:r>
                      <a:endParaRPr lang="en-US" sz="11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FFFFFF"/>
                    </a:solidFill>
                  </a:tcPr>
                </a:tc>
                <a:tc>
                  <a:txBody>
                    <a:bodyPr/>
                    <a:lstStyle/>
                    <a:p>
                      <a:pPr indent="0" marL="0">
                        <a:buNone/>
                      </a:pPr>
                      <a:r>
                        <a:rPr lang="en-US" sz="1150" dirty="0">
                          <a:solidFill>
                            <a:srgbClr val="18242F"/>
                          </a:solidFill>
                          <a:latin typeface="Calibri" pitchFamily="34" charset="0"/>
                          <a:ea typeface="Calibri" pitchFamily="34" charset="-122"/>
                          <a:cs typeface="Calibri" pitchFamily="34" charset="-120"/>
                        </a:rPr>
                        <a:t>Pressor titration = PM. Never interrupt vasopressors on movement.</a:t>
                      </a:r>
                      <a:endParaRPr lang="en-US" sz="11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FFFFFF"/>
                    </a:solidFill>
                  </a:tcPr>
                </a:tc>
                <a:tc>
                  <a:txBody>
                    <a:bodyPr/>
                    <a:lstStyle/>
                    <a:p>
                      <a:pPr indent="0" marL="0">
                        <a:buNone/>
                      </a:pPr>
                      <a:r>
                        <a:rPr lang="en-US" sz="1150" dirty="0">
                          <a:solidFill>
                            <a:srgbClr val="18242F"/>
                          </a:solidFill>
                          <a:latin typeface="Calibri" pitchFamily="34" charset="0"/>
                          <a:ea typeface="Calibri" pitchFamily="34" charset="-122"/>
                          <a:cs typeface="Calibri" pitchFamily="34" charset="-120"/>
                        </a:rPr>
                        <a:t>Escalating pressor need, arrest, device failure</a:t>
                      </a:r>
                      <a:endParaRPr lang="en-US" sz="1150" dirty="0">
                        <a:latin typeface="Calibri" charset="0"/>
                        <a:ea typeface="Calibri" charset="0"/>
                        <a:cs typeface="Calibri" charset="0"/>
                      </a:endParaRPr>
                    </a:p>
                  </a:txBody>
                  <a:tcPr marL="88900" marR="88900" marT="50800" marB="50800"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5029200"/>
            <a:ext cx="11064240" cy="1097280"/>
          </a:xfrm>
          <a:prstGeom prst="roundRect">
            <a:avLst>
              <a:gd name="adj" fmla="val 5833"/>
            </a:avLst>
          </a:prstGeom>
          <a:solidFill>
            <a:srgbClr val="EAF1F4"/>
          </a:solidFill>
          <a:ln/>
        </p:spPr>
      </p:sp>
      <p:sp>
        <p:nvSpPr>
          <p:cNvPr id="7" name="Shape 4"/>
          <p:cNvSpPr/>
          <p:nvPr/>
        </p:nvSpPr>
        <p:spPr>
          <a:xfrm>
            <a:off x="886968" y="5212080"/>
            <a:ext cx="731520" cy="731520"/>
          </a:xfrm>
          <a:prstGeom prst="ellipse">
            <a:avLst/>
          </a:prstGeom>
          <a:solidFill>
            <a:srgbClr val="1C7293"/>
          </a:solidFill>
          <a:ln/>
          <a:effectLst>
            <a:outerShdw sx="100000" sy="100000" kx="0" ky="0" algn="bl" rotWithShape="0" blurRad="88900" dist="38100" dir="5400000">
              <a:srgbClr val="1B2A38">
                <a:alpha val="12000"/>
              </a:srgbClr>
            </a:outerShdw>
          </a:effectLst>
        </p:spPr>
      </p:sp>
      <p:pic>
        <p:nvPicPr>
          <p:cNvPr id="8" name="Image 0" descr="/home/claude/deck/icons/dropw.png">    </p:cNvPr>
          <p:cNvPicPr>
            <a:picLocks noChangeAspect="1"/>
          </p:cNvPicPr>
          <p:nvPr/>
        </p:nvPicPr>
        <p:blipFill>
          <a:blip r:embed="rId1"/>
          <a:stretch>
            <a:fillRect/>
          </a:stretch>
        </p:blipFill>
        <p:spPr>
          <a:xfrm>
            <a:off x="1077163" y="5402275"/>
            <a:ext cx="351130" cy="351130"/>
          </a:xfrm>
          <a:prstGeom prst="rect">
            <a:avLst/>
          </a:prstGeom>
        </p:spPr>
      </p:pic>
      <p:sp>
        <p:nvSpPr>
          <p:cNvPr id="9" name="Text 5"/>
          <p:cNvSpPr/>
          <p:nvPr/>
        </p:nvSpPr>
        <p:spPr>
          <a:xfrm>
            <a:off x="1847088" y="5029200"/>
            <a:ext cx="9509760" cy="1097280"/>
          </a:xfrm>
          <a:prstGeom prst="rect">
            <a:avLst/>
          </a:prstGeom>
          <a:noFill/>
          <a:ln/>
        </p:spPr>
        <p:txBody>
          <a:bodyPr wrap="square" lIns="0" tIns="0" rIns="0" bIns="0" rtlCol="0" anchor="ctr"/>
          <a:lstStyle/>
          <a:p>
            <a:pPr indent="0" marL="0">
              <a:lnSpc>
                <a:spcPts val="1800"/>
              </a:lnSpc>
              <a:buNone/>
            </a:pPr>
            <a:r>
              <a:rPr lang="en-US" sz="1300" b="1" dirty="0">
                <a:solidFill>
                  <a:srgbClr val="0F2A43"/>
                </a:solidFill>
                <a:latin typeface="Calibri" pitchFamily="34" charset="0"/>
                <a:ea typeface="Calibri" pitchFamily="34" charset="-122"/>
                <a:cs typeface="Calibri" pitchFamily="34" charset="-120"/>
              </a:rPr>
              <a:t>The pump-failure tell:  </a:t>
            </a:r>
            <a:pPr indent="0" marL="0">
              <a:lnSpc>
                <a:spcPts val="1800"/>
              </a:lnSpc>
              <a:buNone/>
            </a:pPr>
            <a:r>
              <a:rPr lang="en-US" sz="1300" dirty="0">
                <a:solidFill>
                  <a:srgbClr val="18242F"/>
                </a:solidFill>
                <a:latin typeface="Calibri" pitchFamily="34" charset="0"/>
                <a:ea typeface="Calibri" pitchFamily="34" charset="-122"/>
                <a:cs typeface="Calibri" pitchFamily="34" charset="-120"/>
              </a:rPr>
              <a:t>a titrating drip is Paramedic-managed — so pump failure is a Paramedic call until proven otherwise. STEMI is the exception where an AEMT adds value by recognizing the 12-lead early.</a:t>
            </a:r>
            <a:endParaRPr lang="en-US" sz="1300" dirty="0"/>
          </a:p>
        </p:txBody>
      </p:sp>
      <p:sp>
        <p:nvSpPr>
          <p:cNvPr id="11" name="Text 6"/>
          <p:cNvSpPr/>
          <p:nvPr/>
        </p:nvSpPr>
        <p:spPr>
          <a:xfrm>
            <a:off x="566928" y="6455664"/>
            <a:ext cx="8229600" cy="274320"/>
          </a:xfrm>
          <a:prstGeom prst="rect">
            <a:avLst/>
          </a:prstGeom>
          <a:noFill/>
          <a:ln/>
        </p:spPr>
        <p:txBody>
          <a:bodyPr wrap="square" lIns="0" tIns="0" rIns="0" bIns="0"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AMR CES Academy  ·  Session 1  ·  Cardiac &amp; Neuro Deep Dive</a:t>
            </a:r>
            <a:endParaRPr lang="en-US" sz="900" dirty="0"/>
          </a:p>
        </p:txBody>
      </p:sp>
      <p:sp>
        <p:nvSpPr>
          <p:cNvPr id="12" name="Text 7"/>
          <p:cNvSpPr/>
          <p:nvPr/>
        </p:nvSpPr>
        <p:spPr>
          <a:xfrm>
            <a:off x="11076127" y="6455664"/>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566928" y="402336"/>
            <a:ext cx="109728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CARDIAC  ·  POST-ARREST</a:t>
            </a:r>
            <a:endParaRPr lang="en-US" sz="1200" dirty="0"/>
          </a:p>
        </p:txBody>
      </p:sp>
      <p:sp>
        <p:nvSpPr>
          <p:cNvPr id="3" name="Text 1"/>
          <p:cNvSpPr/>
          <p:nvPr/>
        </p:nvSpPr>
        <p:spPr>
          <a:xfrm>
            <a:off x="566928" y="676656"/>
            <a:ext cx="11064240" cy="658368"/>
          </a:xfrm>
          <a:prstGeom prst="rect">
            <a:avLst/>
          </a:prstGeom>
          <a:noFill/>
          <a:ln/>
        </p:spPr>
        <p:txBody>
          <a:bodyPr wrap="square" lIns="0" tIns="0" rIns="0" bIns="0" rtlCol="0" anchor="ctr"/>
          <a:lstStyle/>
          <a:p>
            <a:pPr indent="0" marL="0">
              <a:buNone/>
            </a:pPr>
            <a:r>
              <a:rPr lang="en-US" sz="2900" b="1" dirty="0">
                <a:solidFill>
                  <a:srgbClr val="0F2A43"/>
                </a:solidFill>
                <a:latin typeface="Century Schoolbook" pitchFamily="34" charset="0"/>
                <a:ea typeface="Century Schoolbook" pitchFamily="34" charset="-122"/>
                <a:cs typeface="Century Schoolbook" pitchFamily="34" charset="-120"/>
              </a:rPr>
              <a:t>Post-cardiac arrest syndrome (II-8)</a:t>
            </a:r>
            <a:endParaRPr lang="en-US" sz="2900" dirty="0"/>
          </a:p>
        </p:txBody>
      </p:sp>
      <p:sp>
        <p:nvSpPr>
          <p:cNvPr id="4" name="Text 2"/>
          <p:cNvSpPr/>
          <p:nvPr/>
        </p:nvSpPr>
        <p:spPr>
          <a:xfrm>
            <a:off x="566928" y="1417320"/>
            <a:ext cx="11064240" cy="36576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The highest-acuity cardiac transfer — the whole critical-care bundle on one patient, at the highest risk of re-arrest.</a:t>
            </a:r>
            <a:endParaRPr lang="en-US" sz="1400" dirty="0"/>
          </a:p>
        </p:txBody>
      </p:sp>
      <p:sp>
        <p:nvSpPr>
          <p:cNvPr id="5" name="Shape 3"/>
          <p:cNvSpPr/>
          <p:nvPr/>
        </p:nvSpPr>
        <p:spPr>
          <a:xfrm>
            <a:off x="566928" y="1965960"/>
            <a:ext cx="5349240" cy="2743200"/>
          </a:xfrm>
          <a:prstGeom prst="roundRect">
            <a:avLst>
              <a:gd name="adj" fmla="val 2667"/>
            </a:avLst>
          </a:prstGeom>
          <a:solidFill>
            <a:srgbClr val="0F2A43"/>
          </a:solidFill>
          <a:ln/>
          <a:effectLst>
            <a:outerShdw sx="100000" sy="100000" kx="0" ky="0" algn="bl" rotWithShape="0" blurRad="88900" dist="38100" dir="5400000">
              <a:srgbClr val="1B2A38">
                <a:alpha val="12000"/>
              </a:srgbClr>
            </a:outerShdw>
          </a:effectLst>
        </p:spPr>
      </p:sp>
      <p:sp>
        <p:nvSpPr>
          <p:cNvPr id="6" name="Text 4"/>
          <p:cNvSpPr/>
          <p:nvPr/>
        </p:nvSpPr>
        <p:spPr>
          <a:xfrm>
            <a:off x="886968" y="2194560"/>
            <a:ext cx="4709160" cy="365760"/>
          </a:xfrm>
          <a:prstGeom prst="rect">
            <a:avLst/>
          </a:prstGeom>
          <a:noFill/>
          <a:ln/>
        </p:spPr>
        <p:txBody>
          <a:bodyPr wrap="square" lIns="0" tIns="0" rIns="0" bIns="0" rtlCol="0" anchor="ctr"/>
          <a:lstStyle/>
          <a:p>
            <a:pPr indent="0" marL="0">
              <a:buNone/>
            </a:pPr>
            <a:r>
              <a:rPr lang="en-US" sz="1700" b="1" dirty="0">
                <a:solidFill>
                  <a:srgbClr val="FFFFFF"/>
                </a:solidFill>
                <a:latin typeface="Century Schoolbook" pitchFamily="34" charset="0"/>
                <a:ea typeface="Century Schoolbook" pitchFamily="34" charset="-122"/>
                <a:cs typeface="Century Schoolbook" pitchFamily="34" charset="-120"/>
              </a:rPr>
              <a:t>What's running</a:t>
            </a:r>
            <a:endParaRPr lang="en-US" sz="1700" dirty="0"/>
          </a:p>
        </p:txBody>
      </p:sp>
      <p:sp>
        <p:nvSpPr>
          <p:cNvPr id="7" name="Text 5"/>
          <p:cNvSpPr/>
          <p:nvPr/>
        </p:nvSpPr>
        <p:spPr>
          <a:xfrm>
            <a:off x="932688" y="2743200"/>
            <a:ext cx="4617720" cy="1828800"/>
          </a:xfrm>
          <a:prstGeom prst="rect">
            <a:avLst/>
          </a:prstGeom>
          <a:noFill/>
          <a:ln/>
        </p:spPr>
        <p:txBody>
          <a:bodyPr wrap="square" lIns="0" tIns="0" rIns="0" bIns="0" rtlCol="0" anchor="ctr"/>
          <a:lstStyle/>
          <a:p>
            <a:pPr marL="165100" indent="-165100">
              <a:lnSpc>
                <a:spcPts val="1700"/>
              </a:lnSpc>
              <a:spcAft>
                <a:spcPts val="700"/>
              </a:spcAft>
              <a:buSzPct val="100000"/>
              <a:buChar char="•"/>
            </a:pPr>
            <a:r>
              <a:rPr lang="en-US" sz="1300" dirty="0">
                <a:solidFill>
                  <a:srgbClr val="E4ECF3"/>
                </a:solidFill>
                <a:latin typeface="Calibri" pitchFamily="34" charset="0"/>
                <a:ea typeface="Calibri" pitchFamily="34" charset="-122"/>
                <a:cs typeface="Calibri" pitchFamily="34" charset="-120"/>
              </a:rPr>
              <a:t>Ventilator (LTV 1200) — 6–8 mL/kg IBW, PEEP 5, FiO₂ to SpO₂ 94–98%</a:t>
            </a:r>
            <a:endParaRPr lang="en-US" sz="1300" dirty="0"/>
          </a:p>
          <a:p>
            <a:pPr marL="165100" indent="-165100">
              <a:lnSpc>
                <a:spcPts val="1700"/>
              </a:lnSpc>
              <a:spcAft>
                <a:spcPts val="700"/>
              </a:spcAft>
              <a:buSzPct val="100000"/>
              <a:buChar char="•"/>
            </a:pPr>
            <a:r>
              <a:rPr lang="en-US" sz="1300" dirty="0">
                <a:solidFill>
                  <a:srgbClr val="E4ECF3"/>
                </a:solidFill>
                <a:latin typeface="Calibri" pitchFamily="34" charset="0"/>
                <a:ea typeface="Calibri" pitchFamily="34" charset="-122"/>
                <a:cs typeface="Calibri" pitchFamily="34" charset="-120"/>
              </a:rPr>
              <a:t>Sedation infusion — ketamine/midazolam, intubated adults, PM-managed</a:t>
            </a:r>
            <a:endParaRPr lang="en-US" sz="1300" dirty="0"/>
          </a:p>
          <a:p>
            <a:pPr marL="165100" indent="-165100">
              <a:lnSpc>
                <a:spcPts val="1700"/>
              </a:lnSpc>
              <a:spcAft>
                <a:spcPts val="700"/>
              </a:spcAft>
              <a:buSzPct val="100000"/>
              <a:buChar char="•"/>
            </a:pPr>
            <a:r>
              <a:rPr lang="en-US" sz="1300" dirty="0">
                <a:solidFill>
                  <a:srgbClr val="E4ECF3"/>
                </a:solidFill>
                <a:latin typeface="Calibri" pitchFamily="34" charset="0"/>
                <a:ea typeface="Calibri" pitchFamily="34" charset="-122"/>
                <a:cs typeface="Calibri" pitchFamily="34" charset="-120"/>
              </a:rPr>
              <a:t>Norepinephrine to MAP ≥65 mmHg</a:t>
            </a:r>
            <a:endParaRPr lang="en-US" sz="1300" dirty="0"/>
          </a:p>
          <a:p>
            <a:pPr marL="165100" indent="-165100">
              <a:lnSpc>
                <a:spcPts val="1700"/>
              </a:lnSpc>
              <a:spcAft>
                <a:spcPts val="700"/>
              </a:spcAft>
              <a:buSzPct val="100000"/>
              <a:buChar char="•"/>
            </a:pPr>
            <a:r>
              <a:rPr lang="en-US" sz="1300" dirty="0">
                <a:solidFill>
                  <a:srgbClr val="E4ECF3"/>
                </a:solidFill>
                <a:latin typeface="Calibri" pitchFamily="34" charset="0"/>
                <a:ea typeface="Calibri" pitchFamily="34" charset="-122"/>
                <a:cs typeface="Calibri" pitchFamily="34" charset="-120"/>
              </a:rPr>
              <a:t>Targeted temperature management device (may be active)</a:t>
            </a:r>
            <a:endParaRPr lang="en-US" sz="1300" dirty="0"/>
          </a:p>
        </p:txBody>
      </p:sp>
      <p:sp>
        <p:nvSpPr>
          <p:cNvPr id="8" name="Shape 6"/>
          <p:cNvSpPr/>
          <p:nvPr/>
        </p:nvSpPr>
        <p:spPr>
          <a:xfrm>
            <a:off x="6281928" y="1965960"/>
            <a:ext cx="5349240" cy="2743200"/>
          </a:xfrm>
          <a:prstGeom prst="roundRect">
            <a:avLst>
              <a:gd name="adj" fmla="val 2667"/>
            </a:avLst>
          </a:prstGeom>
          <a:solidFill>
            <a:srgbClr val="FFFFFF"/>
          </a:solidFill>
          <a:ln w="12700">
            <a:solidFill>
              <a:srgbClr val="DDE4EB"/>
            </a:solidFill>
            <a:prstDash val="solid"/>
          </a:ln>
          <a:effectLst>
            <a:outerShdw sx="100000" sy="100000" kx="0" ky="0" algn="bl" rotWithShape="0" blurRad="88900" dist="38100" dir="5400000">
              <a:srgbClr val="1B2A38">
                <a:alpha val="12000"/>
              </a:srgbClr>
            </a:outerShdw>
          </a:effectLst>
        </p:spPr>
      </p:sp>
      <p:sp>
        <p:nvSpPr>
          <p:cNvPr id="9" name="Text 7"/>
          <p:cNvSpPr/>
          <p:nvPr/>
        </p:nvSpPr>
        <p:spPr>
          <a:xfrm>
            <a:off x="6601968" y="2194560"/>
            <a:ext cx="4709160" cy="365760"/>
          </a:xfrm>
          <a:prstGeom prst="rect">
            <a:avLst/>
          </a:prstGeom>
          <a:noFill/>
          <a:ln/>
        </p:spPr>
        <p:txBody>
          <a:bodyPr wrap="square" lIns="0" tIns="0" rIns="0" bIns="0" rtlCol="0" anchor="ctr"/>
          <a:lstStyle/>
          <a:p>
            <a:pPr indent="0" marL="0">
              <a:buNone/>
            </a:pPr>
            <a:r>
              <a:rPr lang="en-US" sz="1700" b="1" dirty="0">
                <a:solidFill>
                  <a:srgbClr val="0F2A43"/>
                </a:solidFill>
                <a:latin typeface="Century Schoolbook" pitchFamily="34" charset="0"/>
                <a:ea typeface="Century Schoolbook" pitchFamily="34" charset="-122"/>
                <a:cs typeface="Century Schoolbook" pitchFamily="34" charset="-120"/>
              </a:rPr>
              <a:t>Watch &amp; divert</a:t>
            </a:r>
            <a:endParaRPr lang="en-US" sz="1700" dirty="0"/>
          </a:p>
        </p:txBody>
      </p:sp>
      <p:sp>
        <p:nvSpPr>
          <p:cNvPr id="10" name="Text 8"/>
          <p:cNvSpPr/>
          <p:nvPr/>
        </p:nvSpPr>
        <p:spPr>
          <a:xfrm>
            <a:off x="6647688" y="2743200"/>
            <a:ext cx="4617720" cy="1371600"/>
          </a:xfrm>
          <a:prstGeom prst="rect">
            <a:avLst/>
          </a:prstGeom>
          <a:noFill/>
          <a:ln/>
        </p:spPr>
        <p:txBody>
          <a:bodyPr wrap="square" lIns="0" tIns="0" rIns="0" bIns="0" rtlCol="0" anchor="ctr"/>
          <a:lstStyle/>
          <a:p>
            <a:pPr marL="165100" indent="-165100">
              <a:lnSpc>
                <a:spcPts val="1700"/>
              </a:lnSpc>
              <a:spcAft>
                <a:spcPts val="700"/>
              </a:spcAft>
              <a:buSzPct val="100000"/>
              <a:buChar char="•"/>
            </a:pPr>
            <a:r>
              <a:rPr lang="en-US" sz="1300" dirty="0">
                <a:solidFill>
                  <a:srgbClr val="18242F"/>
                </a:solidFill>
                <a:latin typeface="Calibri" pitchFamily="34" charset="0"/>
                <a:ea typeface="Calibri" pitchFamily="34" charset="-122"/>
                <a:cs typeface="Calibri" pitchFamily="34" charset="-120"/>
              </a:rPr>
              <a:t>Re-arrest — the dominant risk; be ready for immediate ACLS</a:t>
            </a:r>
            <a:endParaRPr lang="en-US" sz="1300" dirty="0"/>
          </a:p>
          <a:p>
            <a:pPr marL="165100" indent="-165100">
              <a:lnSpc>
                <a:spcPts val="1700"/>
              </a:lnSpc>
              <a:spcAft>
                <a:spcPts val="700"/>
              </a:spcAft>
              <a:buSzPct val="100000"/>
              <a:buChar char="•"/>
            </a:pPr>
            <a:r>
              <a:rPr lang="en-US" sz="1300" dirty="0">
                <a:solidFill>
                  <a:srgbClr val="18242F"/>
                </a:solidFill>
                <a:latin typeface="Calibri" pitchFamily="34" charset="0"/>
                <a:ea typeface="Calibri" pitchFamily="34" charset="-122"/>
                <a:cs typeface="Calibri" pitchFamily="34" charset="-120"/>
              </a:rPr>
              <a:t>Refractory hypotension; ventricular dysrhythmia</a:t>
            </a:r>
            <a:endParaRPr lang="en-US" sz="1300" dirty="0"/>
          </a:p>
          <a:p>
            <a:pPr marL="165100" indent="-165100">
              <a:lnSpc>
                <a:spcPts val="1700"/>
              </a:lnSpc>
              <a:spcAft>
                <a:spcPts val="700"/>
              </a:spcAft>
              <a:buSzPct val="100000"/>
              <a:buChar char="•"/>
            </a:pPr>
            <a:r>
              <a:rPr lang="en-US" sz="1300" dirty="0">
                <a:solidFill>
                  <a:srgbClr val="18242F"/>
                </a:solidFill>
                <a:latin typeface="Calibri" pitchFamily="34" charset="0"/>
                <a:ea typeface="Calibri" pitchFamily="34" charset="-122"/>
                <a:cs typeface="Calibri" pitchFamily="34" charset="-120"/>
              </a:rPr>
              <a:t>Hypoxia despite ventilation — divert immediately</a:t>
            </a:r>
            <a:endParaRPr lang="en-US" sz="1300" dirty="0"/>
          </a:p>
        </p:txBody>
      </p:sp>
      <p:sp>
        <p:nvSpPr>
          <p:cNvPr id="11" name="Shape 9"/>
          <p:cNvSpPr/>
          <p:nvPr/>
        </p:nvSpPr>
        <p:spPr>
          <a:xfrm>
            <a:off x="6556248" y="3931920"/>
            <a:ext cx="4800600" cy="621792"/>
          </a:xfrm>
          <a:prstGeom prst="roundRect">
            <a:avLst>
              <a:gd name="adj" fmla="val 8824"/>
            </a:avLst>
          </a:prstGeom>
          <a:solidFill>
            <a:srgbClr val="FBF1E4"/>
          </a:solidFill>
          <a:ln/>
        </p:spPr>
      </p:sp>
      <p:sp>
        <p:nvSpPr>
          <p:cNvPr id="12" name="Text 10"/>
          <p:cNvSpPr/>
          <p:nvPr/>
        </p:nvSpPr>
        <p:spPr>
          <a:xfrm>
            <a:off x="6739128" y="3931920"/>
            <a:ext cx="4434840" cy="621792"/>
          </a:xfrm>
          <a:prstGeom prst="rect">
            <a:avLst/>
          </a:prstGeom>
          <a:noFill/>
          <a:ln/>
        </p:spPr>
        <p:txBody>
          <a:bodyPr wrap="square" lIns="0" tIns="0" rIns="0" bIns="0" rtlCol="0" anchor="ctr"/>
          <a:lstStyle/>
          <a:p>
            <a:pPr indent="0" marL="0">
              <a:lnSpc>
                <a:spcPts val="1400"/>
              </a:lnSpc>
              <a:buNone/>
            </a:pPr>
            <a:r>
              <a:rPr lang="en-US" sz="1200" b="1" dirty="0">
                <a:solidFill>
                  <a:srgbClr val="E0982E"/>
                </a:solidFill>
                <a:latin typeface="Calibri" pitchFamily="34" charset="0"/>
                <a:ea typeface="Calibri" pitchFamily="34" charset="-122"/>
                <a:cs typeface="Calibri" pitchFamily="34" charset="-120"/>
              </a:rPr>
              <a:t>Avoid hyperoxia.  </a:t>
            </a:r>
            <a:pPr indent="0" marL="0">
              <a:lnSpc>
                <a:spcPts val="1400"/>
              </a:lnSpc>
              <a:buNone/>
            </a:pPr>
            <a:r>
              <a:rPr lang="en-US" sz="1200" dirty="0">
                <a:solidFill>
                  <a:srgbClr val="18242F"/>
                </a:solidFill>
                <a:latin typeface="Calibri" pitchFamily="34" charset="0"/>
                <a:ea typeface="Calibri" pitchFamily="34" charset="-122"/>
                <a:cs typeface="Calibri" pitchFamily="34" charset="-120"/>
              </a:rPr>
              <a:t>Titrate FiO₂ to SpO₂ 94–98% — hyperoxia worsens neuro outcomes.</a:t>
            </a:r>
            <a:endParaRPr lang="en-US" sz="1200" dirty="0"/>
          </a:p>
        </p:txBody>
      </p:sp>
      <p:sp>
        <p:nvSpPr>
          <p:cNvPr id="13" name="Text 11"/>
          <p:cNvSpPr/>
          <p:nvPr/>
        </p:nvSpPr>
        <p:spPr>
          <a:xfrm>
            <a:off x="566928" y="5029200"/>
            <a:ext cx="11064240" cy="640080"/>
          </a:xfrm>
          <a:prstGeom prst="rect">
            <a:avLst/>
          </a:prstGeom>
          <a:noFill/>
          <a:ln/>
        </p:spPr>
        <p:txBody>
          <a:bodyPr wrap="square" lIns="0" tIns="0" rIns="0" bIns="0" rtlCol="0" anchor="ctr"/>
          <a:lstStyle/>
          <a:p>
            <a:pPr indent="0" marL="0">
              <a:buNone/>
            </a:pPr>
            <a:r>
              <a:rPr lang="en-US" sz="1350" b="1" dirty="0">
                <a:solidFill>
                  <a:srgbClr val="B23A2E"/>
                </a:solidFill>
                <a:latin typeface="Calibri" pitchFamily="34" charset="0"/>
                <a:ea typeface="Calibri" pitchFamily="34" charset="-122"/>
                <a:cs typeface="Calibri" pitchFamily="34" charset="-120"/>
              </a:rPr>
              <a:t>Level of care:  </a:t>
            </a:r>
            <a:pPr indent="0" marL="0">
              <a:buNone/>
            </a:pPr>
            <a:r>
              <a:rPr lang="en-US" sz="1350" dirty="0">
                <a:solidFill>
                  <a:srgbClr val="18242F"/>
                </a:solidFill>
                <a:latin typeface="Calibri" pitchFamily="34" charset="0"/>
                <a:ea typeface="Calibri" pitchFamily="34" charset="-122"/>
                <a:cs typeface="Calibri" pitchFamily="34" charset="-120"/>
              </a:rPr>
              <a:t>critical care every time — Paramedic crew, vent-trained, sedation + pressor continuity. This is the cardiac call that most often needs an accompanying critical-care resource.</a:t>
            </a:r>
            <a:endParaRPr lang="en-US" sz="1350" dirty="0"/>
          </a:p>
        </p:txBody>
      </p:sp>
      <p:sp>
        <p:nvSpPr>
          <p:cNvPr id="15" name="Text 12"/>
          <p:cNvSpPr/>
          <p:nvPr/>
        </p:nvSpPr>
        <p:spPr>
          <a:xfrm>
            <a:off x="566928" y="6455664"/>
            <a:ext cx="8229600" cy="274320"/>
          </a:xfrm>
          <a:prstGeom prst="rect">
            <a:avLst/>
          </a:prstGeom>
          <a:noFill/>
          <a:ln/>
        </p:spPr>
        <p:txBody>
          <a:bodyPr wrap="square" lIns="0" tIns="0" rIns="0" bIns="0"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AMR CES Academy  ·  Session 1  ·  Cardiac &amp; Neuro Deep Dive</a:t>
            </a:r>
            <a:endParaRPr lang="en-US" sz="900" dirty="0"/>
          </a:p>
        </p:txBody>
      </p:sp>
      <p:sp>
        <p:nvSpPr>
          <p:cNvPr id="16" name="Text 13"/>
          <p:cNvSpPr/>
          <p:nvPr/>
        </p:nvSpPr>
        <p:spPr>
          <a:xfrm>
            <a:off x="11076127" y="6455664"/>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566928" y="402336"/>
            <a:ext cx="109728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NEURO CALL TYPES</a:t>
            </a:r>
            <a:endParaRPr lang="en-US" sz="1200" dirty="0"/>
          </a:p>
        </p:txBody>
      </p:sp>
      <p:sp>
        <p:nvSpPr>
          <p:cNvPr id="3" name="Text 1"/>
          <p:cNvSpPr/>
          <p:nvPr/>
        </p:nvSpPr>
        <p:spPr>
          <a:xfrm>
            <a:off x="566928" y="676656"/>
            <a:ext cx="11064240" cy="658368"/>
          </a:xfrm>
          <a:prstGeom prst="rect">
            <a:avLst/>
          </a:prstGeom>
          <a:noFill/>
          <a:ln/>
        </p:spPr>
        <p:txBody>
          <a:bodyPr wrap="square" lIns="0" tIns="0" rIns="0" bIns="0" rtlCol="0" anchor="ctr"/>
          <a:lstStyle/>
          <a:p>
            <a:pPr indent="0" marL="0">
              <a:buNone/>
            </a:pPr>
            <a:r>
              <a:rPr lang="en-US" sz="2900" b="1" dirty="0">
                <a:solidFill>
                  <a:srgbClr val="0F2A43"/>
                </a:solidFill>
                <a:latin typeface="Century Schoolbook" pitchFamily="34" charset="0"/>
                <a:ea typeface="Century Schoolbook" pitchFamily="34" charset="-122"/>
                <a:cs typeface="Century Schoolbook" pitchFamily="34" charset="-120"/>
              </a:rPr>
              <a:t>Neuro at a glance — four call types</a:t>
            </a:r>
            <a:endParaRPr lang="en-US" sz="2900" dirty="0"/>
          </a:p>
        </p:txBody>
      </p:sp>
      <p:sp>
        <p:nvSpPr>
          <p:cNvPr id="4" name="Text 2"/>
          <p:cNvSpPr/>
          <p:nvPr/>
        </p:nvSpPr>
        <p:spPr>
          <a:xfrm>
            <a:off x="566928" y="1417320"/>
            <a:ext cx="11064240" cy="36576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Different diagnoses, one shared mission: prevent secondary brain injury from hypoxia, hypotension, and rising ICP.</a:t>
            </a:r>
            <a:endParaRPr lang="en-US" sz="1400" dirty="0"/>
          </a:p>
        </p:txBody>
      </p:sp>
      <p:sp>
        <p:nvSpPr>
          <p:cNvPr id="5" name="Shape 3"/>
          <p:cNvSpPr/>
          <p:nvPr/>
        </p:nvSpPr>
        <p:spPr>
          <a:xfrm>
            <a:off x="566928" y="2011680"/>
            <a:ext cx="2615184" cy="3566160"/>
          </a:xfrm>
          <a:prstGeom prst="roundRect">
            <a:avLst>
              <a:gd name="adj" fmla="val 2797"/>
            </a:avLst>
          </a:prstGeom>
          <a:solidFill>
            <a:srgbClr val="FFFFFF"/>
          </a:solidFill>
          <a:ln w="12700">
            <a:solidFill>
              <a:srgbClr val="DDE4EB"/>
            </a:solidFill>
            <a:prstDash val="solid"/>
          </a:ln>
          <a:effectLst>
            <a:outerShdw sx="100000" sy="100000" kx="0" ky="0" algn="bl" rotWithShape="0" blurRad="88900" dist="38100" dir="5400000">
              <a:srgbClr val="1B2A38">
                <a:alpha val="12000"/>
              </a:srgbClr>
            </a:outerShdw>
          </a:effectLst>
        </p:spPr>
      </p:sp>
      <p:sp>
        <p:nvSpPr>
          <p:cNvPr id="6" name="Shape 4"/>
          <p:cNvSpPr/>
          <p:nvPr/>
        </p:nvSpPr>
        <p:spPr>
          <a:xfrm>
            <a:off x="1371600" y="2377440"/>
            <a:ext cx="1005840" cy="1005840"/>
          </a:xfrm>
          <a:prstGeom prst="ellipse">
            <a:avLst/>
          </a:prstGeom>
          <a:solidFill>
            <a:srgbClr val="1C7293"/>
          </a:solidFill>
          <a:ln/>
          <a:effectLst>
            <a:outerShdw sx="100000" sy="100000" kx="0" ky="0" algn="bl" rotWithShape="0" blurRad="88900" dist="38100" dir="5400000">
              <a:srgbClr val="1B2A38">
                <a:alpha val="12000"/>
              </a:srgbClr>
            </a:outerShdw>
          </a:effectLst>
        </p:spPr>
      </p:sp>
      <p:pic>
        <p:nvPicPr>
          <p:cNvPr id="7" name="Image 0" descr="/home/claude/deck/icons/brainw.png">    </p:cNvPr>
          <p:cNvPicPr>
            <a:picLocks noChangeAspect="1"/>
          </p:cNvPicPr>
          <p:nvPr/>
        </p:nvPicPr>
        <p:blipFill>
          <a:blip r:embed="rId1"/>
          <a:stretch>
            <a:fillRect/>
          </a:stretch>
        </p:blipFill>
        <p:spPr>
          <a:xfrm>
            <a:off x="1633118" y="2638958"/>
            <a:ext cx="482803" cy="482803"/>
          </a:xfrm>
          <a:prstGeom prst="rect">
            <a:avLst/>
          </a:prstGeom>
        </p:spPr>
      </p:pic>
      <p:sp>
        <p:nvSpPr>
          <p:cNvPr id="8" name="Text 5"/>
          <p:cNvSpPr/>
          <p:nvPr/>
        </p:nvSpPr>
        <p:spPr>
          <a:xfrm>
            <a:off x="786384" y="2331720"/>
            <a:ext cx="2176272" cy="274320"/>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II-9</a:t>
            </a:r>
            <a:endParaRPr lang="en-US" sz="1000" dirty="0"/>
          </a:p>
        </p:txBody>
      </p:sp>
      <p:sp>
        <p:nvSpPr>
          <p:cNvPr id="9" name="Text 6"/>
          <p:cNvSpPr/>
          <p:nvPr/>
        </p:nvSpPr>
        <p:spPr>
          <a:xfrm>
            <a:off x="749808" y="3566160"/>
            <a:ext cx="2249424" cy="685800"/>
          </a:xfrm>
          <a:prstGeom prst="rect">
            <a:avLst/>
          </a:prstGeom>
          <a:noFill/>
          <a:ln/>
        </p:spPr>
        <p:txBody>
          <a:bodyPr wrap="square" lIns="0" tIns="0" rIns="0" bIns="0" rtlCol="0" anchor="ctr"/>
          <a:lstStyle/>
          <a:p>
            <a:pPr algn="ctr" indent="0" marL="0">
              <a:lnSpc>
                <a:spcPts val="1800"/>
              </a:lnSpc>
              <a:buNone/>
            </a:pPr>
            <a:r>
              <a:rPr lang="en-US" sz="1600" b="1" dirty="0">
                <a:solidFill>
                  <a:srgbClr val="0F2A43"/>
                </a:solidFill>
                <a:latin typeface="Century Schoolbook" pitchFamily="34" charset="0"/>
                <a:ea typeface="Century Schoolbook" pitchFamily="34" charset="-122"/>
                <a:cs typeface="Century Schoolbook" pitchFamily="34" charset="-120"/>
              </a:rPr>
              <a:t>Acute ischemic stroke</a:t>
            </a:r>
            <a:endParaRPr lang="en-US" sz="1600" dirty="0"/>
          </a:p>
        </p:txBody>
      </p:sp>
      <p:sp>
        <p:nvSpPr>
          <p:cNvPr id="10" name="Text 7"/>
          <p:cNvSpPr/>
          <p:nvPr/>
        </p:nvSpPr>
        <p:spPr>
          <a:xfrm>
            <a:off x="822960" y="4297680"/>
            <a:ext cx="2103120" cy="1143000"/>
          </a:xfrm>
          <a:prstGeom prst="rect">
            <a:avLst/>
          </a:prstGeom>
          <a:noFill/>
          <a:ln/>
        </p:spPr>
        <p:txBody>
          <a:bodyPr wrap="square" lIns="0" tIns="0" rIns="0" bIns="0" rtlCol="0" anchor="ctr"/>
          <a:lstStyle/>
          <a:p>
            <a:pPr algn="ctr" indent="0" marL="0">
              <a:lnSpc>
                <a:spcPts val="1500"/>
              </a:lnSpc>
              <a:buNone/>
            </a:pPr>
            <a:r>
              <a:rPr lang="en-US" sz="1200" dirty="0">
                <a:solidFill>
                  <a:srgbClr val="18242F"/>
                </a:solidFill>
                <a:latin typeface="Calibri" pitchFamily="34" charset="0"/>
                <a:ea typeface="Calibri" pitchFamily="34" charset="-122"/>
                <a:cs typeface="Calibri" pitchFamily="34" charset="-120"/>
              </a:rPr>
              <a:t>Permissive hypertension; tPA drip = PM; thrombectomy clock</a:t>
            </a:r>
            <a:endParaRPr lang="en-US" sz="1200" dirty="0"/>
          </a:p>
        </p:txBody>
      </p:sp>
      <p:sp>
        <p:nvSpPr>
          <p:cNvPr id="11" name="Shape 8"/>
          <p:cNvSpPr/>
          <p:nvPr/>
        </p:nvSpPr>
        <p:spPr>
          <a:xfrm>
            <a:off x="3401568" y="2011680"/>
            <a:ext cx="2615184" cy="3566160"/>
          </a:xfrm>
          <a:prstGeom prst="roundRect">
            <a:avLst>
              <a:gd name="adj" fmla="val 2797"/>
            </a:avLst>
          </a:prstGeom>
          <a:solidFill>
            <a:srgbClr val="FFFFFF"/>
          </a:solidFill>
          <a:ln w="12700">
            <a:solidFill>
              <a:srgbClr val="DDE4EB"/>
            </a:solidFill>
            <a:prstDash val="solid"/>
          </a:ln>
          <a:effectLst>
            <a:outerShdw sx="100000" sy="100000" kx="0" ky="0" algn="bl" rotWithShape="0" blurRad="88900" dist="38100" dir="5400000">
              <a:srgbClr val="1B2A38">
                <a:alpha val="12000"/>
              </a:srgbClr>
            </a:outerShdw>
          </a:effectLst>
        </p:spPr>
      </p:sp>
      <p:sp>
        <p:nvSpPr>
          <p:cNvPr id="12" name="Shape 9"/>
          <p:cNvSpPr/>
          <p:nvPr/>
        </p:nvSpPr>
        <p:spPr>
          <a:xfrm>
            <a:off x="4206240" y="2377440"/>
            <a:ext cx="1005840" cy="1005840"/>
          </a:xfrm>
          <a:prstGeom prst="ellipse">
            <a:avLst/>
          </a:prstGeom>
          <a:solidFill>
            <a:srgbClr val="B23A2E"/>
          </a:solidFill>
          <a:ln/>
          <a:effectLst>
            <a:outerShdw sx="100000" sy="100000" kx="0" ky="0" algn="bl" rotWithShape="0" blurRad="88900" dist="38100" dir="5400000">
              <a:srgbClr val="1B2A38">
                <a:alpha val="12000"/>
              </a:srgbClr>
            </a:outerShdw>
          </a:effectLst>
        </p:spPr>
      </p:sp>
      <p:pic>
        <p:nvPicPr>
          <p:cNvPr id="13" name="Image 1" descr="/home/claude/deck/icons/triaw.png">    </p:cNvPr>
          <p:cNvPicPr>
            <a:picLocks noChangeAspect="1"/>
          </p:cNvPicPr>
          <p:nvPr/>
        </p:nvPicPr>
        <p:blipFill>
          <a:blip r:embed="rId2"/>
          <a:stretch>
            <a:fillRect/>
          </a:stretch>
        </p:blipFill>
        <p:spPr>
          <a:xfrm>
            <a:off x="4467758" y="2638958"/>
            <a:ext cx="482803" cy="482803"/>
          </a:xfrm>
          <a:prstGeom prst="rect">
            <a:avLst/>
          </a:prstGeom>
        </p:spPr>
      </p:pic>
      <p:sp>
        <p:nvSpPr>
          <p:cNvPr id="14" name="Text 10"/>
          <p:cNvSpPr/>
          <p:nvPr/>
        </p:nvSpPr>
        <p:spPr>
          <a:xfrm>
            <a:off x="3621024" y="2331720"/>
            <a:ext cx="2176272" cy="274320"/>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II-10</a:t>
            </a:r>
            <a:endParaRPr lang="en-US" sz="1000" dirty="0"/>
          </a:p>
        </p:txBody>
      </p:sp>
      <p:sp>
        <p:nvSpPr>
          <p:cNvPr id="15" name="Text 11"/>
          <p:cNvSpPr/>
          <p:nvPr/>
        </p:nvSpPr>
        <p:spPr>
          <a:xfrm>
            <a:off x="3584448" y="3566160"/>
            <a:ext cx="2249424" cy="685800"/>
          </a:xfrm>
          <a:prstGeom prst="rect">
            <a:avLst/>
          </a:prstGeom>
          <a:noFill/>
          <a:ln/>
        </p:spPr>
        <p:txBody>
          <a:bodyPr wrap="square" lIns="0" tIns="0" rIns="0" bIns="0" rtlCol="0" anchor="ctr"/>
          <a:lstStyle/>
          <a:p>
            <a:pPr algn="ctr" indent="0" marL="0">
              <a:lnSpc>
                <a:spcPts val="1800"/>
              </a:lnSpc>
              <a:buNone/>
            </a:pPr>
            <a:r>
              <a:rPr lang="en-US" sz="1600" b="1" dirty="0">
                <a:solidFill>
                  <a:srgbClr val="0F2A43"/>
                </a:solidFill>
                <a:latin typeface="Century Schoolbook" pitchFamily="34" charset="0"/>
                <a:ea typeface="Century Schoolbook" pitchFamily="34" charset="-122"/>
                <a:cs typeface="Century Schoolbook" pitchFamily="34" charset="-120"/>
              </a:rPr>
              <a:t>Neuro deterioration</a:t>
            </a:r>
            <a:endParaRPr lang="en-US" sz="1600" dirty="0"/>
          </a:p>
        </p:txBody>
      </p:sp>
      <p:sp>
        <p:nvSpPr>
          <p:cNvPr id="16" name="Text 12"/>
          <p:cNvSpPr/>
          <p:nvPr/>
        </p:nvSpPr>
        <p:spPr>
          <a:xfrm>
            <a:off x="3657600" y="4297680"/>
            <a:ext cx="2103120" cy="1143000"/>
          </a:xfrm>
          <a:prstGeom prst="rect">
            <a:avLst/>
          </a:prstGeom>
          <a:noFill/>
          <a:ln/>
        </p:spPr>
        <p:txBody>
          <a:bodyPr wrap="square" lIns="0" tIns="0" rIns="0" bIns="0" rtlCol="0" anchor="ctr"/>
          <a:lstStyle/>
          <a:p>
            <a:pPr algn="ctr" indent="0" marL="0">
              <a:lnSpc>
                <a:spcPts val="1500"/>
              </a:lnSpc>
              <a:buNone/>
            </a:pPr>
            <a:r>
              <a:rPr lang="en-US" sz="1200" dirty="0">
                <a:solidFill>
                  <a:srgbClr val="18242F"/>
                </a:solidFill>
                <a:latin typeface="Calibri" pitchFamily="34" charset="0"/>
                <a:ea typeface="Calibri" pitchFamily="34" charset="-122"/>
                <a:cs typeface="Calibri" pitchFamily="34" charset="-120"/>
              </a:rPr>
              <a:t>ICH / SAH / TBI / meningitis — the secondary-injury triad</a:t>
            </a:r>
            <a:endParaRPr lang="en-US" sz="1200" dirty="0"/>
          </a:p>
        </p:txBody>
      </p:sp>
      <p:sp>
        <p:nvSpPr>
          <p:cNvPr id="17" name="Shape 13"/>
          <p:cNvSpPr/>
          <p:nvPr/>
        </p:nvSpPr>
        <p:spPr>
          <a:xfrm>
            <a:off x="6236208" y="2011680"/>
            <a:ext cx="2615184" cy="3566160"/>
          </a:xfrm>
          <a:prstGeom prst="roundRect">
            <a:avLst>
              <a:gd name="adj" fmla="val 2797"/>
            </a:avLst>
          </a:prstGeom>
          <a:solidFill>
            <a:srgbClr val="FFFFFF"/>
          </a:solidFill>
          <a:ln w="12700">
            <a:solidFill>
              <a:srgbClr val="DDE4EB"/>
            </a:solidFill>
            <a:prstDash val="solid"/>
          </a:ln>
          <a:effectLst>
            <a:outerShdw sx="100000" sy="100000" kx="0" ky="0" algn="bl" rotWithShape="0" blurRad="88900" dist="38100" dir="5400000">
              <a:srgbClr val="1B2A38">
                <a:alpha val="12000"/>
              </a:srgbClr>
            </a:outerShdw>
          </a:effectLst>
        </p:spPr>
      </p:sp>
      <p:sp>
        <p:nvSpPr>
          <p:cNvPr id="18" name="Shape 14"/>
          <p:cNvSpPr/>
          <p:nvPr/>
        </p:nvSpPr>
        <p:spPr>
          <a:xfrm>
            <a:off x="7040880" y="2377440"/>
            <a:ext cx="1005840" cy="1005840"/>
          </a:xfrm>
          <a:prstGeom prst="ellipse">
            <a:avLst/>
          </a:prstGeom>
          <a:solidFill>
            <a:srgbClr val="1C7293"/>
          </a:solidFill>
          <a:ln/>
          <a:effectLst>
            <a:outerShdw sx="100000" sy="100000" kx="0" ky="0" algn="bl" rotWithShape="0" blurRad="88900" dist="38100" dir="5400000">
              <a:srgbClr val="1B2A38">
                <a:alpha val="12000"/>
              </a:srgbClr>
            </a:outerShdw>
          </a:effectLst>
        </p:spPr>
      </p:sp>
      <p:pic>
        <p:nvPicPr>
          <p:cNvPr id="19" name="Image 2" descr="/home/claude/deck/icons/boltw.png">    </p:cNvPr>
          <p:cNvPicPr>
            <a:picLocks noChangeAspect="1"/>
          </p:cNvPicPr>
          <p:nvPr/>
        </p:nvPicPr>
        <p:blipFill>
          <a:blip r:embed="rId3"/>
          <a:stretch>
            <a:fillRect/>
          </a:stretch>
        </p:blipFill>
        <p:spPr>
          <a:xfrm>
            <a:off x="7302398" y="2638958"/>
            <a:ext cx="482803" cy="482803"/>
          </a:xfrm>
          <a:prstGeom prst="rect">
            <a:avLst/>
          </a:prstGeom>
        </p:spPr>
      </p:pic>
      <p:sp>
        <p:nvSpPr>
          <p:cNvPr id="20" name="Text 15"/>
          <p:cNvSpPr/>
          <p:nvPr/>
        </p:nvSpPr>
        <p:spPr>
          <a:xfrm>
            <a:off x="6455664" y="2331720"/>
            <a:ext cx="2176272" cy="274320"/>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II-11</a:t>
            </a:r>
            <a:endParaRPr lang="en-US" sz="1000" dirty="0"/>
          </a:p>
        </p:txBody>
      </p:sp>
      <p:sp>
        <p:nvSpPr>
          <p:cNvPr id="21" name="Text 16"/>
          <p:cNvSpPr/>
          <p:nvPr/>
        </p:nvSpPr>
        <p:spPr>
          <a:xfrm>
            <a:off x="6419088" y="3566160"/>
            <a:ext cx="2249424" cy="685800"/>
          </a:xfrm>
          <a:prstGeom prst="rect">
            <a:avLst/>
          </a:prstGeom>
          <a:noFill/>
          <a:ln/>
        </p:spPr>
        <p:txBody>
          <a:bodyPr wrap="square" lIns="0" tIns="0" rIns="0" bIns="0" rtlCol="0" anchor="ctr"/>
          <a:lstStyle/>
          <a:p>
            <a:pPr algn="ctr" indent="0" marL="0">
              <a:lnSpc>
                <a:spcPts val="1800"/>
              </a:lnSpc>
              <a:buNone/>
            </a:pPr>
            <a:r>
              <a:rPr lang="en-US" sz="1600" b="1" dirty="0">
                <a:solidFill>
                  <a:srgbClr val="0F2A43"/>
                </a:solidFill>
                <a:latin typeface="Century Schoolbook" pitchFamily="34" charset="0"/>
                <a:ea typeface="Century Schoolbook" pitchFamily="34" charset="-122"/>
                <a:cs typeface="Century Schoolbook" pitchFamily="34" charset="-120"/>
              </a:rPr>
              <a:t>Seizure / status</a:t>
            </a:r>
            <a:endParaRPr lang="en-US" sz="1600" dirty="0"/>
          </a:p>
        </p:txBody>
      </p:sp>
      <p:sp>
        <p:nvSpPr>
          <p:cNvPr id="22" name="Text 17"/>
          <p:cNvSpPr/>
          <p:nvPr/>
        </p:nvSpPr>
        <p:spPr>
          <a:xfrm>
            <a:off x="6492240" y="4297680"/>
            <a:ext cx="2103120" cy="1143000"/>
          </a:xfrm>
          <a:prstGeom prst="rect">
            <a:avLst/>
          </a:prstGeom>
          <a:noFill/>
          <a:ln/>
        </p:spPr>
        <p:txBody>
          <a:bodyPr wrap="square" lIns="0" tIns="0" rIns="0" bIns="0" rtlCol="0" anchor="ctr"/>
          <a:lstStyle/>
          <a:p>
            <a:pPr algn="ctr" indent="0" marL="0">
              <a:lnSpc>
                <a:spcPts val="1500"/>
              </a:lnSpc>
              <a:buNone/>
            </a:pPr>
            <a:r>
              <a:rPr lang="en-US" sz="1200" dirty="0">
                <a:solidFill>
                  <a:srgbClr val="18242F"/>
                </a:solidFill>
                <a:latin typeface="Calibri" pitchFamily="34" charset="0"/>
                <a:ea typeface="Calibri" pitchFamily="34" charset="-122"/>
                <a:cs typeface="Calibri" pitchFamily="34" charset="-120"/>
              </a:rPr>
              <a:t>≥5 min = status; benzos then sedation infusion; airway</a:t>
            </a:r>
            <a:endParaRPr lang="en-US" sz="1200" dirty="0"/>
          </a:p>
        </p:txBody>
      </p:sp>
      <p:sp>
        <p:nvSpPr>
          <p:cNvPr id="23" name="Shape 18"/>
          <p:cNvSpPr/>
          <p:nvPr/>
        </p:nvSpPr>
        <p:spPr>
          <a:xfrm>
            <a:off x="9070848" y="2011680"/>
            <a:ext cx="2615184" cy="3566160"/>
          </a:xfrm>
          <a:prstGeom prst="roundRect">
            <a:avLst>
              <a:gd name="adj" fmla="val 2797"/>
            </a:avLst>
          </a:prstGeom>
          <a:solidFill>
            <a:srgbClr val="FFFFFF"/>
          </a:solidFill>
          <a:ln w="12700">
            <a:solidFill>
              <a:srgbClr val="DDE4EB"/>
            </a:solidFill>
            <a:prstDash val="solid"/>
          </a:ln>
          <a:effectLst>
            <a:outerShdw sx="100000" sy="100000" kx="0" ky="0" algn="bl" rotWithShape="0" blurRad="88900" dist="38100" dir="5400000">
              <a:srgbClr val="1B2A38">
                <a:alpha val="12000"/>
              </a:srgbClr>
            </a:outerShdw>
          </a:effectLst>
        </p:spPr>
      </p:sp>
      <p:sp>
        <p:nvSpPr>
          <p:cNvPr id="24" name="Shape 19"/>
          <p:cNvSpPr/>
          <p:nvPr/>
        </p:nvSpPr>
        <p:spPr>
          <a:xfrm>
            <a:off x="9875520" y="2377440"/>
            <a:ext cx="1005840" cy="1005840"/>
          </a:xfrm>
          <a:prstGeom prst="ellipse">
            <a:avLst/>
          </a:prstGeom>
          <a:solidFill>
            <a:srgbClr val="2A9D8F"/>
          </a:solidFill>
          <a:ln/>
          <a:effectLst>
            <a:outerShdw sx="100000" sy="100000" kx="0" ky="0" algn="bl" rotWithShape="0" blurRad="88900" dist="38100" dir="5400000">
              <a:srgbClr val="1B2A38">
                <a:alpha val="12000"/>
              </a:srgbClr>
            </a:outerShdw>
          </a:effectLst>
        </p:spPr>
      </p:sp>
      <p:pic>
        <p:nvPicPr>
          <p:cNvPr id="25" name="Image 3" descr="/home/claude/deck/icons/icuw.png">    </p:cNvPr>
          <p:cNvPicPr>
            <a:picLocks noChangeAspect="1"/>
          </p:cNvPicPr>
          <p:nvPr/>
        </p:nvPicPr>
        <p:blipFill>
          <a:blip r:embed="rId4"/>
          <a:stretch>
            <a:fillRect/>
          </a:stretch>
        </p:blipFill>
        <p:spPr>
          <a:xfrm>
            <a:off x="10137038" y="2638958"/>
            <a:ext cx="482803" cy="482803"/>
          </a:xfrm>
          <a:prstGeom prst="rect">
            <a:avLst/>
          </a:prstGeom>
        </p:spPr>
      </p:pic>
      <p:sp>
        <p:nvSpPr>
          <p:cNvPr id="26" name="Text 20"/>
          <p:cNvSpPr/>
          <p:nvPr/>
        </p:nvSpPr>
        <p:spPr>
          <a:xfrm>
            <a:off x="9290304" y="2331720"/>
            <a:ext cx="2176272" cy="274320"/>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II-12</a:t>
            </a:r>
            <a:endParaRPr lang="en-US" sz="1000" dirty="0"/>
          </a:p>
        </p:txBody>
      </p:sp>
      <p:sp>
        <p:nvSpPr>
          <p:cNvPr id="27" name="Text 21"/>
          <p:cNvSpPr/>
          <p:nvPr/>
        </p:nvSpPr>
        <p:spPr>
          <a:xfrm>
            <a:off x="9253728" y="3566160"/>
            <a:ext cx="2249424" cy="685800"/>
          </a:xfrm>
          <a:prstGeom prst="rect">
            <a:avLst/>
          </a:prstGeom>
          <a:noFill/>
          <a:ln/>
        </p:spPr>
        <p:txBody>
          <a:bodyPr wrap="square" lIns="0" tIns="0" rIns="0" bIns="0" rtlCol="0" anchor="ctr"/>
          <a:lstStyle/>
          <a:p>
            <a:pPr algn="ctr" indent="0" marL="0">
              <a:lnSpc>
                <a:spcPts val="1800"/>
              </a:lnSpc>
              <a:buNone/>
            </a:pPr>
            <a:r>
              <a:rPr lang="en-US" sz="1600" b="1" dirty="0">
                <a:solidFill>
                  <a:srgbClr val="0F2A43"/>
                </a:solidFill>
                <a:latin typeface="Century Schoolbook" pitchFamily="34" charset="0"/>
                <a:ea typeface="Century Schoolbook" pitchFamily="34" charset="-122"/>
                <a:cs typeface="Century Schoolbook" pitchFamily="34" charset="-120"/>
              </a:rPr>
              <a:t>Brain tumor / mass effect</a:t>
            </a:r>
            <a:endParaRPr lang="en-US" sz="1600" dirty="0"/>
          </a:p>
        </p:txBody>
      </p:sp>
      <p:sp>
        <p:nvSpPr>
          <p:cNvPr id="28" name="Text 22"/>
          <p:cNvSpPr/>
          <p:nvPr/>
        </p:nvSpPr>
        <p:spPr>
          <a:xfrm>
            <a:off x="9326880" y="4297680"/>
            <a:ext cx="2103120" cy="1143000"/>
          </a:xfrm>
          <a:prstGeom prst="rect">
            <a:avLst/>
          </a:prstGeom>
          <a:noFill/>
          <a:ln/>
        </p:spPr>
        <p:txBody>
          <a:bodyPr wrap="square" lIns="0" tIns="0" rIns="0" bIns="0" rtlCol="0" anchor="ctr"/>
          <a:lstStyle/>
          <a:p>
            <a:pPr algn="ctr" indent="0" marL="0">
              <a:lnSpc>
                <a:spcPts val="1500"/>
              </a:lnSpc>
              <a:buNone/>
            </a:pPr>
            <a:r>
              <a:rPr lang="en-US" sz="1200" dirty="0">
                <a:solidFill>
                  <a:srgbClr val="18242F"/>
                </a:solidFill>
                <a:latin typeface="Calibri" pitchFamily="34" charset="0"/>
                <a:ea typeface="Calibri" pitchFamily="34" charset="-122"/>
                <a:cs typeface="Calibri" pitchFamily="34" charset="-120"/>
              </a:rPr>
              <a:t>Rising ICP; steroids; seizure watch; lower acuity but monitored</a:t>
            </a:r>
            <a:endParaRPr lang="en-US" sz="1200" dirty="0"/>
          </a:p>
        </p:txBody>
      </p:sp>
      <p:sp>
        <p:nvSpPr>
          <p:cNvPr id="30" name="Text 23"/>
          <p:cNvSpPr/>
          <p:nvPr/>
        </p:nvSpPr>
        <p:spPr>
          <a:xfrm>
            <a:off x="566928" y="6455664"/>
            <a:ext cx="8229600" cy="274320"/>
          </a:xfrm>
          <a:prstGeom prst="rect">
            <a:avLst/>
          </a:prstGeom>
          <a:noFill/>
          <a:ln/>
        </p:spPr>
        <p:txBody>
          <a:bodyPr wrap="square" lIns="0" tIns="0" rIns="0" bIns="0"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AMR CES Academy  ·  Session 1  ·  Cardiac &amp; Neuro Deep Dive</a:t>
            </a:r>
            <a:endParaRPr lang="en-US" sz="900" dirty="0"/>
          </a:p>
        </p:txBody>
      </p:sp>
      <p:sp>
        <p:nvSpPr>
          <p:cNvPr id="31" name="Text 24"/>
          <p:cNvSpPr/>
          <p:nvPr/>
        </p:nvSpPr>
        <p:spPr>
          <a:xfrm>
            <a:off x="11076127" y="6455664"/>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566928" y="402336"/>
            <a:ext cx="109728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NEURO  ·  ISCHEMIC STROKE</a:t>
            </a:r>
            <a:endParaRPr lang="en-US" sz="1200" dirty="0"/>
          </a:p>
        </p:txBody>
      </p:sp>
      <p:sp>
        <p:nvSpPr>
          <p:cNvPr id="3" name="Text 1"/>
          <p:cNvSpPr/>
          <p:nvPr/>
        </p:nvSpPr>
        <p:spPr>
          <a:xfrm>
            <a:off x="566928" y="676656"/>
            <a:ext cx="11064240" cy="658368"/>
          </a:xfrm>
          <a:prstGeom prst="rect">
            <a:avLst/>
          </a:prstGeom>
          <a:noFill/>
          <a:ln/>
        </p:spPr>
        <p:txBody>
          <a:bodyPr wrap="square" lIns="0" tIns="0" rIns="0" bIns="0" rtlCol="0" anchor="ctr"/>
          <a:lstStyle/>
          <a:p>
            <a:pPr indent="0" marL="0">
              <a:buNone/>
            </a:pPr>
            <a:r>
              <a:rPr lang="en-US" sz="2900" b="1" dirty="0">
                <a:solidFill>
                  <a:srgbClr val="0F2A43"/>
                </a:solidFill>
                <a:latin typeface="Century Schoolbook" pitchFamily="34" charset="0"/>
                <a:ea typeface="Century Schoolbook" pitchFamily="34" charset="-122"/>
                <a:cs typeface="Century Schoolbook" pitchFamily="34" charset="-120"/>
              </a:rPr>
              <a:t>Acute ischemic stroke (II-9)</a:t>
            </a:r>
            <a:endParaRPr lang="en-US" sz="2900" dirty="0"/>
          </a:p>
        </p:txBody>
      </p:sp>
      <p:sp>
        <p:nvSpPr>
          <p:cNvPr id="4" name="Shape 2"/>
          <p:cNvSpPr/>
          <p:nvPr/>
        </p:nvSpPr>
        <p:spPr>
          <a:xfrm>
            <a:off x="566928" y="1645920"/>
            <a:ext cx="5349240" cy="2788920"/>
          </a:xfrm>
          <a:prstGeom prst="roundRect">
            <a:avLst>
              <a:gd name="adj" fmla="val 2623"/>
            </a:avLst>
          </a:prstGeom>
          <a:solidFill>
            <a:srgbClr val="FFFFFF"/>
          </a:solidFill>
          <a:ln w="12700">
            <a:solidFill>
              <a:srgbClr val="DDE4EB"/>
            </a:solidFill>
            <a:prstDash val="solid"/>
          </a:ln>
          <a:effectLst>
            <a:outerShdw sx="100000" sy="100000" kx="0" ky="0" algn="bl" rotWithShape="0" blurRad="88900" dist="38100" dir="5400000">
              <a:srgbClr val="1B2A38">
                <a:alpha val="12000"/>
              </a:srgbClr>
            </a:outerShdw>
          </a:effectLst>
        </p:spPr>
      </p:sp>
      <p:sp>
        <p:nvSpPr>
          <p:cNvPr id="5" name="Shape 3"/>
          <p:cNvSpPr/>
          <p:nvPr/>
        </p:nvSpPr>
        <p:spPr>
          <a:xfrm>
            <a:off x="886968" y="1920240"/>
            <a:ext cx="777240" cy="777240"/>
          </a:xfrm>
          <a:prstGeom prst="ellipse">
            <a:avLst/>
          </a:prstGeom>
          <a:solidFill>
            <a:srgbClr val="1C7293"/>
          </a:solidFill>
          <a:ln/>
          <a:effectLst>
            <a:outerShdw sx="100000" sy="100000" kx="0" ky="0" algn="bl" rotWithShape="0" blurRad="88900" dist="38100" dir="5400000">
              <a:srgbClr val="1B2A38">
                <a:alpha val="12000"/>
              </a:srgbClr>
            </a:outerShdw>
          </a:effectLst>
        </p:spPr>
      </p:sp>
      <p:pic>
        <p:nvPicPr>
          <p:cNvPr id="6" name="Image 0" descr="/home/claude/deck/icons/brainw.png">    </p:cNvPr>
          <p:cNvPicPr>
            <a:picLocks noChangeAspect="1"/>
          </p:cNvPicPr>
          <p:nvPr/>
        </p:nvPicPr>
        <p:blipFill>
          <a:blip r:embed="rId1"/>
          <a:stretch>
            <a:fillRect/>
          </a:stretch>
        </p:blipFill>
        <p:spPr>
          <a:xfrm>
            <a:off x="1089050" y="2122322"/>
            <a:ext cx="373075" cy="373075"/>
          </a:xfrm>
          <a:prstGeom prst="rect">
            <a:avLst/>
          </a:prstGeom>
        </p:spPr>
      </p:pic>
      <p:sp>
        <p:nvSpPr>
          <p:cNvPr id="7" name="Text 4"/>
          <p:cNvSpPr/>
          <p:nvPr/>
        </p:nvSpPr>
        <p:spPr>
          <a:xfrm>
            <a:off x="1801368" y="1920240"/>
            <a:ext cx="3886200" cy="777240"/>
          </a:xfrm>
          <a:prstGeom prst="rect">
            <a:avLst/>
          </a:prstGeom>
          <a:noFill/>
          <a:ln/>
        </p:spPr>
        <p:txBody>
          <a:bodyPr wrap="square" lIns="0" tIns="0" rIns="0" bIns="0" rtlCol="0" anchor="ctr"/>
          <a:lstStyle/>
          <a:p>
            <a:pPr indent="0" marL="0">
              <a:buNone/>
            </a:pPr>
            <a:r>
              <a:rPr lang="en-US" sz="1600" b="1" dirty="0">
                <a:solidFill>
                  <a:srgbClr val="0F2A43"/>
                </a:solidFill>
                <a:latin typeface="Century Schoolbook" pitchFamily="34" charset="0"/>
                <a:ea typeface="Century Schoolbook" pitchFamily="34" charset="-122"/>
                <a:cs typeface="Century Schoolbook" pitchFamily="34" charset="-120"/>
              </a:rPr>
              <a:t>What's running / your job</a:t>
            </a:r>
            <a:endParaRPr lang="en-US" sz="1600" dirty="0"/>
          </a:p>
        </p:txBody>
      </p:sp>
      <p:sp>
        <p:nvSpPr>
          <p:cNvPr id="8" name="Text 5"/>
          <p:cNvSpPr/>
          <p:nvPr/>
        </p:nvSpPr>
        <p:spPr>
          <a:xfrm>
            <a:off x="932688" y="2788920"/>
            <a:ext cx="4617720" cy="1554480"/>
          </a:xfrm>
          <a:prstGeom prst="rect">
            <a:avLst/>
          </a:prstGeom>
          <a:noFill/>
          <a:ln/>
        </p:spPr>
        <p:txBody>
          <a:bodyPr wrap="square" lIns="0" tIns="0" rIns="0" bIns="0" rtlCol="0" anchor="ctr"/>
          <a:lstStyle/>
          <a:p>
            <a:pPr marL="165100" indent="-165100">
              <a:lnSpc>
                <a:spcPts val="1600"/>
              </a:lnSpc>
              <a:spcAft>
                <a:spcPts val="600"/>
              </a:spcAft>
              <a:buSzPct val="100000"/>
              <a:buChar char="•"/>
            </a:pPr>
            <a:r>
              <a:rPr lang="en-US" sz="1250" dirty="0">
                <a:solidFill>
                  <a:srgbClr val="18242F"/>
                </a:solidFill>
                <a:latin typeface="Calibri" pitchFamily="34" charset="0"/>
                <a:ea typeface="Calibri" pitchFamily="34" charset="-122"/>
                <a:cs typeface="Calibri" pitchFamily="34" charset="-120"/>
              </a:rPr>
              <a:t>tPA infusion (if given) — hospital-supplied, Paramedic-managed; AEMT does not adjust</a:t>
            </a:r>
            <a:endParaRPr lang="en-US" sz="1250" dirty="0"/>
          </a:p>
          <a:p>
            <a:pPr marL="165100" indent="-165100">
              <a:lnSpc>
                <a:spcPts val="1600"/>
              </a:lnSpc>
              <a:spcAft>
                <a:spcPts val="600"/>
              </a:spcAft>
              <a:buSzPct val="100000"/>
              <a:buChar char="•"/>
            </a:pPr>
            <a:r>
              <a:rPr lang="en-US" sz="1250" dirty="0">
                <a:solidFill>
                  <a:srgbClr val="18242F"/>
                </a:solidFill>
                <a:latin typeface="Calibri" pitchFamily="34" charset="0"/>
                <a:ea typeface="Calibri" pitchFamily="34" charset="-122"/>
                <a:cs typeface="Calibri" pitchFamily="34" charset="-120"/>
              </a:rPr>
              <a:t>Maintain BP per sending parameters — typically ≤180/105 if tPA given</a:t>
            </a:r>
            <a:endParaRPr lang="en-US" sz="1250" dirty="0"/>
          </a:p>
          <a:p>
            <a:pPr marL="165100" indent="-165100">
              <a:lnSpc>
                <a:spcPts val="1600"/>
              </a:lnSpc>
              <a:spcAft>
                <a:spcPts val="600"/>
              </a:spcAft>
              <a:buSzPct val="100000"/>
              <a:buChar char="•"/>
            </a:pPr>
            <a:r>
              <a:rPr lang="en-US" sz="1250" dirty="0">
                <a:solidFill>
                  <a:srgbClr val="18242F"/>
                </a:solidFill>
                <a:latin typeface="Calibri" pitchFamily="34" charset="0"/>
                <a:ea typeface="Calibri" pitchFamily="34" charset="-122"/>
                <a:cs typeface="Calibri" pitchFamily="34" charset="-120"/>
              </a:rPr>
              <a:t>Serial neuro exam q5 min: GCS, focal deficits, speech</a:t>
            </a:r>
            <a:endParaRPr lang="en-US" sz="1250" dirty="0"/>
          </a:p>
          <a:p>
            <a:pPr marL="165100" indent="-165100">
              <a:lnSpc>
                <a:spcPts val="1600"/>
              </a:lnSpc>
              <a:spcAft>
                <a:spcPts val="600"/>
              </a:spcAft>
              <a:buSzPct val="100000"/>
              <a:buChar char="•"/>
            </a:pPr>
            <a:r>
              <a:rPr lang="en-US" sz="1250" dirty="0">
                <a:solidFill>
                  <a:srgbClr val="18242F"/>
                </a:solidFill>
                <a:latin typeface="Calibri" pitchFamily="34" charset="0"/>
                <a:ea typeface="Calibri" pitchFamily="34" charset="-122"/>
                <a:cs typeface="Calibri" pitchFamily="34" charset="-120"/>
              </a:rPr>
              <a:t>HOB 0–30°; high aspiration risk — protect the airway</a:t>
            </a:r>
            <a:endParaRPr lang="en-US" sz="1250" dirty="0"/>
          </a:p>
        </p:txBody>
      </p:sp>
      <p:sp>
        <p:nvSpPr>
          <p:cNvPr id="9" name="Shape 6"/>
          <p:cNvSpPr/>
          <p:nvPr/>
        </p:nvSpPr>
        <p:spPr>
          <a:xfrm>
            <a:off x="6281928" y="1645920"/>
            <a:ext cx="5349240" cy="2788920"/>
          </a:xfrm>
          <a:prstGeom prst="roundRect">
            <a:avLst>
              <a:gd name="adj" fmla="val 2623"/>
            </a:avLst>
          </a:prstGeom>
          <a:solidFill>
            <a:srgbClr val="0F2A43"/>
          </a:solidFill>
          <a:ln/>
          <a:effectLst>
            <a:outerShdw sx="100000" sy="100000" kx="0" ky="0" algn="bl" rotWithShape="0" blurRad="88900" dist="38100" dir="5400000">
              <a:srgbClr val="1B2A38">
                <a:alpha val="12000"/>
              </a:srgbClr>
            </a:outerShdw>
          </a:effectLst>
        </p:spPr>
      </p:sp>
      <p:sp>
        <p:nvSpPr>
          <p:cNvPr id="10" name="Text 7"/>
          <p:cNvSpPr/>
          <p:nvPr/>
        </p:nvSpPr>
        <p:spPr>
          <a:xfrm>
            <a:off x="6601968" y="1920240"/>
            <a:ext cx="4709160" cy="457200"/>
          </a:xfrm>
          <a:prstGeom prst="rect">
            <a:avLst/>
          </a:prstGeom>
          <a:noFill/>
          <a:ln/>
        </p:spPr>
        <p:txBody>
          <a:bodyPr wrap="square" lIns="0" tIns="0" rIns="0" bIns="0" rtlCol="0" anchor="ctr"/>
          <a:lstStyle/>
          <a:p>
            <a:pPr indent="0" marL="0">
              <a:buNone/>
            </a:pPr>
            <a:r>
              <a:rPr lang="en-US" sz="1700" b="1" dirty="0">
                <a:solidFill>
                  <a:srgbClr val="FFFFFF"/>
                </a:solidFill>
                <a:latin typeface="Century Schoolbook" pitchFamily="34" charset="0"/>
                <a:ea typeface="Century Schoolbook" pitchFamily="34" charset="-122"/>
                <a:cs typeface="Century Schoolbook" pitchFamily="34" charset="-120"/>
              </a:rPr>
              <a:t>The counter-intuitive rule</a:t>
            </a:r>
            <a:endParaRPr lang="en-US" sz="1700" dirty="0"/>
          </a:p>
        </p:txBody>
      </p:sp>
      <p:sp>
        <p:nvSpPr>
          <p:cNvPr id="11" name="Text 8"/>
          <p:cNvSpPr/>
          <p:nvPr/>
        </p:nvSpPr>
        <p:spPr>
          <a:xfrm>
            <a:off x="6647688" y="2468880"/>
            <a:ext cx="4617720" cy="1828800"/>
          </a:xfrm>
          <a:prstGeom prst="rect">
            <a:avLst/>
          </a:prstGeom>
          <a:noFill/>
          <a:ln/>
        </p:spPr>
        <p:txBody>
          <a:bodyPr wrap="square" lIns="0" tIns="0" rIns="0" bIns="0" rtlCol="0" anchor="ctr"/>
          <a:lstStyle/>
          <a:p>
            <a:pPr indent="0" marL="0">
              <a:lnSpc>
                <a:spcPts val="2000"/>
              </a:lnSpc>
              <a:buNone/>
            </a:pPr>
            <a:r>
              <a:rPr lang="en-US" sz="1400" b="1" dirty="0">
                <a:solidFill>
                  <a:srgbClr val="E0982E"/>
                </a:solidFill>
                <a:latin typeface="Calibri" pitchFamily="34" charset="0"/>
                <a:ea typeface="Calibri" pitchFamily="34" charset="-122"/>
                <a:cs typeface="Calibri" pitchFamily="34" charset="-120"/>
              </a:rPr>
              <a:t>Do NOT routinely lower blood pressure </a:t>
            </a:r>
            <a:pPr indent="0" marL="0">
              <a:lnSpc>
                <a:spcPts val="2000"/>
              </a:lnSpc>
              <a:buNone/>
            </a:pPr>
            <a:r>
              <a:rPr lang="en-US" sz="1400" dirty="0">
                <a:solidFill>
                  <a:srgbClr val="E4ECF3"/>
                </a:solidFill>
                <a:latin typeface="Calibri" pitchFamily="34" charset="0"/>
                <a:ea typeface="Calibri" pitchFamily="34" charset="-122"/>
                <a:cs typeface="Calibri" pitchFamily="34" charset="-120"/>
              </a:rPr>
              <a:t>in ischemic stroke without specific sending-physician orders. Permissive hypertension keeps the ischemic penumbra perfused — dropping the pressure can extend the stroke.</a:t>
            </a:r>
            <a:endParaRPr lang="en-US" sz="1400" dirty="0"/>
          </a:p>
        </p:txBody>
      </p:sp>
      <p:sp>
        <p:nvSpPr>
          <p:cNvPr id="12" name="Text 9"/>
          <p:cNvSpPr/>
          <p:nvPr/>
        </p:nvSpPr>
        <p:spPr>
          <a:xfrm>
            <a:off x="566928" y="4937760"/>
            <a:ext cx="11064240" cy="822960"/>
          </a:xfrm>
          <a:prstGeom prst="rect">
            <a:avLst/>
          </a:prstGeom>
          <a:noFill/>
          <a:ln/>
        </p:spPr>
        <p:txBody>
          <a:bodyPr wrap="square" lIns="0" tIns="0" rIns="0" bIns="0" rtlCol="0" anchor="ctr"/>
          <a:lstStyle/>
          <a:p>
            <a:pPr indent="0" marL="0">
              <a:lnSpc>
                <a:spcPts val="1700"/>
              </a:lnSpc>
              <a:buNone/>
            </a:pPr>
            <a:r>
              <a:rPr lang="en-US" sz="1300" b="1" dirty="0">
                <a:solidFill>
                  <a:srgbClr val="B23A2E"/>
                </a:solidFill>
                <a:latin typeface="Calibri" pitchFamily="34" charset="0"/>
                <a:ea typeface="Calibri" pitchFamily="34" charset="-122"/>
                <a:cs typeface="Calibri" pitchFamily="34" charset="-120"/>
              </a:rPr>
              <a:t>Diversion:  </a:t>
            </a:r>
            <a:pPr indent="0" marL="0">
              <a:lnSpc>
                <a:spcPts val="1700"/>
              </a:lnSpc>
              <a:buNone/>
            </a:pPr>
            <a:r>
              <a:rPr lang="en-US" sz="1300" dirty="0">
                <a:solidFill>
                  <a:srgbClr val="18242F"/>
                </a:solidFill>
                <a:latin typeface="Calibri" pitchFamily="34" charset="0"/>
                <a:ea typeface="Calibri" pitchFamily="34" charset="-122"/>
                <a:cs typeface="Calibri" pitchFamily="34" charset="-120"/>
              </a:rPr>
              <a:t>airway compromise, rapid neuro deterioration (hemorrhagic conversion), or refractory hypotension. </a:t>
            </a:r>
            <a:pPr indent="0" marL="0">
              <a:lnSpc>
                <a:spcPts val="1700"/>
              </a:lnSpc>
              <a:buNone/>
            </a:pPr>
            <a:r>
              <a:rPr lang="en-US" sz="1300" b="1" dirty="0">
                <a:solidFill>
                  <a:srgbClr val="1C7293"/>
                </a:solidFill>
                <a:latin typeface="Calibri" pitchFamily="34" charset="0"/>
                <a:ea typeface="Calibri" pitchFamily="34" charset="-122"/>
                <a:cs typeface="Calibri" pitchFamily="34" charset="-120"/>
              </a:rPr>
              <a:t> Level of care:  </a:t>
            </a:r>
            <a:pPr indent="0" marL="0">
              <a:lnSpc>
                <a:spcPts val="1700"/>
              </a:lnSpc>
              <a:buNone/>
            </a:pPr>
            <a:r>
              <a:rPr lang="en-US" sz="1300" dirty="0">
                <a:solidFill>
                  <a:srgbClr val="18242F"/>
                </a:solidFill>
                <a:latin typeface="Calibri" pitchFamily="34" charset="0"/>
                <a:ea typeface="Calibri" pitchFamily="34" charset="-122"/>
                <a:cs typeface="Calibri" pitchFamily="34" charset="-120"/>
              </a:rPr>
              <a:t>PM if tPA is running; otherwise driven by airway risk and BP management needs.</a:t>
            </a:r>
            <a:endParaRPr lang="en-US" sz="1300" dirty="0"/>
          </a:p>
        </p:txBody>
      </p:sp>
      <p:sp>
        <p:nvSpPr>
          <p:cNvPr id="14" name="Text 10"/>
          <p:cNvSpPr/>
          <p:nvPr/>
        </p:nvSpPr>
        <p:spPr>
          <a:xfrm>
            <a:off x="566928" y="6455664"/>
            <a:ext cx="8229600" cy="274320"/>
          </a:xfrm>
          <a:prstGeom prst="rect">
            <a:avLst/>
          </a:prstGeom>
          <a:noFill/>
          <a:ln/>
        </p:spPr>
        <p:txBody>
          <a:bodyPr wrap="square" lIns="0" tIns="0" rIns="0" bIns="0"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AMR CES Academy  ·  Session 1  ·  Cardiac &amp; Neuro Deep Dive</a:t>
            </a:r>
            <a:endParaRPr lang="en-US" sz="900" dirty="0"/>
          </a:p>
        </p:txBody>
      </p:sp>
      <p:sp>
        <p:nvSpPr>
          <p:cNvPr id="15" name="Text 11"/>
          <p:cNvSpPr/>
          <p:nvPr/>
        </p:nvSpPr>
        <p:spPr>
          <a:xfrm>
            <a:off x="11076127" y="6455664"/>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566928" y="402336"/>
            <a:ext cx="109728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NEURO  ·  DETERIORATION</a:t>
            </a:r>
            <a:endParaRPr lang="en-US" sz="1200" dirty="0"/>
          </a:p>
        </p:txBody>
      </p:sp>
      <p:sp>
        <p:nvSpPr>
          <p:cNvPr id="3" name="Text 1"/>
          <p:cNvSpPr/>
          <p:nvPr/>
        </p:nvSpPr>
        <p:spPr>
          <a:xfrm>
            <a:off x="566928" y="676656"/>
            <a:ext cx="11064240" cy="658368"/>
          </a:xfrm>
          <a:prstGeom prst="rect">
            <a:avLst/>
          </a:prstGeom>
          <a:noFill/>
          <a:ln/>
        </p:spPr>
        <p:txBody>
          <a:bodyPr wrap="square" lIns="0" tIns="0" rIns="0" bIns="0" rtlCol="0" anchor="ctr"/>
          <a:lstStyle/>
          <a:p>
            <a:pPr indent="0" marL="0">
              <a:buNone/>
            </a:pPr>
            <a:r>
              <a:rPr lang="en-US" sz="2900" b="1" dirty="0">
                <a:solidFill>
                  <a:srgbClr val="0F2A43"/>
                </a:solidFill>
                <a:latin typeface="Century Schoolbook" pitchFamily="34" charset="0"/>
                <a:ea typeface="Century Schoolbook" pitchFamily="34" charset="-122"/>
                <a:cs typeface="Century Schoolbook" pitchFamily="34" charset="-120"/>
              </a:rPr>
              <a:t>The deteriorating brain: ICH / SAH / TBI / meningitis (II-10)</a:t>
            </a:r>
            <a:endParaRPr lang="en-US" sz="2900" dirty="0"/>
          </a:p>
        </p:txBody>
      </p:sp>
      <p:sp>
        <p:nvSpPr>
          <p:cNvPr id="4" name="Text 2"/>
          <p:cNvSpPr/>
          <p:nvPr/>
        </p:nvSpPr>
        <p:spPr>
          <a:xfrm>
            <a:off x="566928" y="1417320"/>
            <a:ext cx="11064240" cy="36576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Four diagnoses, one protocol — because the transport priorities are identical: stop secondary injury.</a:t>
            </a:r>
            <a:endParaRPr lang="en-US" sz="1400" dirty="0"/>
          </a:p>
        </p:txBody>
      </p:sp>
      <p:sp>
        <p:nvSpPr>
          <p:cNvPr id="5" name="Shape 3"/>
          <p:cNvSpPr/>
          <p:nvPr/>
        </p:nvSpPr>
        <p:spPr>
          <a:xfrm>
            <a:off x="566928" y="1965960"/>
            <a:ext cx="3529584" cy="1280160"/>
          </a:xfrm>
          <a:prstGeom prst="roundRect">
            <a:avLst>
              <a:gd name="adj" fmla="val 5714"/>
            </a:avLst>
          </a:prstGeom>
          <a:solidFill>
            <a:srgbClr val="0F2A43"/>
          </a:solidFill>
          <a:ln/>
          <a:effectLst>
            <a:outerShdw sx="100000" sy="100000" kx="0" ky="0" algn="bl" rotWithShape="0" blurRad="88900" dist="38100" dir="5400000">
              <a:srgbClr val="1B2A38">
                <a:alpha val="12000"/>
              </a:srgbClr>
            </a:outerShdw>
          </a:effectLst>
        </p:spPr>
      </p:sp>
      <p:sp>
        <p:nvSpPr>
          <p:cNvPr id="6" name="Text 4"/>
          <p:cNvSpPr/>
          <p:nvPr/>
        </p:nvSpPr>
        <p:spPr>
          <a:xfrm>
            <a:off x="841248" y="2167128"/>
            <a:ext cx="2980944" cy="502920"/>
          </a:xfrm>
          <a:prstGeom prst="rect">
            <a:avLst/>
          </a:prstGeom>
          <a:noFill/>
          <a:ln/>
        </p:spPr>
        <p:txBody>
          <a:bodyPr wrap="square" lIns="0" tIns="0" rIns="0" bIns="0" rtlCol="0" anchor="ctr"/>
          <a:lstStyle/>
          <a:p>
            <a:pPr algn="ctr" indent="0" marL="0">
              <a:buNone/>
            </a:pPr>
            <a:r>
              <a:rPr lang="en-US" sz="1900" b="1" dirty="0">
                <a:solidFill>
                  <a:srgbClr val="FFFFFF"/>
                </a:solidFill>
                <a:latin typeface="Century Schoolbook" pitchFamily="34" charset="0"/>
                <a:ea typeface="Century Schoolbook" pitchFamily="34" charset="-122"/>
                <a:cs typeface="Century Schoolbook" pitchFamily="34" charset="-120"/>
              </a:rPr>
              <a:t>No hypoxia</a:t>
            </a:r>
            <a:endParaRPr lang="en-US" sz="1900" dirty="0"/>
          </a:p>
        </p:txBody>
      </p:sp>
      <p:sp>
        <p:nvSpPr>
          <p:cNvPr id="7" name="Text 5"/>
          <p:cNvSpPr/>
          <p:nvPr/>
        </p:nvSpPr>
        <p:spPr>
          <a:xfrm>
            <a:off x="841248" y="2715768"/>
            <a:ext cx="2980944" cy="365760"/>
          </a:xfrm>
          <a:prstGeom prst="rect">
            <a:avLst/>
          </a:prstGeom>
          <a:noFill/>
          <a:ln/>
        </p:spPr>
        <p:txBody>
          <a:bodyPr wrap="square" lIns="0" tIns="0" rIns="0" bIns="0" rtlCol="0" anchor="ctr"/>
          <a:lstStyle/>
          <a:p>
            <a:pPr algn="ctr" indent="0" marL="0">
              <a:buNone/>
            </a:pPr>
            <a:r>
              <a:rPr lang="en-US" sz="1300" b="1" dirty="0">
                <a:solidFill>
                  <a:srgbClr val="E0982E"/>
                </a:solidFill>
                <a:latin typeface="Calibri" pitchFamily="34" charset="0"/>
                <a:ea typeface="Calibri" pitchFamily="34" charset="-122"/>
                <a:cs typeface="Calibri" pitchFamily="34" charset="-120"/>
              </a:rPr>
              <a:t>SpO₂ ≥94%</a:t>
            </a:r>
            <a:endParaRPr lang="en-US" sz="1300" dirty="0"/>
          </a:p>
        </p:txBody>
      </p:sp>
      <p:sp>
        <p:nvSpPr>
          <p:cNvPr id="8" name="Shape 6"/>
          <p:cNvSpPr/>
          <p:nvPr/>
        </p:nvSpPr>
        <p:spPr>
          <a:xfrm>
            <a:off x="4352544" y="1965960"/>
            <a:ext cx="3529584" cy="1280160"/>
          </a:xfrm>
          <a:prstGeom prst="roundRect">
            <a:avLst>
              <a:gd name="adj" fmla="val 5714"/>
            </a:avLst>
          </a:prstGeom>
          <a:solidFill>
            <a:srgbClr val="0F2A43"/>
          </a:solidFill>
          <a:ln/>
          <a:effectLst>
            <a:outerShdw sx="100000" sy="100000" kx="0" ky="0" algn="bl" rotWithShape="0" blurRad="88900" dist="38100" dir="5400000">
              <a:srgbClr val="1B2A38">
                <a:alpha val="12000"/>
              </a:srgbClr>
            </a:outerShdw>
          </a:effectLst>
        </p:spPr>
      </p:sp>
      <p:sp>
        <p:nvSpPr>
          <p:cNvPr id="9" name="Text 7"/>
          <p:cNvSpPr/>
          <p:nvPr/>
        </p:nvSpPr>
        <p:spPr>
          <a:xfrm>
            <a:off x="4626864" y="2167128"/>
            <a:ext cx="2980944" cy="502920"/>
          </a:xfrm>
          <a:prstGeom prst="rect">
            <a:avLst/>
          </a:prstGeom>
          <a:noFill/>
          <a:ln/>
        </p:spPr>
        <p:txBody>
          <a:bodyPr wrap="square" lIns="0" tIns="0" rIns="0" bIns="0" rtlCol="0" anchor="ctr"/>
          <a:lstStyle/>
          <a:p>
            <a:pPr algn="ctr" indent="0" marL="0">
              <a:buNone/>
            </a:pPr>
            <a:r>
              <a:rPr lang="en-US" sz="1900" b="1" dirty="0">
                <a:solidFill>
                  <a:srgbClr val="FFFFFF"/>
                </a:solidFill>
                <a:latin typeface="Century Schoolbook" pitchFamily="34" charset="0"/>
                <a:ea typeface="Century Schoolbook" pitchFamily="34" charset="-122"/>
                <a:cs typeface="Century Schoolbook" pitchFamily="34" charset="-120"/>
              </a:rPr>
              <a:t>No hypotension</a:t>
            </a:r>
            <a:endParaRPr lang="en-US" sz="1900" dirty="0"/>
          </a:p>
        </p:txBody>
      </p:sp>
      <p:sp>
        <p:nvSpPr>
          <p:cNvPr id="10" name="Text 8"/>
          <p:cNvSpPr/>
          <p:nvPr/>
        </p:nvSpPr>
        <p:spPr>
          <a:xfrm>
            <a:off x="4626864" y="2715768"/>
            <a:ext cx="2980944" cy="365760"/>
          </a:xfrm>
          <a:prstGeom prst="rect">
            <a:avLst/>
          </a:prstGeom>
          <a:noFill/>
          <a:ln/>
        </p:spPr>
        <p:txBody>
          <a:bodyPr wrap="square" lIns="0" tIns="0" rIns="0" bIns="0" rtlCol="0" anchor="ctr"/>
          <a:lstStyle/>
          <a:p>
            <a:pPr algn="ctr" indent="0" marL="0">
              <a:buNone/>
            </a:pPr>
            <a:r>
              <a:rPr lang="en-US" sz="1300" b="1" dirty="0">
                <a:solidFill>
                  <a:srgbClr val="E0982E"/>
                </a:solidFill>
                <a:latin typeface="Calibri" pitchFamily="34" charset="0"/>
                <a:ea typeface="Calibri" pitchFamily="34" charset="-122"/>
                <a:cs typeface="Calibri" pitchFamily="34" charset="-120"/>
              </a:rPr>
              <a:t>SBP ≥90 in TBI</a:t>
            </a:r>
            <a:endParaRPr lang="en-US" sz="1300" dirty="0"/>
          </a:p>
        </p:txBody>
      </p:sp>
      <p:sp>
        <p:nvSpPr>
          <p:cNvPr id="11" name="Shape 9"/>
          <p:cNvSpPr/>
          <p:nvPr/>
        </p:nvSpPr>
        <p:spPr>
          <a:xfrm>
            <a:off x="8138160" y="1965960"/>
            <a:ext cx="3529584" cy="1280160"/>
          </a:xfrm>
          <a:prstGeom prst="roundRect">
            <a:avLst>
              <a:gd name="adj" fmla="val 5714"/>
            </a:avLst>
          </a:prstGeom>
          <a:solidFill>
            <a:srgbClr val="0F2A43"/>
          </a:solidFill>
          <a:ln/>
          <a:effectLst>
            <a:outerShdw sx="100000" sy="100000" kx="0" ky="0" algn="bl" rotWithShape="0" blurRad="88900" dist="38100" dir="5400000">
              <a:srgbClr val="1B2A38">
                <a:alpha val="12000"/>
              </a:srgbClr>
            </a:outerShdw>
          </a:effectLst>
        </p:spPr>
      </p:sp>
      <p:sp>
        <p:nvSpPr>
          <p:cNvPr id="12" name="Text 10"/>
          <p:cNvSpPr/>
          <p:nvPr/>
        </p:nvSpPr>
        <p:spPr>
          <a:xfrm>
            <a:off x="8412480" y="2167128"/>
            <a:ext cx="2980944" cy="502920"/>
          </a:xfrm>
          <a:prstGeom prst="rect">
            <a:avLst/>
          </a:prstGeom>
          <a:noFill/>
          <a:ln/>
        </p:spPr>
        <p:txBody>
          <a:bodyPr wrap="square" lIns="0" tIns="0" rIns="0" bIns="0" rtlCol="0" anchor="ctr"/>
          <a:lstStyle/>
          <a:p>
            <a:pPr algn="ctr" indent="0" marL="0">
              <a:buNone/>
            </a:pPr>
            <a:r>
              <a:rPr lang="en-US" sz="1900" b="1" dirty="0">
                <a:solidFill>
                  <a:srgbClr val="FFFFFF"/>
                </a:solidFill>
                <a:latin typeface="Century Schoolbook" pitchFamily="34" charset="0"/>
                <a:ea typeface="Century Schoolbook" pitchFamily="34" charset="-122"/>
                <a:cs typeface="Century Schoolbook" pitchFamily="34" charset="-120"/>
              </a:rPr>
              <a:t>No hyperventilation</a:t>
            </a:r>
            <a:endParaRPr lang="en-US" sz="1900" dirty="0"/>
          </a:p>
        </p:txBody>
      </p:sp>
      <p:sp>
        <p:nvSpPr>
          <p:cNvPr id="13" name="Text 11"/>
          <p:cNvSpPr/>
          <p:nvPr/>
        </p:nvSpPr>
        <p:spPr>
          <a:xfrm>
            <a:off x="8412480" y="2715768"/>
            <a:ext cx="2980944" cy="365760"/>
          </a:xfrm>
          <a:prstGeom prst="rect">
            <a:avLst/>
          </a:prstGeom>
          <a:noFill/>
          <a:ln/>
        </p:spPr>
        <p:txBody>
          <a:bodyPr wrap="square" lIns="0" tIns="0" rIns="0" bIns="0" rtlCol="0" anchor="ctr"/>
          <a:lstStyle/>
          <a:p>
            <a:pPr algn="ctr" indent="0" marL="0">
              <a:buNone/>
            </a:pPr>
            <a:r>
              <a:rPr lang="en-US" sz="1300" b="1" dirty="0">
                <a:solidFill>
                  <a:srgbClr val="E0982E"/>
                </a:solidFill>
                <a:latin typeface="Calibri" pitchFamily="34" charset="0"/>
                <a:ea typeface="Calibri" pitchFamily="34" charset="-122"/>
                <a:cs typeface="Calibri" pitchFamily="34" charset="-120"/>
              </a:rPr>
              <a:t>ETCO₂ 35–40</a:t>
            </a:r>
            <a:endParaRPr lang="en-US" sz="1300" dirty="0"/>
          </a:p>
        </p:txBody>
      </p:sp>
      <p:sp>
        <p:nvSpPr>
          <p:cNvPr id="14" name="Text 12"/>
          <p:cNvSpPr/>
          <p:nvPr/>
        </p:nvSpPr>
        <p:spPr>
          <a:xfrm>
            <a:off x="566928" y="3310128"/>
            <a:ext cx="11064240" cy="320040"/>
          </a:xfrm>
          <a:prstGeom prst="rect">
            <a:avLst/>
          </a:prstGeom>
          <a:noFill/>
          <a:ln/>
        </p:spPr>
        <p:txBody>
          <a:bodyPr wrap="square" lIns="0" tIns="0" rIns="0" bIns="0" rtlCol="0" anchor="ctr"/>
          <a:lstStyle/>
          <a:p>
            <a:pPr algn="ctr" indent="0" marL="0">
              <a:buNone/>
            </a:pPr>
            <a:r>
              <a:rPr lang="en-US" sz="1200" i="1" dirty="0">
                <a:solidFill>
                  <a:srgbClr val="5C6B7A"/>
                </a:solidFill>
                <a:latin typeface="Calibri" pitchFamily="34" charset="0"/>
                <a:ea typeface="Calibri" pitchFamily="34" charset="-122"/>
                <a:cs typeface="Calibri" pitchFamily="34" charset="-120"/>
              </a:rPr>
              <a:t>The secondary-injury triad — each one independently worsens neurologic outcome</a:t>
            </a:r>
            <a:endParaRPr lang="en-US" sz="1200" dirty="0"/>
          </a:p>
        </p:txBody>
      </p:sp>
      <p:sp>
        <p:nvSpPr>
          <p:cNvPr id="15" name="Shape 13"/>
          <p:cNvSpPr/>
          <p:nvPr/>
        </p:nvSpPr>
        <p:spPr>
          <a:xfrm>
            <a:off x="566928" y="3749040"/>
            <a:ext cx="5349240" cy="1965960"/>
          </a:xfrm>
          <a:prstGeom prst="roundRect">
            <a:avLst>
              <a:gd name="adj" fmla="val 3721"/>
            </a:avLst>
          </a:prstGeom>
          <a:solidFill>
            <a:srgbClr val="FFFFFF"/>
          </a:solidFill>
          <a:ln w="12700">
            <a:solidFill>
              <a:srgbClr val="DDE4EB"/>
            </a:solidFill>
            <a:prstDash val="solid"/>
          </a:ln>
          <a:effectLst>
            <a:outerShdw sx="100000" sy="100000" kx="0" ky="0" algn="bl" rotWithShape="0" blurRad="88900" dist="38100" dir="5400000">
              <a:srgbClr val="1B2A38">
                <a:alpha val="12000"/>
              </a:srgbClr>
            </a:outerShdw>
          </a:effectLst>
        </p:spPr>
      </p:sp>
      <p:sp>
        <p:nvSpPr>
          <p:cNvPr id="16" name="Text 14"/>
          <p:cNvSpPr/>
          <p:nvPr/>
        </p:nvSpPr>
        <p:spPr>
          <a:xfrm>
            <a:off x="859536" y="3931920"/>
            <a:ext cx="4764024" cy="320040"/>
          </a:xfrm>
          <a:prstGeom prst="rect">
            <a:avLst/>
          </a:prstGeom>
          <a:noFill/>
          <a:ln/>
        </p:spPr>
        <p:txBody>
          <a:bodyPr wrap="square" lIns="0" tIns="0" rIns="0" bIns="0" rtlCol="0" anchor="ctr"/>
          <a:lstStyle/>
          <a:p>
            <a:pPr indent="0" marL="0">
              <a:buNone/>
            </a:pPr>
            <a:r>
              <a:rPr lang="en-US" sz="1500" b="1" dirty="0">
                <a:solidFill>
                  <a:srgbClr val="0F2A43"/>
                </a:solidFill>
                <a:latin typeface="Century Schoolbook" pitchFamily="34" charset="0"/>
                <a:ea typeface="Century Schoolbook" pitchFamily="34" charset="-122"/>
                <a:cs typeface="Century Schoolbook" pitchFamily="34" charset="-120"/>
              </a:rPr>
              <a:t>Running &amp; scope</a:t>
            </a:r>
            <a:endParaRPr lang="en-US" sz="1500" dirty="0"/>
          </a:p>
        </p:txBody>
      </p:sp>
      <p:sp>
        <p:nvSpPr>
          <p:cNvPr id="17" name="Text 15"/>
          <p:cNvSpPr/>
          <p:nvPr/>
        </p:nvSpPr>
        <p:spPr>
          <a:xfrm>
            <a:off x="896112" y="4315968"/>
            <a:ext cx="4690872" cy="1280160"/>
          </a:xfrm>
          <a:prstGeom prst="rect">
            <a:avLst/>
          </a:prstGeom>
          <a:noFill/>
          <a:ln/>
        </p:spPr>
        <p:txBody>
          <a:bodyPr wrap="square" lIns="0" tIns="0" rIns="0" bIns="0" rtlCol="0" anchor="ctr"/>
          <a:lstStyle/>
          <a:p>
            <a:pPr marL="165100" indent="-165100">
              <a:lnSpc>
                <a:spcPts val="1500"/>
              </a:lnSpc>
              <a:spcAft>
                <a:spcPts val="600"/>
              </a:spcAft>
              <a:buSzPct val="100000"/>
              <a:buChar char="•"/>
            </a:pPr>
            <a:r>
              <a:rPr lang="en-US" sz="1200" dirty="0">
                <a:solidFill>
                  <a:srgbClr val="18242F"/>
                </a:solidFill>
                <a:latin typeface="Calibri" pitchFamily="34" charset="0"/>
                <a:ea typeface="Calibri" pitchFamily="34" charset="-122"/>
                <a:cs typeface="Calibri" pitchFamily="34" charset="-120"/>
              </a:rPr>
              <a:t>Antihypertensive drip (e.g., nicardipine) — titration is Paramedic</a:t>
            </a:r>
            <a:endParaRPr lang="en-US" sz="1200" dirty="0"/>
          </a:p>
          <a:p>
            <a:pPr marL="165100" indent="-165100">
              <a:lnSpc>
                <a:spcPts val="1500"/>
              </a:lnSpc>
              <a:spcAft>
                <a:spcPts val="600"/>
              </a:spcAft>
              <a:buSzPct val="100000"/>
              <a:buChar char="•"/>
            </a:pPr>
            <a:r>
              <a:rPr lang="en-US" sz="1200" dirty="0">
                <a:solidFill>
                  <a:srgbClr val="18242F"/>
                </a:solidFill>
                <a:latin typeface="Calibri" pitchFamily="34" charset="0"/>
                <a:ea typeface="Calibri" pitchFamily="34" charset="-122"/>
                <a:cs typeface="Calibri" pitchFamily="34" charset="-120"/>
              </a:rPr>
              <a:t>Sedation infusion if intubated (PM); active seizure → midazolam (PM)</a:t>
            </a:r>
            <a:endParaRPr lang="en-US" sz="1200" dirty="0"/>
          </a:p>
          <a:p>
            <a:pPr marL="165100" indent="-165100">
              <a:lnSpc>
                <a:spcPts val="1500"/>
              </a:lnSpc>
              <a:spcAft>
                <a:spcPts val="600"/>
              </a:spcAft>
              <a:buSzPct val="100000"/>
              <a:buChar char="•"/>
            </a:pPr>
            <a:r>
              <a:rPr lang="en-US" sz="1200" dirty="0">
                <a:solidFill>
                  <a:srgbClr val="18242F"/>
                </a:solidFill>
                <a:latin typeface="Calibri" pitchFamily="34" charset="0"/>
                <a:ea typeface="Calibri" pitchFamily="34" charset="-122"/>
                <a:cs typeface="Calibri" pitchFamily="34" charset="-120"/>
              </a:rPr>
              <a:t>HOB 30°; avoid aggressive BP lowering in TBI</a:t>
            </a:r>
            <a:endParaRPr lang="en-US" sz="1200" dirty="0"/>
          </a:p>
        </p:txBody>
      </p:sp>
      <p:sp>
        <p:nvSpPr>
          <p:cNvPr id="18" name="Shape 16"/>
          <p:cNvSpPr/>
          <p:nvPr/>
        </p:nvSpPr>
        <p:spPr>
          <a:xfrm>
            <a:off x="6281928" y="3749040"/>
            <a:ext cx="5349240" cy="1965960"/>
          </a:xfrm>
          <a:prstGeom prst="roundRect">
            <a:avLst>
              <a:gd name="adj" fmla="val 3721"/>
            </a:avLst>
          </a:prstGeom>
          <a:solidFill>
            <a:srgbClr val="FBF0EF"/>
          </a:solidFill>
          <a:ln w="12700">
            <a:solidFill>
              <a:srgbClr val="E7C9C5"/>
            </a:solidFill>
            <a:prstDash val="solid"/>
          </a:ln>
        </p:spPr>
      </p:sp>
      <p:sp>
        <p:nvSpPr>
          <p:cNvPr id="19" name="Text 17"/>
          <p:cNvSpPr/>
          <p:nvPr/>
        </p:nvSpPr>
        <p:spPr>
          <a:xfrm>
            <a:off x="6574536" y="3931920"/>
            <a:ext cx="4764024" cy="320040"/>
          </a:xfrm>
          <a:prstGeom prst="rect">
            <a:avLst/>
          </a:prstGeom>
          <a:noFill/>
          <a:ln/>
        </p:spPr>
        <p:txBody>
          <a:bodyPr wrap="square" lIns="0" tIns="0" rIns="0" bIns="0" rtlCol="0" anchor="ctr"/>
          <a:lstStyle/>
          <a:p>
            <a:pPr indent="0" marL="0">
              <a:buNone/>
            </a:pPr>
            <a:r>
              <a:rPr lang="en-US" sz="1500" b="1" dirty="0">
                <a:solidFill>
                  <a:srgbClr val="B23A2E"/>
                </a:solidFill>
                <a:latin typeface="Century Schoolbook" pitchFamily="34" charset="0"/>
                <a:ea typeface="Century Schoolbook" pitchFamily="34" charset="-122"/>
                <a:cs typeface="Century Schoolbook" pitchFamily="34" charset="-120"/>
              </a:rPr>
              <a:t>Herniation = divert now</a:t>
            </a:r>
            <a:endParaRPr lang="en-US" sz="1500" dirty="0"/>
          </a:p>
        </p:txBody>
      </p:sp>
      <p:sp>
        <p:nvSpPr>
          <p:cNvPr id="20" name="Text 18"/>
          <p:cNvSpPr/>
          <p:nvPr/>
        </p:nvSpPr>
        <p:spPr>
          <a:xfrm>
            <a:off x="6611112" y="4315968"/>
            <a:ext cx="4690872" cy="1280160"/>
          </a:xfrm>
          <a:prstGeom prst="rect">
            <a:avLst/>
          </a:prstGeom>
          <a:noFill/>
          <a:ln/>
        </p:spPr>
        <p:txBody>
          <a:bodyPr wrap="square" lIns="0" tIns="0" rIns="0" bIns="0" rtlCol="0" anchor="ctr"/>
          <a:lstStyle/>
          <a:p>
            <a:pPr marL="165100" indent="-165100">
              <a:lnSpc>
                <a:spcPts val="1500"/>
              </a:lnSpc>
              <a:spcAft>
                <a:spcPts val="600"/>
              </a:spcAft>
              <a:buSzPct val="100000"/>
              <a:buChar char="•"/>
            </a:pPr>
            <a:r>
              <a:rPr lang="en-US" sz="1200" dirty="0">
                <a:solidFill>
                  <a:srgbClr val="18242F"/>
                </a:solidFill>
                <a:latin typeface="Calibri" pitchFamily="34" charset="0"/>
                <a:ea typeface="Calibri" pitchFamily="34" charset="-122"/>
                <a:cs typeface="Calibri" pitchFamily="34" charset="-120"/>
              </a:rPr>
              <a:t>Blown / unequal pupil, rapid GCS drop, posturing</a:t>
            </a:r>
            <a:endParaRPr lang="en-US" sz="1200" dirty="0"/>
          </a:p>
          <a:p>
            <a:pPr marL="165100" indent="-165100">
              <a:lnSpc>
                <a:spcPts val="1500"/>
              </a:lnSpc>
              <a:spcAft>
                <a:spcPts val="600"/>
              </a:spcAft>
              <a:buSzPct val="100000"/>
              <a:buChar char="•"/>
            </a:pPr>
            <a:r>
              <a:rPr lang="en-US" sz="1200" dirty="0">
                <a:solidFill>
                  <a:srgbClr val="18242F"/>
                </a:solidFill>
                <a:latin typeface="Calibri" pitchFamily="34" charset="0"/>
                <a:ea typeface="Calibri" pitchFamily="34" charset="-122"/>
                <a:cs typeface="Calibri" pitchFamily="34" charset="-120"/>
              </a:rPr>
              <a:t>Uncontrolled seizure or airway compromise</a:t>
            </a:r>
            <a:endParaRPr lang="en-US" sz="1200" dirty="0"/>
          </a:p>
          <a:p>
            <a:pPr marL="165100" indent="-165100">
              <a:lnSpc>
                <a:spcPts val="1500"/>
              </a:lnSpc>
              <a:spcAft>
                <a:spcPts val="600"/>
              </a:spcAft>
              <a:buSzPct val="100000"/>
              <a:buChar char="•"/>
            </a:pPr>
            <a:r>
              <a:rPr lang="en-US" sz="1200" dirty="0">
                <a:solidFill>
                  <a:srgbClr val="18242F"/>
                </a:solidFill>
                <a:latin typeface="Calibri" pitchFamily="34" charset="0"/>
                <a:ea typeface="Calibri" pitchFamily="34" charset="-122"/>
                <a:cs typeface="Calibri" pitchFamily="34" charset="-120"/>
              </a:rPr>
              <a:t>Only then, brief controlled hyperventilation if herniation imminent</a:t>
            </a:r>
            <a:endParaRPr lang="en-US" sz="1200" dirty="0"/>
          </a:p>
        </p:txBody>
      </p:sp>
      <p:sp>
        <p:nvSpPr>
          <p:cNvPr id="22" name="Text 19"/>
          <p:cNvSpPr/>
          <p:nvPr/>
        </p:nvSpPr>
        <p:spPr>
          <a:xfrm>
            <a:off x="566928" y="6455664"/>
            <a:ext cx="8229600" cy="274320"/>
          </a:xfrm>
          <a:prstGeom prst="rect">
            <a:avLst/>
          </a:prstGeom>
          <a:noFill/>
          <a:ln/>
        </p:spPr>
        <p:txBody>
          <a:bodyPr wrap="square" lIns="0" tIns="0" rIns="0" bIns="0"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AMR CES Academy  ·  Session 1  ·  Cardiac &amp; Neuro Deep Dive</a:t>
            </a:r>
            <a:endParaRPr lang="en-US" sz="900" dirty="0"/>
          </a:p>
        </p:txBody>
      </p:sp>
      <p:sp>
        <p:nvSpPr>
          <p:cNvPr id="23" name="Text 20"/>
          <p:cNvSpPr/>
          <p:nvPr/>
        </p:nvSpPr>
        <p:spPr>
          <a:xfrm>
            <a:off x="11076127" y="6455664"/>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566928" y="402336"/>
            <a:ext cx="109728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NEURO  ·  SEIZURE &amp; MASS EFFECT</a:t>
            </a:r>
            <a:endParaRPr lang="en-US" sz="1200" dirty="0"/>
          </a:p>
        </p:txBody>
      </p:sp>
      <p:sp>
        <p:nvSpPr>
          <p:cNvPr id="3" name="Text 1"/>
          <p:cNvSpPr/>
          <p:nvPr/>
        </p:nvSpPr>
        <p:spPr>
          <a:xfrm>
            <a:off x="566928" y="676656"/>
            <a:ext cx="11064240" cy="658368"/>
          </a:xfrm>
          <a:prstGeom prst="rect">
            <a:avLst/>
          </a:prstGeom>
          <a:noFill/>
          <a:ln/>
        </p:spPr>
        <p:txBody>
          <a:bodyPr wrap="square" lIns="0" tIns="0" rIns="0" bIns="0" rtlCol="0" anchor="ctr"/>
          <a:lstStyle/>
          <a:p>
            <a:pPr indent="0" marL="0">
              <a:buNone/>
            </a:pPr>
            <a:r>
              <a:rPr lang="en-US" sz="2900" b="1" dirty="0">
                <a:solidFill>
                  <a:srgbClr val="0F2A43"/>
                </a:solidFill>
                <a:latin typeface="Century Schoolbook" pitchFamily="34" charset="0"/>
                <a:ea typeface="Century Schoolbook" pitchFamily="34" charset="-122"/>
                <a:cs typeface="Century Schoolbook" pitchFamily="34" charset="-120"/>
              </a:rPr>
              <a:t>Seizure / status (II-11) &amp; brain tumor (II-12)</a:t>
            </a:r>
            <a:endParaRPr lang="en-US" sz="2900" dirty="0"/>
          </a:p>
        </p:txBody>
      </p:sp>
      <p:sp>
        <p:nvSpPr>
          <p:cNvPr id="4" name="Shape 2"/>
          <p:cNvSpPr/>
          <p:nvPr/>
        </p:nvSpPr>
        <p:spPr>
          <a:xfrm>
            <a:off x="566928" y="1645920"/>
            <a:ext cx="5349240" cy="3977640"/>
          </a:xfrm>
          <a:prstGeom prst="roundRect">
            <a:avLst>
              <a:gd name="adj" fmla="val 1839"/>
            </a:avLst>
          </a:prstGeom>
          <a:solidFill>
            <a:srgbClr val="FFFFFF"/>
          </a:solidFill>
          <a:ln w="12700">
            <a:solidFill>
              <a:srgbClr val="DDE4EB"/>
            </a:solidFill>
            <a:prstDash val="solid"/>
          </a:ln>
          <a:effectLst>
            <a:outerShdw sx="100000" sy="100000" kx="0" ky="0" algn="bl" rotWithShape="0" blurRad="88900" dist="38100" dir="5400000">
              <a:srgbClr val="1B2A38">
                <a:alpha val="12000"/>
              </a:srgbClr>
            </a:outerShdw>
          </a:effectLst>
        </p:spPr>
      </p:sp>
      <p:sp>
        <p:nvSpPr>
          <p:cNvPr id="5" name="Text 3"/>
          <p:cNvSpPr/>
          <p:nvPr/>
        </p:nvSpPr>
        <p:spPr>
          <a:xfrm>
            <a:off x="822960" y="1847088"/>
            <a:ext cx="4837176" cy="457200"/>
          </a:xfrm>
          <a:prstGeom prst="rect">
            <a:avLst/>
          </a:prstGeom>
          <a:noFill/>
          <a:ln/>
        </p:spPr>
        <p:txBody>
          <a:bodyPr wrap="square" lIns="0" tIns="0" rIns="0" bIns="0" rtlCol="0" anchor="ctr"/>
          <a:lstStyle/>
          <a:p>
            <a:pPr indent="0" marL="0">
              <a:buNone/>
            </a:pPr>
            <a:r>
              <a:rPr lang="en-US" sz="1600" b="1" dirty="0">
                <a:solidFill>
                  <a:srgbClr val="0F2A43"/>
                </a:solidFill>
                <a:latin typeface="Century Schoolbook" pitchFamily="34" charset="0"/>
                <a:ea typeface="Century Schoolbook" pitchFamily="34" charset="-122"/>
                <a:cs typeface="Century Schoolbook" pitchFamily="34" charset="-120"/>
              </a:rPr>
              <a:t>Seizure / status epilepticus (II-11)</a:t>
            </a:r>
            <a:endParaRPr lang="en-US" sz="1600" dirty="0"/>
          </a:p>
        </p:txBody>
      </p:sp>
      <p:sp>
        <p:nvSpPr>
          <p:cNvPr id="6" name="Text 4"/>
          <p:cNvSpPr/>
          <p:nvPr/>
        </p:nvSpPr>
        <p:spPr>
          <a:xfrm>
            <a:off x="4407408" y="1865376"/>
            <a:ext cx="1280160" cy="310896"/>
          </a:xfrm>
          <a:prstGeom prst="rect">
            <a:avLst/>
          </a:prstGeom>
          <a:noFill/>
          <a:ln/>
        </p:spPr>
        <p:txBody>
          <a:bodyPr wrap="square" lIns="0" tIns="0" rIns="0" bIns="0" rtlCol="0" anchor="ctr"/>
          <a:lstStyle/>
          <a:p>
            <a:pPr algn="r" indent="0" marL="0">
              <a:buNone/>
            </a:pPr>
            <a:r>
              <a:rPr lang="en-US" sz="950" b="1" spc="100" kern="0" dirty="0">
                <a:solidFill>
                  <a:srgbClr val="E0982E"/>
                </a:solidFill>
                <a:latin typeface="Calibri" pitchFamily="34" charset="0"/>
                <a:ea typeface="Calibri" pitchFamily="34" charset="-122"/>
                <a:cs typeface="Calibri" pitchFamily="34" charset="-120"/>
              </a:rPr>
              <a:t>PM if active</a:t>
            </a:r>
            <a:endParaRPr lang="en-US" sz="950" dirty="0"/>
          </a:p>
        </p:txBody>
      </p:sp>
      <p:sp>
        <p:nvSpPr>
          <p:cNvPr id="7" name="Text 5"/>
          <p:cNvSpPr/>
          <p:nvPr/>
        </p:nvSpPr>
        <p:spPr>
          <a:xfrm>
            <a:off x="822960" y="2395728"/>
            <a:ext cx="1417320" cy="1036320"/>
          </a:xfrm>
          <a:prstGeom prst="rect">
            <a:avLst/>
          </a:prstGeom>
          <a:noFill/>
          <a:ln/>
        </p:spPr>
        <p:txBody>
          <a:bodyPr wrap="square" lIns="0" tIns="0" rIns="0" bIns="0" rtlCol="0" anchor="t"/>
          <a:lstStyle/>
          <a:p>
            <a:pPr indent="0" marL="0">
              <a:buNone/>
            </a:pPr>
            <a:r>
              <a:rPr lang="en-US" sz="1000" b="1" spc="100" kern="0" dirty="0">
                <a:solidFill>
                  <a:srgbClr val="1C7293"/>
                </a:solidFill>
                <a:latin typeface="Calibri" pitchFamily="34" charset="0"/>
                <a:ea typeface="Calibri" pitchFamily="34" charset="-122"/>
                <a:cs typeface="Calibri" pitchFamily="34" charset="-120"/>
              </a:rPr>
              <a:t>RUNNING</a:t>
            </a:r>
            <a:endParaRPr lang="en-US" sz="1000" dirty="0"/>
          </a:p>
        </p:txBody>
      </p:sp>
      <p:sp>
        <p:nvSpPr>
          <p:cNvPr id="8" name="Text 6"/>
          <p:cNvSpPr/>
          <p:nvPr/>
        </p:nvSpPr>
        <p:spPr>
          <a:xfrm>
            <a:off x="2167128" y="2395728"/>
            <a:ext cx="3520440" cy="1036320"/>
          </a:xfrm>
          <a:prstGeom prst="rect">
            <a:avLst/>
          </a:prstGeom>
          <a:noFill/>
          <a:ln/>
        </p:spPr>
        <p:txBody>
          <a:bodyPr wrap="square" lIns="0" tIns="0" rIns="0" bIns="0" rtlCol="0" anchor="t"/>
          <a:lstStyle/>
          <a:p>
            <a:pPr indent="0" marL="0">
              <a:lnSpc>
                <a:spcPts val="1400"/>
              </a:lnSpc>
              <a:buNone/>
            </a:pPr>
            <a:r>
              <a:rPr lang="en-US" sz="1150" dirty="0">
                <a:solidFill>
                  <a:srgbClr val="18242F"/>
                </a:solidFill>
                <a:latin typeface="Calibri" pitchFamily="34" charset="0"/>
                <a:ea typeface="Calibri" pitchFamily="34" charset="-122"/>
                <a:cs typeface="Calibri" pitchFamily="34" charset="-120"/>
              </a:rPr>
              <a:t>Sedation infusion if intubated (ketamine/midazolam, PM-managed); O₂; IV</a:t>
            </a:r>
            <a:endParaRPr lang="en-US" sz="1150" dirty="0"/>
          </a:p>
        </p:txBody>
      </p:sp>
      <p:sp>
        <p:nvSpPr>
          <p:cNvPr id="9" name="Text 7"/>
          <p:cNvSpPr/>
          <p:nvPr/>
        </p:nvSpPr>
        <p:spPr>
          <a:xfrm>
            <a:off x="822960" y="3432048"/>
            <a:ext cx="1417320" cy="1036320"/>
          </a:xfrm>
          <a:prstGeom prst="rect">
            <a:avLst/>
          </a:prstGeom>
          <a:noFill/>
          <a:ln/>
        </p:spPr>
        <p:txBody>
          <a:bodyPr wrap="square" lIns="0" tIns="0" rIns="0" bIns="0" rtlCol="0" anchor="t"/>
          <a:lstStyle/>
          <a:p>
            <a:pPr indent="0" marL="0">
              <a:buNone/>
            </a:pPr>
            <a:r>
              <a:rPr lang="en-US" sz="1000" b="1" spc="100" kern="0" dirty="0">
                <a:solidFill>
                  <a:srgbClr val="E0982E"/>
                </a:solidFill>
                <a:latin typeface="Calibri" pitchFamily="34" charset="0"/>
                <a:ea typeface="Calibri" pitchFamily="34" charset="-122"/>
                <a:cs typeface="Calibri" pitchFamily="34" charset="-120"/>
              </a:rPr>
              <a:t>SCOPE LINE</a:t>
            </a:r>
            <a:endParaRPr lang="en-US" sz="1000" dirty="0"/>
          </a:p>
        </p:txBody>
      </p:sp>
      <p:sp>
        <p:nvSpPr>
          <p:cNvPr id="10" name="Text 8"/>
          <p:cNvSpPr/>
          <p:nvPr/>
        </p:nvSpPr>
        <p:spPr>
          <a:xfrm>
            <a:off x="2167128" y="3432048"/>
            <a:ext cx="3520440" cy="1036320"/>
          </a:xfrm>
          <a:prstGeom prst="rect">
            <a:avLst/>
          </a:prstGeom>
          <a:noFill/>
          <a:ln/>
        </p:spPr>
        <p:txBody>
          <a:bodyPr wrap="square" lIns="0" tIns="0" rIns="0" bIns="0" rtlCol="0" anchor="t"/>
          <a:lstStyle/>
          <a:p>
            <a:pPr indent="0" marL="0">
              <a:lnSpc>
                <a:spcPts val="1400"/>
              </a:lnSpc>
              <a:buNone/>
            </a:pPr>
            <a:r>
              <a:rPr lang="en-US" sz="1150" dirty="0">
                <a:solidFill>
                  <a:srgbClr val="18242F"/>
                </a:solidFill>
                <a:latin typeface="Calibri" pitchFamily="34" charset="0"/>
                <a:ea typeface="Calibri" pitchFamily="34" charset="-122"/>
                <a:cs typeface="Calibri" pitchFamily="34" charset="-120"/>
              </a:rPr>
              <a:t>Active seizure: midazolam 2–5 mg IV = Paramedic. AEMT preps the med + checks glucose. EMT: lateral position, protect from injury, don't restrain.</a:t>
            </a:r>
            <a:endParaRPr lang="en-US" sz="1150" dirty="0"/>
          </a:p>
        </p:txBody>
      </p:sp>
      <p:sp>
        <p:nvSpPr>
          <p:cNvPr id="11" name="Text 9"/>
          <p:cNvSpPr/>
          <p:nvPr/>
        </p:nvSpPr>
        <p:spPr>
          <a:xfrm>
            <a:off x="822960" y="4468368"/>
            <a:ext cx="1417320" cy="1036320"/>
          </a:xfrm>
          <a:prstGeom prst="rect">
            <a:avLst/>
          </a:prstGeom>
          <a:noFill/>
          <a:ln/>
        </p:spPr>
        <p:txBody>
          <a:bodyPr wrap="square" lIns="0" tIns="0" rIns="0" bIns="0" rtlCol="0" anchor="t"/>
          <a:lstStyle/>
          <a:p>
            <a:pPr indent="0" marL="0">
              <a:buNone/>
            </a:pPr>
            <a:r>
              <a:rPr lang="en-US" sz="1000" b="1" spc="100" kern="0" dirty="0">
                <a:solidFill>
                  <a:srgbClr val="B23A2E"/>
                </a:solidFill>
                <a:latin typeface="Calibri" pitchFamily="34" charset="0"/>
                <a:ea typeface="Calibri" pitchFamily="34" charset="-122"/>
                <a:cs typeface="Calibri" pitchFamily="34" charset="-120"/>
              </a:rPr>
              <a:t>WATCH FOR</a:t>
            </a:r>
            <a:endParaRPr lang="en-US" sz="1000" dirty="0"/>
          </a:p>
        </p:txBody>
      </p:sp>
      <p:sp>
        <p:nvSpPr>
          <p:cNvPr id="12" name="Text 10"/>
          <p:cNvSpPr/>
          <p:nvPr/>
        </p:nvSpPr>
        <p:spPr>
          <a:xfrm>
            <a:off x="2167128" y="4468368"/>
            <a:ext cx="3520440" cy="1036320"/>
          </a:xfrm>
          <a:prstGeom prst="rect">
            <a:avLst/>
          </a:prstGeom>
          <a:noFill/>
          <a:ln/>
        </p:spPr>
        <p:txBody>
          <a:bodyPr wrap="square" lIns="0" tIns="0" rIns="0" bIns="0" rtlCol="0" anchor="t"/>
          <a:lstStyle/>
          <a:p>
            <a:pPr indent="0" marL="0">
              <a:lnSpc>
                <a:spcPts val="1400"/>
              </a:lnSpc>
              <a:buNone/>
            </a:pPr>
            <a:r>
              <a:rPr lang="en-US" sz="1150" dirty="0">
                <a:solidFill>
                  <a:srgbClr val="18242F"/>
                </a:solidFill>
                <a:latin typeface="Calibri" pitchFamily="34" charset="0"/>
                <a:ea typeface="Calibri" pitchFamily="34" charset="-122"/>
                <a:cs typeface="Calibri" pitchFamily="34" charset="-120"/>
              </a:rPr>
              <a:t>Recurrent/prolonged seizure, hypoventilation/apnea, aspiration, post-ictal airway</a:t>
            </a:r>
            <a:endParaRPr lang="en-US" sz="1150" dirty="0"/>
          </a:p>
        </p:txBody>
      </p:sp>
      <p:sp>
        <p:nvSpPr>
          <p:cNvPr id="13" name="Shape 11"/>
          <p:cNvSpPr/>
          <p:nvPr/>
        </p:nvSpPr>
        <p:spPr>
          <a:xfrm>
            <a:off x="6281928" y="1645920"/>
            <a:ext cx="5349240" cy="3977640"/>
          </a:xfrm>
          <a:prstGeom prst="roundRect">
            <a:avLst>
              <a:gd name="adj" fmla="val 1839"/>
            </a:avLst>
          </a:prstGeom>
          <a:solidFill>
            <a:srgbClr val="FFFFFF"/>
          </a:solidFill>
          <a:ln w="12700">
            <a:solidFill>
              <a:srgbClr val="DDE4EB"/>
            </a:solidFill>
            <a:prstDash val="solid"/>
          </a:ln>
          <a:effectLst>
            <a:outerShdw sx="100000" sy="100000" kx="0" ky="0" algn="bl" rotWithShape="0" blurRad="88900" dist="38100" dir="5400000">
              <a:srgbClr val="1B2A38">
                <a:alpha val="12000"/>
              </a:srgbClr>
            </a:outerShdw>
          </a:effectLst>
        </p:spPr>
      </p:sp>
      <p:sp>
        <p:nvSpPr>
          <p:cNvPr id="14" name="Text 12"/>
          <p:cNvSpPr/>
          <p:nvPr/>
        </p:nvSpPr>
        <p:spPr>
          <a:xfrm>
            <a:off x="6537960" y="1847088"/>
            <a:ext cx="4837176" cy="457200"/>
          </a:xfrm>
          <a:prstGeom prst="rect">
            <a:avLst/>
          </a:prstGeom>
          <a:noFill/>
          <a:ln/>
        </p:spPr>
        <p:txBody>
          <a:bodyPr wrap="square" lIns="0" tIns="0" rIns="0" bIns="0" rtlCol="0" anchor="ctr"/>
          <a:lstStyle/>
          <a:p>
            <a:pPr indent="0" marL="0">
              <a:buNone/>
            </a:pPr>
            <a:r>
              <a:rPr lang="en-US" sz="1600" b="1" dirty="0">
                <a:solidFill>
                  <a:srgbClr val="0F2A43"/>
                </a:solidFill>
                <a:latin typeface="Century Schoolbook" pitchFamily="34" charset="0"/>
                <a:ea typeface="Century Schoolbook" pitchFamily="34" charset="-122"/>
                <a:cs typeface="Century Schoolbook" pitchFamily="34" charset="-120"/>
              </a:rPr>
              <a:t>Brain tumor / mass effect (II-12)</a:t>
            </a:r>
            <a:endParaRPr lang="en-US" sz="1600" dirty="0"/>
          </a:p>
        </p:txBody>
      </p:sp>
      <p:sp>
        <p:nvSpPr>
          <p:cNvPr id="15" name="Text 13"/>
          <p:cNvSpPr/>
          <p:nvPr/>
        </p:nvSpPr>
        <p:spPr>
          <a:xfrm>
            <a:off x="10122408" y="1865376"/>
            <a:ext cx="1280160" cy="310896"/>
          </a:xfrm>
          <a:prstGeom prst="rect">
            <a:avLst/>
          </a:prstGeom>
          <a:noFill/>
          <a:ln/>
        </p:spPr>
        <p:txBody>
          <a:bodyPr wrap="square" lIns="0" tIns="0" rIns="0" bIns="0" rtlCol="0" anchor="ctr"/>
          <a:lstStyle/>
          <a:p>
            <a:pPr algn="r" indent="0" marL="0">
              <a:buNone/>
            </a:pPr>
            <a:r>
              <a:rPr lang="en-US" sz="950" b="1" spc="100" kern="0" dirty="0">
                <a:solidFill>
                  <a:srgbClr val="1C7293"/>
                </a:solidFill>
                <a:latin typeface="Calibri" pitchFamily="34" charset="0"/>
                <a:ea typeface="Calibri" pitchFamily="34" charset="-122"/>
                <a:cs typeface="Calibri" pitchFamily="34" charset="-120"/>
              </a:rPr>
              <a:t>Monitored</a:t>
            </a:r>
            <a:endParaRPr lang="en-US" sz="950" dirty="0"/>
          </a:p>
        </p:txBody>
      </p:sp>
      <p:sp>
        <p:nvSpPr>
          <p:cNvPr id="16" name="Text 14"/>
          <p:cNvSpPr/>
          <p:nvPr/>
        </p:nvSpPr>
        <p:spPr>
          <a:xfrm>
            <a:off x="6537960" y="2395728"/>
            <a:ext cx="1417320" cy="1036320"/>
          </a:xfrm>
          <a:prstGeom prst="rect">
            <a:avLst/>
          </a:prstGeom>
          <a:noFill/>
          <a:ln/>
        </p:spPr>
        <p:txBody>
          <a:bodyPr wrap="square" lIns="0" tIns="0" rIns="0" bIns="0" rtlCol="0" anchor="t"/>
          <a:lstStyle/>
          <a:p>
            <a:pPr indent="0" marL="0">
              <a:buNone/>
            </a:pPr>
            <a:r>
              <a:rPr lang="en-US" sz="1000" b="1" spc="100" kern="0" dirty="0">
                <a:solidFill>
                  <a:srgbClr val="1C7293"/>
                </a:solidFill>
                <a:latin typeface="Calibri" pitchFamily="34" charset="0"/>
                <a:ea typeface="Calibri" pitchFamily="34" charset="-122"/>
                <a:cs typeface="Calibri" pitchFamily="34" charset="-120"/>
              </a:rPr>
              <a:t>RUNNING</a:t>
            </a:r>
            <a:endParaRPr lang="en-US" sz="1000" dirty="0"/>
          </a:p>
        </p:txBody>
      </p:sp>
      <p:sp>
        <p:nvSpPr>
          <p:cNvPr id="17" name="Text 15"/>
          <p:cNvSpPr/>
          <p:nvPr/>
        </p:nvSpPr>
        <p:spPr>
          <a:xfrm>
            <a:off x="7882128" y="2395728"/>
            <a:ext cx="3520440" cy="1036320"/>
          </a:xfrm>
          <a:prstGeom prst="rect">
            <a:avLst/>
          </a:prstGeom>
          <a:noFill/>
          <a:ln/>
        </p:spPr>
        <p:txBody>
          <a:bodyPr wrap="square" lIns="0" tIns="0" rIns="0" bIns="0" rtlCol="0" anchor="t"/>
          <a:lstStyle/>
          <a:p>
            <a:pPr indent="0" marL="0">
              <a:lnSpc>
                <a:spcPts val="1400"/>
              </a:lnSpc>
              <a:buNone/>
            </a:pPr>
            <a:r>
              <a:rPr lang="en-US" sz="1150" dirty="0">
                <a:solidFill>
                  <a:srgbClr val="18242F"/>
                </a:solidFill>
                <a:latin typeface="Calibri" pitchFamily="34" charset="0"/>
                <a:ea typeface="Calibri" pitchFamily="34" charset="-122"/>
                <a:cs typeface="Calibri" pitchFamily="34" charset="-120"/>
              </a:rPr>
              <a:t>Dexamethasone, IV fluids, seizure prophylaxis; sedation if intubated</a:t>
            </a:r>
            <a:endParaRPr lang="en-US" sz="1150" dirty="0"/>
          </a:p>
        </p:txBody>
      </p:sp>
      <p:sp>
        <p:nvSpPr>
          <p:cNvPr id="18" name="Text 16"/>
          <p:cNvSpPr/>
          <p:nvPr/>
        </p:nvSpPr>
        <p:spPr>
          <a:xfrm>
            <a:off x="6537960" y="3432048"/>
            <a:ext cx="1417320" cy="1036320"/>
          </a:xfrm>
          <a:prstGeom prst="rect">
            <a:avLst/>
          </a:prstGeom>
          <a:noFill/>
          <a:ln/>
        </p:spPr>
        <p:txBody>
          <a:bodyPr wrap="square" lIns="0" tIns="0" rIns="0" bIns="0" rtlCol="0" anchor="t"/>
          <a:lstStyle/>
          <a:p>
            <a:pPr indent="0" marL="0">
              <a:buNone/>
            </a:pPr>
            <a:r>
              <a:rPr lang="en-US" sz="1000" b="1" spc="100" kern="0" dirty="0">
                <a:solidFill>
                  <a:srgbClr val="E0982E"/>
                </a:solidFill>
                <a:latin typeface="Calibri" pitchFamily="34" charset="0"/>
                <a:ea typeface="Calibri" pitchFamily="34" charset="-122"/>
                <a:cs typeface="Calibri" pitchFamily="34" charset="-120"/>
              </a:rPr>
              <a:t>SCOPE LINE</a:t>
            </a:r>
            <a:endParaRPr lang="en-US" sz="1000" dirty="0"/>
          </a:p>
        </p:txBody>
      </p:sp>
      <p:sp>
        <p:nvSpPr>
          <p:cNvPr id="19" name="Text 17"/>
          <p:cNvSpPr/>
          <p:nvPr/>
        </p:nvSpPr>
        <p:spPr>
          <a:xfrm>
            <a:off x="7882128" y="3432048"/>
            <a:ext cx="3520440" cy="1036320"/>
          </a:xfrm>
          <a:prstGeom prst="rect">
            <a:avLst/>
          </a:prstGeom>
          <a:noFill/>
          <a:ln/>
        </p:spPr>
        <p:txBody>
          <a:bodyPr wrap="square" lIns="0" tIns="0" rIns="0" bIns="0" rtlCol="0" anchor="t"/>
          <a:lstStyle/>
          <a:p>
            <a:pPr indent="0" marL="0">
              <a:lnSpc>
                <a:spcPts val="1400"/>
              </a:lnSpc>
              <a:buNone/>
            </a:pPr>
            <a:r>
              <a:rPr lang="en-US" sz="1150" dirty="0">
                <a:solidFill>
                  <a:srgbClr val="18242F"/>
                </a:solidFill>
                <a:latin typeface="Calibri" pitchFamily="34" charset="0"/>
                <a:ea typeface="Calibri" pitchFamily="34" charset="-122"/>
                <a:cs typeface="Calibri" pitchFamily="34" charset="-120"/>
              </a:rPr>
              <a:t>Usually the lowest-acuity neuro transfer — but still monitored. Seizure or GCS ≤8 escalates it fast. Midazolam for active seizure = Paramedic.</a:t>
            </a:r>
            <a:endParaRPr lang="en-US" sz="1150" dirty="0"/>
          </a:p>
        </p:txBody>
      </p:sp>
      <p:sp>
        <p:nvSpPr>
          <p:cNvPr id="20" name="Text 18"/>
          <p:cNvSpPr/>
          <p:nvPr/>
        </p:nvSpPr>
        <p:spPr>
          <a:xfrm>
            <a:off x="6537960" y="4468368"/>
            <a:ext cx="1417320" cy="1036320"/>
          </a:xfrm>
          <a:prstGeom prst="rect">
            <a:avLst/>
          </a:prstGeom>
          <a:noFill/>
          <a:ln/>
        </p:spPr>
        <p:txBody>
          <a:bodyPr wrap="square" lIns="0" tIns="0" rIns="0" bIns="0" rtlCol="0" anchor="t"/>
          <a:lstStyle/>
          <a:p>
            <a:pPr indent="0" marL="0">
              <a:buNone/>
            </a:pPr>
            <a:r>
              <a:rPr lang="en-US" sz="1000" b="1" spc="100" kern="0" dirty="0">
                <a:solidFill>
                  <a:srgbClr val="B23A2E"/>
                </a:solidFill>
                <a:latin typeface="Calibri" pitchFamily="34" charset="0"/>
                <a:ea typeface="Calibri" pitchFamily="34" charset="-122"/>
                <a:cs typeface="Calibri" pitchFamily="34" charset="-120"/>
              </a:rPr>
              <a:t>WATCH FOR</a:t>
            </a:r>
            <a:endParaRPr lang="en-US" sz="1000" dirty="0"/>
          </a:p>
        </p:txBody>
      </p:sp>
      <p:sp>
        <p:nvSpPr>
          <p:cNvPr id="21" name="Text 19"/>
          <p:cNvSpPr/>
          <p:nvPr/>
        </p:nvSpPr>
        <p:spPr>
          <a:xfrm>
            <a:off x="7882128" y="4468368"/>
            <a:ext cx="3520440" cy="1036320"/>
          </a:xfrm>
          <a:prstGeom prst="rect">
            <a:avLst/>
          </a:prstGeom>
          <a:noFill/>
          <a:ln/>
        </p:spPr>
        <p:txBody>
          <a:bodyPr wrap="square" lIns="0" tIns="0" rIns="0" bIns="0" rtlCol="0" anchor="t"/>
          <a:lstStyle/>
          <a:p>
            <a:pPr indent="0" marL="0">
              <a:lnSpc>
                <a:spcPts val="1400"/>
              </a:lnSpc>
              <a:buNone/>
            </a:pPr>
            <a:r>
              <a:rPr lang="en-US" sz="1150" dirty="0">
                <a:solidFill>
                  <a:srgbClr val="18242F"/>
                </a:solidFill>
                <a:latin typeface="Calibri" pitchFamily="34" charset="0"/>
                <a:ea typeface="Calibri" pitchFamily="34" charset="-122"/>
                <a:cs typeface="Calibri" pitchFamily="34" charset="-120"/>
              </a:rPr>
              <a:t>Progressive GCS decline, seizure, vomiting/aspiration, herniation signs</a:t>
            </a:r>
            <a:endParaRPr lang="en-US" sz="1150" dirty="0"/>
          </a:p>
        </p:txBody>
      </p:sp>
      <p:sp>
        <p:nvSpPr>
          <p:cNvPr id="22" name="Text 20"/>
          <p:cNvSpPr/>
          <p:nvPr/>
        </p:nvSpPr>
        <p:spPr>
          <a:xfrm>
            <a:off x="566928" y="5852160"/>
            <a:ext cx="11064240" cy="457200"/>
          </a:xfrm>
          <a:prstGeom prst="rect">
            <a:avLst/>
          </a:prstGeom>
          <a:noFill/>
          <a:ln/>
        </p:spPr>
        <p:txBody>
          <a:bodyPr wrap="square" lIns="0" tIns="0" rIns="0" bIns="0" rtlCol="0" anchor="ctr"/>
          <a:lstStyle/>
          <a:p>
            <a:pPr algn="ctr" indent="0" marL="0">
              <a:buNone/>
            </a:pPr>
            <a:r>
              <a:rPr lang="en-US" sz="1300" b="1" i="1" dirty="0">
                <a:solidFill>
                  <a:srgbClr val="0F2A43"/>
                </a:solidFill>
                <a:latin typeface="Calibri" pitchFamily="34" charset="0"/>
                <a:ea typeface="Calibri" pitchFamily="34" charset="-122"/>
                <a:cs typeface="Calibri" pitchFamily="34" charset="-120"/>
              </a:rPr>
              <a:t>Status epilepticus = </a:t>
            </a:r>
            <a:pPr algn="ctr" indent="0" marL="0">
              <a:buNone/>
            </a:pPr>
            <a:r>
              <a:rPr lang="en-US" sz="1300" i="1" dirty="0">
                <a:solidFill>
                  <a:srgbClr val="18242F"/>
                </a:solidFill>
                <a:latin typeface="Calibri" pitchFamily="34" charset="0"/>
                <a:ea typeface="Calibri" pitchFamily="34" charset="-122"/>
                <a:cs typeface="Calibri" pitchFamily="34" charset="-120"/>
              </a:rPr>
              <a:t>≥5 minutes of continuous seizure, or recurrent seizures without return to baseline. Treat it as the emergency it is — and remember the airway is what kills.</a:t>
            </a:r>
            <a:endParaRPr lang="en-US" sz="1300" dirty="0"/>
          </a:p>
        </p:txBody>
      </p:sp>
      <p:sp>
        <p:nvSpPr>
          <p:cNvPr id="24" name="Text 21"/>
          <p:cNvSpPr/>
          <p:nvPr/>
        </p:nvSpPr>
        <p:spPr>
          <a:xfrm>
            <a:off x="566928" y="6455664"/>
            <a:ext cx="8229600" cy="274320"/>
          </a:xfrm>
          <a:prstGeom prst="rect">
            <a:avLst/>
          </a:prstGeom>
          <a:noFill/>
          <a:ln/>
        </p:spPr>
        <p:txBody>
          <a:bodyPr wrap="square" lIns="0" tIns="0" rIns="0" bIns="0"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AMR CES Academy  ·  Session 1  ·  Cardiac &amp; Neuro Deep Dive</a:t>
            </a:r>
            <a:endParaRPr lang="en-US" sz="900" dirty="0"/>
          </a:p>
        </p:txBody>
      </p:sp>
      <p:sp>
        <p:nvSpPr>
          <p:cNvPr id="25" name="Text 22"/>
          <p:cNvSpPr/>
          <p:nvPr/>
        </p:nvSpPr>
        <p:spPr>
          <a:xfrm>
            <a:off x="11076127" y="6455664"/>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566928" y="402336"/>
            <a:ext cx="109728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SCOPE LINE</a:t>
            </a:r>
            <a:endParaRPr lang="en-US" sz="1200" dirty="0"/>
          </a:p>
        </p:txBody>
      </p:sp>
      <p:sp>
        <p:nvSpPr>
          <p:cNvPr id="3" name="Text 1"/>
          <p:cNvSpPr/>
          <p:nvPr/>
        </p:nvSpPr>
        <p:spPr>
          <a:xfrm>
            <a:off x="566928" y="676656"/>
            <a:ext cx="11064240" cy="658368"/>
          </a:xfrm>
          <a:prstGeom prst="rect">
            <a:avLst/>
          </a:prstGeom>
          <a:noFill/>
          <a:ln/>
        </p:spPr>
        <p:txBody>
          <a:bodyPr wrap="square" lIns="0" tIns="0" rIns="0" bIns="0" rtlCol="0" anchor="ctr"/>
          <a:lstStyle/>
          <a:p>
            <a:pPr indent="0" marL="0">
              <a:buNone/>
            </a:pPr>
            <a:r>
              <a:rPr lang="en-US" sz="2900" b="1" dirty="0">
                <a:solidFill>
                  <a:srgbClr val="0F2A43"/>
                </a:solidFill>
                <a:latin typeface="Century Schoolbook" pitchFamily="34" charset="0"/>
                <a:ea typeface="Century Schoolbook" pitchFamily="34" charset="-122"/>
                <a:cs typeface="Century Schoolbook" pitchFamily="34" charset="-120"/>
              </a:rPr>
              <a:t>What takes it from AEMT to Paramedic</a:t>
            </a:r>
            <a:endParaRPr lang="en-US" sz="2900" dirty="0"/>
          </a:p>
        </p:txBody>
      </p:sp>
      <p:sp>
        <p:nvSpPr>
          <p:cNvPr id="4" name="Text 2"/>
          <p:cNvSpPr/>
          <p:nvPr/>
        </p:nvSpPr>
        <p:spPr>
          <a:xfrm>
            <a:off x="566928" y="1417320"/>
            <a:ext cx="11064240" cy="36576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Across every cardiac and neuro call type, the same handful of things force a Paramedic crew. This is the card-sort key.</a:t>
            </a:r>
            <a:endParaRPr lang="en-US" sz="1400" dirty="0"/>
          </a:p>
        </p:txBody>
      </p:sp>
      <p:sp>
        <p:nvSpPr>
          <p:cNvPr id="5" name="Shape 3"/>
          <p:cNvSpPr/>
          <p:nvPr/>
        </p:nvSpPr>
        <p:spPr>
          <a:xfrm>
            <a:off x="566928" y="1920240"/>
            <a:ext cx="5349240" cy="3703320"/>
          </a:xfrm>
          <a:prstGeom prst="roundRect">
            <a:avLst>
              <a:gd name="adj" fmla="val 1975"/>
            </a:avLst>
          </a:prstGeom>
          <a:solidFill>
            <a:srgbClr val="F0F6F0"/>
          </a:solidFill>
          <a:ln w="12700">
            <a:solidFill>
              <a:srgbClr val="CBE0CB"/>
            </a:solidFill>
            <a:prstDash val="solid"/>
          </a:ln>
          <a:effectLst>
            <a:outerShdw sx="100000" sy="100000" kx="0" ky="0" algn="bl" rotWithShape="0" blurRad="88900" dist="38100" dir="5400000">
              <a:srgbClr val="1B2A38">
                <a:alpha val="12000"/>
              </a:srgbClr>
            </a:outerShdw>
          </a:effectLst>
        </p:spPr>
      </p:sp>
      <p:sp>
        <p:nvSpPr>
          <p:cNvPr id="6" name="Text 4"/>
          <p:cNvSpPr/>
          <p:nvPr/>
        </p:nvSpPr>
        <p:spPr>
          <a:xfrm>
            <a:off x="886968" y="2176272"/>
            <a:ext cx="4709160" cy="457200"/>
          </a:xfrm>
          <a:prstGeom prst="rect">
            <a:avLst/>
          </a:prstGeom>
          <a:noFill/>
          <a:ln/>
        </p:spPr>
        <p:txBody>
          <a:bodyPr wrap="square" lIns="0" tIns="0" rIns="0" bIns="0" rtlCol="0" anchor="ctr"/>
          <a:lstStyle/>
          <a:p>
            <a:pPr indent="0" marL="0">
              <a:buNone/>
            </a:pPr>
            <a:r>
              <a:rPr lang="en-US" sz="1700" b="1" dirty="0">
                <a:solidFill>
                  <a:srgbClr val="2E7D46"/>
                </a:solidFill>
                <a:latin typeface="Century Schoolbook" pitchFamily="34" charset="0"/>
                <a:ea typeface="Century Schoolbook" pitchFamily="34" charset="-122"/>
                <a:cs typeface="Century Schoolbook" pitchFamily="34" charset="-120"/>
              </a:rPr>
              <a:t>An AEMT crew CAN take it when…</a:t>
            </a:r>
            <a:endParaRPr lang="en-US" sz="1700" dirty="0"/>
          </a:p>
        </p:txBody>
      </p:sp>
      <p:sp>
        <p:nvSpPr>
          <p:cNvPr id="7" name="Text 5"/>
          <p:cNvSpPr/>
          <p:nvPr/>
        </p:nvSpPr>
        <p:spPr>
          <a:xfrm>
            <a:off x="932688" y="2743200"/>
            <a:ext cx="4617720" cy="2743200"/>
          </a:xfrm>
          <a:prstGeom prst="rect">
            <a:avLst/>
          </a:prstGeom>
          <a:noFill/>
          <a:ln/>
        </p:spPr>
        <p:txBody>
          <a:bodyPr wrap="square" lIns="0" tIns="0" rIns="0" bIns="0" rtlCol="0" anchor="ctr"/>
          <a:lstStyle/>
          <a:p>
            <a:pPr marL="165100" indent="-165100">
              <a:lnSpc>
                <a:spcPts val="1800"/>
              </a:lnSpc>
              <a:spcAft>
                <a:spcPts val="900"/>
              </a:spcAft>
              <a:buSzPct val="100000"/>
              <a:buChar char="•"/>
            </a:pPr>
            <a:r>
              <a:rPr lang="en-US" sz="1350" dirty="0">
                <a:solidFill>
                  <a:srgbClr val="18242F"/>
                </a:solidFill>
                <a:latin typeface="Calibri" pitchFamily="34" charset="0"/>
                <a:ea typeface="Calibri" pitchFamily="34" charset="-122"/>
                <a:cs typeface="Calibri" pitchFamily="34" charset="-120"/>
              </a:rPr>
              <a:t>Monitoring, IV/IO access, and IV push meds in formulary</a:t>
            </a:r>
            <a:endParaRPr lang="en-US" sz="1350" dirty="0"/>
          </a:p>
          <a:p>
            <a:pPr marL="165100" indent="-165100">
              <a:lnSpc>
                <a:spcPts val="1800"/>
              </a:lnSpc>
              <a:spcAft>
                <a:spcPts val="900"/>
              </a:spcAft>
              <a:buSzPct val="100000"/>
              <a:buChar char="•"/>
            </a:pPr>
            <a:r>
              <a:rPr lang="en-US" sz="1350" dirty="0">
                <a:solidFill>
                  <a:srgbClr val="18242F"/>
                </a:solidFill>
                <a:latin typeface="Calibri" pitchFamily="34" charset="0"/>
                <a:ea typeface="Calibri" pitchFamily="34" charset="-122"/>
                <a:cs typeface="Calibri" pitchFamily="34" charset="-120"/>
              </a:rPr>
              <a:t>12-lead acquisition + STEMI recognition</a:t>
            </a:r>
            <a:endParaRPr lang="en-US" sz="1350" dirty="0"/>
          </a:p>
          <a:p>
            <a:pPr marL="165100" indent="-165100">
              <a:lnSpc>
                <a:spcPts val="1800"/>
              </a:lnSpc>
              <a:spcAft>
                <a:spcPts val="900"/>
              </a:spcAft>
              <a:buSzPct val="100000"/>
              <a:buChar char="•"/>
            </a:pPr>
            <a:r>
              <a:rPr lang="en-US" sz="1350" dirty="0">
                <a:solidFill>
                  <a:srgbClr val="18242F"/>
                </a:solidFill>
                <a:latin typeface="Calibri" pitchFamily="34" charset="0"/>
                <a:ea typeface="Calibri" pitchFamily="34" charset="-122"/>
                <a:cs typeface="Calibri" pitchFamily="34" charset="-120"/>
              </a:rPr>
              <a:t>CPAP assist and upright positioning</a:t>
            </a:r>
            <a:endParaRPr lang="en-US" sz="1350" dirty="0"/>
          </a:p>
          <a:p>
            <a:pPr marL="165100" indent="-165100">
              <a:lnSpc>
                <a:spcPts val="1800"/>
              </a:lnSpc>
              <a:spcAft>
                <a:spcPts val="900"/>
              </a:spcAft>
              <a:buSzPct val="100000"/>
              <a:buChar char="•"/>
            </a:pPr>
            <a:r>
              <a:rPr lang="en-US" sz="1350" dirty="0">
                <a:solidFill>
                  <a:srgbClr val="18242F"/>
                </a:solidFill>
                <a:latin typeface="Calibri" pitchFamily="34" charset="0"/>
                <a:ea typeface="Calibri" pitchFamily="34" charset="-122"/>
                <a:cs typeface="Calibri" pitchFamily="34" charset="-120"/>
              </a:rPr>
              <a:t>Patient is stable, converted, and nothing is titrating</a:t>
            </a:r>
            <a:endParaRPr lang="en-US" sz="1350" dirty="0"/>
          </a:p>
          <a:p>
            <a:pPr marL="165100" indent="-165100">
              <a:lnSpc>
                <a:spcPts val="1800"/>
              </a:lnSpc>
              <a:spcAft>
                <a:spcPts val="900"/>
              </a:spcAft>
              <a:buSzPct val="100000"/>
              <a:buChar char="•"/>
            </a:pPr>
            <a:r>
              <a:rPr lang="en-US" sz="1350" dirty="0">
                <a:solidFill>
                  <a:srgbClr val="18242F"/>
                </a:solidFill>
                <a:latin typeface="Calibri" pitchFamily="34" charset="0"/>
                <a:ea typeface="Calibri" pitchFamily="34" charset="-122"/>
                <a:cs typeface="Calibri" pitchFamily="34" charset="-120"/>
              </a:rPr>
              <a:t>Glucose check + dextrose; airway-protective positioning</a:t>
            </a:r>
            <a:endParaRPr lang="en-US" sz="1350" dirty="0"/>
          </a:p>
        </p:txBody>
      </p:sp>
      <p:sp>
        <p:nvSpPr>
          <p:cNvPr id="8" name="Shape 6"/>
          <p:cNvSpPr/>
          <p:nvPr/>
        </p:nvSpPr>
        <p:spPr>
          <a:xfrm>
            <a:off x="6281928" y="1920240"/>
            <a:ext cx="5349240" cy="3703320"/>
          </a:xfrm>
          <a:prstGeom prst="roundRect">
            <a:avLst>
              <a:gd name="adj" fmla="val 1975"/>
            </a:avLst>
          </a:prstGeom>
          <a:solidFill>
            <a:srgbClr val="0F2A43"/>
          </a:solidFill>
          <a:ln/>
          <a:effectLst>
            <a:outerShdw sx="100000" sy="100000" kx="0" ky="0" algn="bl" rotWithShape="0" blurRad="88900" dist="38100" dir="5400000">
              <a:srgbClr val="1B2A38">
                <a:alpha val="12000"/>
              </a:srgbClr>
            </a:outerShdw>
          </a:effectLst>
        </p:spPr>
      </p:sp>
      <p:sp>
        <p:nvSpPr>
          <p:cNvPr id="9" name="Text 7"/>
          <p:cNvSpPr/>
          <p:nvPr/>
        </p:nvSpPr>
        <p:spPr>
          <a:xfrm>
            <a:off x="6601968" y="2176272"/>
            <a:ext cx="4709160" cy="457200"/>
          </a:xfrm>
          <a:prstGeom prst="rect">
            <a:avLst/>
          </a:prstGeom>
          <a:noFill/>
          <a:ln/>
        </p:spPr>
        <p:txBody>
          <a:bodyPr wrap="square" lIns="0" tIns="0" rIns="0" bIns="0" rtlCol="0" anchor="ctr"/>
          <a:lstStyle/>
          <a:p>
            <a:pPr indent="0" marL="0">
              <a:buNone/>
            </a:pPr>
            <a:r>
              <a:rPr lang="en-US" sz="1700" b="1" dirty="0">
                <a:solidFill>
                  <a:srgbClr val="E0982E"/>
                </a:solidFill>
                <a:latin typeface="Century Schoolbook" pitchFamily="34" charset="0"/>
                <a:ea typeface="Century Schoolbook" pitchFamily="34" charset="-122"/>
                <a:cs typeface="Century Schoolbook" pitchFamily="34" charset="-120"/>
              </a:rPr>
              <a:t>It becomes a Paramedic call when…</a:t>
            </a:r>
            <a:endParaRPr lang="en-US" sz="1700" dirty="0"/>
          </a:p>
        </p:txBody>
      </p:sp>
      <p:sp>
        <p:nvSpPr>
          <p:cNvPr id="10" name="Text 8"/>
          <p:cNvSpPr/>
          <p:nvPr/>
        </p:nvSpPr>
        <p:spPr>
          <a:xfrm>
            <a:off x="6647688" y="2743200"/>
            <a:ext cx="4617720" cy="2743200"/>
          </a:xfrm>
          <a:prstGeom prst="rect">
            <a:avLst/>
          </a:prstGeom>
          <a:noFill/>
          <a:ln/>
        </p:spPr>
        <p:txBody>
          <a:bodyPr wrap="square" lIns="0" tIns="0" rIns="0" bIns="0" rtlCol="0" anchor="ctr"/>
          <a:lstStyle/>
          <a:p>
            <a:pPr marL="165100" indent="-165100">
              <a:lnSpc>
                <a:spcPts val="1800"/>
              </a:lnSpc>
              <a:spcAft>
                <a:spcPts val="900"/>
              </a:spcAft>
              <a:buSzPct val="100000"/>
              <a:buChar char="•"/>
            </a:pPr>
            <a:r>
              <a:rPr lang="en-US" sz="1350" dirty="0">
                <a:solidFill>
                  <a:srgbClr val="E4ECF3"/>
                </a:solidFill>
                <a:latin typeface="Calibri" pitchFamily="34" charset="0"/>
                <a:ea typeface="Calibri" pitchFamily="34" charset="-122"/>
                <a:cs typeface="Calibri" pitchFamily="34" charset="-120"/>
              </a:rPr>
              <a:t>ANY titrating drip — pressor, nitro, heparin, antiarrhythmic, rate-control, antihypertensive, sedation, tPA</a:t>
            </a:r>
            <a:endParaRPr lang="en-US" sz="1350" dirty="0"/>
          </a:p>
          <a:p>
            <a:pPr marL="165100" indent="-165100">
              <a:lnSpc>
                <a:spcPts val="1800"/>
              </a:lnSpc>
              <a:spcAft>
                <a:spcPts val="900"/>
              </a:spcAft>
              <a:buSzPct val="100000"/>
              <a:buChar char="•"/>
            </a:pPr>
            <a:r>
              <a:rPr lang="en-US" sz="1350" dirty="0">
                <a:solidFill>
                  <a:srgbClr val="E4ECF3"/>
                </a:solidFill>
                <a:latin typeface="Calibri" pitchFamily="34" charset="0"/>
                <a:ea typeface="Calibri" pitchFamily="34" charset="-122"/>
                <a:cs typeface="Calibri" pitchFamily="34" charset="-120"/>
              </a:rPr>
              <a:t>Ventilator management (LTV 1200)</a:t>
            </a:r>
            <a:endParaRPr lang="en-US" sz="1350" dirty="0"/>
          </a:p>
          <a:p>
            <a:pPr marL="165100" indent="-165100">
              <a:lnSpc>
                <a:spcPts val="1800"/>
              </a:lnSpc>
              <a:spcAft>
                <a:spcPts val="900"/>
              </a:spcAft>
              <a:buSzPct val="100000"/>
              <a:buChar char="•"/>
            </a:pPr>
            <a:r>
              <a:rPr lang="en-US" sz="1350" dirty="0">
                <a:solidFill>
                  <a:srgbClr val="E4ECF3"/>
                </a:solidFill>
                <a:latin typeface="Calibri" pitchFamily="34" charset="0"/>
                <a:ea typeface="Calibri" pitchFamily="34" charset="-122"/>
                <a:cs typeface="Calibri" pitchFamily="34" charset="-120"/>
              </a:rPr>
              <a:t>Cardioversion, defibrillation, or pacing</a:t>
            </a:r>
            <a:endParaRPr lang="en-US" sz="1350" dirty="0"/>
          </a:p>
          <a:p>
            <a:pPr marL="165100" indent="-165100">
              <a:lnSpc>
                <a:spcPts val="1800"/>
              </a:lnSpc>
              <a:spcAft>
                <a:spcPts val="900"/>
              </a:spcAft>
              <a:buSzPct val="100000"/>
              <a:buChar char="•"/>
            </a:pPr>
            <a:r>
              <a:rPr lang="en-US" sz="1350" dirty="0">
                <a:solidFill>
                  <a:srgbClr val="E4ECF3"/>
                </a:solidFill>
                <a:latin typeface="Calibri" pitchFamily="34" charset="0"/>
                <a:ea typeface="Calibri" pitchFamily="34" charset="-122"/>
                <a:cs typeface="Calibri" pitchFamily="34" charset="-120"/>
              </a:rPr>
              <a:t>Active seizure needing benzodiazepine</a:t>
            </a:r>
            <a:endParaRPr lang="en-US" sz="1350" dirty="0"/>
          </a:p>
          <a:p>
            <a:pPr marL="165100" indent="-165100">
              <a:lnSpc>
                <a:spcPts val="1800"/>
              </a:lnSpc>
              <a:spcAft>
                <a:spcPts val="900"/>
              </a:spcAft>
              <a:buSzPct val="100000"/>
              <a:buChar char="•"/>
            </a:pPr>
            <a:r>
              <a:rPr lang="en-US" sz="1350" dirty="0">
                <a:solidFill>
                  <a:srgbClr val="E4ECF3"/>
                </a:solidFill>
                <a:latin typeface="Calibri" pitchFamily="34" charset="0"/>
                <a:ea typeface="Calibri" pitchFamily="34" charset="-122"/>
                <a:cs typeface="Calibri" pitchFamily="34" charset="-120"/>
              </a:rPr>
              <a:t>Central line access or expected instability en route</a:t>
            </a:r>
            <a:endParaRPr lang="en-US" sz="1350" dirty="0"/>
          </a:p>
        </p:txBody>
      </p:sp>
      <p:sp>
        <p:nvSpPr>
          <p:cNvPr id="12" name="Text 9"/>
          <p:cNvSpPr/>
          <p:nvPr/>
        </p:nvSpPr>
        <p:spPr>
          <a:xfrm>
            <a:off x="566928" y="6455664"/>
            <a:ext cx="8229600" cy="274320"/>
          </a:xfrm>
          <a:prstGeom prst="rect">
            <a:avLst/>
          </a:prstGeom>
          <a:noFill/>
          <a:ln/>
        </p:spPr>
        <p:txBody>
          <a:bodyPr wrap="square" lIns="0" tIns="0" rIns="0" bIns="0"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AMR CES Academy  ·  Session 1  ·  Cardiac &amp; Neuro Deep Dive</a:t>
            </a:r>
            <a:endParaRPr lang="en-US" sz="900" dirty="0"/>
          </a:p>
        </p:txBody>
      </p:sp>
      <p:sp>
        <p:nvSpPr>
          <p:cNvPr id="13" name="Text 10"/>
          <p:cNvSpPr/>
          <p:nvPr/>
        </p:nvSpPr>
        <p:spPr>
          <a:xfrm>
            <a:off x="11076127" y="6455664"/>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A43"/>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6405F"/>
          </a:solidFill>
          <a:ln/>
        </p:spPr>
      </p:sp>
      <p:sp>
        <p:nvSpPr>
          <p:cNvPr id="3" name="Shape 1"/>
          <p:cNvSpPr/>
          <p:nvPr/>
        </p:nvSpPr>
        <p:spPr>
          <a:xfrm>
            <a:off x="566928" y="182880"/>
            <a:ext cx="502920" cy="502920"/>
          </a:xfrm>
          <a:prstGeom prst="ellipse">
            <a:avLst/>
          </a:prstGeom>
          <a:solidFill>
            <a:srgbClr val="E0982E"/>
          </a:solidFill>
          <a:ln/>
          <a:effectLst>
            <a:outerShdw sx="100000" sy="100000" kx="0" ky="0" algn="bl" rotWithShape="0" blurRad="88900" dist="38100" dir="5400000">
              <a:srgbClr val="1B2A38">
                <a:alpha val="12000"/>
              </a:srgbClr>
            </a:outerShdw>
          </a:effectLst>
        </p:spPr>
      </p:sp>
      <p:pic>
        <p:nvPicPr>
          <p:cNvPr id="4" name="Image 0" descr="/home/claude/deck/icons/sortw.png">    </p:cNvPr>
          <p:cNvPicPr>
            <a:picLocks noChangeAspect="1"/>
          </p:cNvPicPr>
          <p:nvPr/>
        </p:nvPicPr>
        <p:blipFill>
          <a:blip r:embed="rId1"/>
          <a:stretch>
            <a:fillRect/>
          </a:stretch>
        </p:blipFill>
        <p:spPr>
          <a:xfrm>
            <a:off x="697687" y="313639"/>
            <a:ext cx="241402" cy="241402"/>
          </a:xfrm>
          <a:prstGeom prst="rect">
            <a:avLst/>
          </a:prstGeom>
        </p:spPr>
      </p:pic>
      <p:sp>
        <p:nvSpPr>
          <p:cNvPr id="5" name="Text 2"/>
          <p:cNvSpPr/>
          <p:nvPr/>
        </p:nvSpPr>
        <p:spPr>
          <a:xfrm>
            <a:off x="1252728" y="182880"/>
            <a:ext cx="8229600" cy="502920"/>
          </a:xfrm>
          <a:prstGeom prst="rect">
            <a:avLst/>
          </a:prstGeom>
          <a:noFill/>
          <a:ln/>
        </p:spPr>
        <p:txBody>
          <a:bodyPr wrap="square" lIns="0" tIns="0" rIns="0" bIns="0" rtlCol="0" anchor="ctr"/>
          <a:lstStyle/>
          <a:p>
            <a:pPr indent="0" marL="0">
              <a:buNone/>
            </a:pPr>
            <a:r>
              <a:rPr lang="en-US" sz="1300" b="1" spc="200" kern="0" dirty="0">
                <a:solidFill>
                  <a:srgbClr val="2A9D8F"/>
                </a:solidFill>
                <a:latin typeface="Calibri" pitchFamily="34" charset="0"/>
                <a:ea typeface="Calibri" pitchFamily="34" charset="-122"/>
                <a:cs typeface="Calibri" pitchFamily="34" charset="-120"/>
              </a:rPr>
              <a:t>SMALL-GROUP ACTIVITY  ·  ~20 MIN</a:t>
            </a:r>
            <a:endParaRPr lang="en-US" sz="1300" dirty="0"/>
          </a:p>
        </p:txBody>
      </p:sp>
      <p:sp>
        <p:nvSpPr>
          <p:cNvPr id="6" name="Text 3"/>
          <p:cNvSpPr/>
          <p:nvPr/>
        </p:nvSpPr>
        <p:spPr>
          <a:xfrm>
            <a:off x="566928" y="960120"/>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Century Schoolbook" pitchFamily="34" charset="0"/>
                <a:ea typeface="Century Schoolbook" pitchFamily="34" charset="-122"/>
                <a:cs typeface="Century Schoolbook" pitchFamily="34" charset="-120"/>
              </a:rPr>
              <a:t>Card-sort: sort the transfer</a:t>
            </a:r>
            <a:endParaRPr lang="en-US" sz="3000" dirty="0"/>
          </a:p>
        </p:txBody>
      </p:sp>
      <p:sp>
        <p:nvSpPr>
          <p:cNvPr id="7" name="Text 4"/>
          <p:cNvSpPr/>
          <p:nvPr/>
        </p:nvSpPr>
        <p:spPr>
          <a:xfrm>
            <a:off x="566928" y="1691640"/>
            <a:ext cx="11064240" cy="365760"/>
          </a:xfrm>
          <a:prstGeom prst="rect">
            <a:avLst/>
          </a:prstGeom>
          <a:noFill/>
          <a:ln/>
        </p:spPr>
        <p:txBody>
          <a:bodyPr wrap="square" lIns="0" tIns="0" rIns="0" bIns="0" rtlCol="0" anchor="ctr"/>
          <a:lstStyle/>
          <a:p>
            <a:pPr indent="0" marL="0">
              <a:spcAft>
                <a:spcPts val="1000"/>
              </a:spcAft>
              <a:buNone/>
            </a:pPr>
            <a:r>
              <a:rPr lang="en-US" sz="1400" dirty="0">
                <a:solidFill>
                  <a:srgbClr val="C7D6E2"/>
                </a:solidFill>
                <a:latin typeface="Calibri" pitchFamily="34" charset="0"/>
                <a:ea typeface="Calibri" pitchFamily="34" charset="-122"/>
                <a:cs typeface="Calibri" pitchFamily="34" charset="-120"/>
              </a:rPr>
              <a:t>In groups, take each transfer card and decide three things, then present back:</a:t>
            </a:r>
            <a:endParaRPr lang="en-US" sz="1400" dirty="0"/>
          </a:p>
        </p:txBody>
      </p:sp>
      <p:sp>
        <p:nvSpPr>
          <p:cNvPr id="8" name="Shape 5"/>
          <p:cNvSpPr/>
          <p:nvPr/>
        </p:nvSpPr>
        <p:spPr>
          <a:xfrm>
            <a:off x="566928" y="2148840"/>
            <a:ext cx="3529584" cy="1371600"/>
          </a:xfrm>
          <a:prstGeom prst="roundRect">
            <a:avLst>
              <a:gd name="adj" fmla="val 5333"/>
            </a:avLst>
          </a:prstGeom>
          <a:solidFill>
            <a:srgbClr val="16405F"/>
          </a:solidFill>
          <a:ln w="12700">
            <a:solidFill>
              <a:srgbClr val="1C7293"/>
            </a:solidFill>
            <a:prstDash val="solid"/>
          </a:ln>
        </p:spPr>
      </p:sp>
      <p:sp>
        <p:nvSpPr>
          <p:cNvPr id="9" name="Shape 6"/>
          <p:cNvSpPr/>
          <p:nvPr/>
        </p:nvSpPr>
        <p:spPr>
          <a:xfrm>
            <a:off x="822960" y="2423160"/>
            <a:ext cx="502920" cy="502920"/>
          </a:xfrm>
          <a:prstGeom prst="ellipse">
            <a:avLst/>
          </a:prstGeom>
          <a:solidFill>
            <a:srgbClr val="E0982E"/>
          </a:solidFill>
          <a:ln/>
        </p:spPr>
      </p:sp>
      <p:sp>
        <p:nvSpPr>
          <p:cNvPr id="10" name="Text 7"/>
          <p:cNvSpPr/>
          <p:nvPr/>
        </p:nvSpPr>
        <p:spPr>
          <a:xfrm>
            <a:off x="822960" y="2423160"/>
            <a:ext cx="502920" cy="502920"/>
          </a:xfrm>
          <a:prstGeom prst="rect">
            <a:avLst/>
          </a:prstGeom>
          <a:noFill/>
          <a:ln/>
        </p:spPr>
        <p:txBody>
          <a:bodyPr wrap="square" lIns="0" tIns="0" rIns="0" bIns="0" rtlCol="0" anchor="ctr"/>
          <a:lstStyle/>
          <a:p>
            <a:pPr algn="ctr" indent="0" marL="0">
              <a:buNone/>
            </a:pPr>
            <a:r>
              <a:rPr lang="en-US" sz="2200" b="1" dirty="0">
                <a:solidFill>
                  <a:srgbClr val="0F2A43"/>
                </a:solidFill>
                <a:latin typeface="Century Schoolbook" pitchFamily="34" charset="0"/>
                <a:ea typeface="Century Schoolbook" pitchFamily="34" charset="-122"/>
                <a:cs typeface="Century Schoolbook" pitchFamily="34" charset="-120"/>
              </a:rPr>
              <a:t>1</a:t>
            </a:r>
            <a:endParaRPr lang="en-US" sz="2200" dirty="0"/>
          </a:p>
        </p:txBody>
      </p:sp>
      <p:sp>
        <p:nvSpPr>
          <p:cNvPr id="11" name="Text 8"/>
          <p:cNvSpPr/>
          <p:nvPr/>
        </p:nvSpPr>
        <p:spPr>
          <a:xfrm>
            <a:off x="1481328" y="2404872"/>
            <a:ext cx="2432304" cy="502920"/>
          </a:xfrm>
          <a:prstGeom prst="rect">
            <a:avLst/>
          </a:prstGeom>
          <a:noFill/>
          <a:ln/>
        </p:spPr>
        <p:txBody>
          <a:bodyPr wrap="square" lIns="0" tIns="0" rIns="0" bIns="0" rtlCol="0" anchor="ctr"/>
          <a:lstStyle/>
          <a:p>
            <a:pPr indent="0" marL="0">
              <a:buNone/>
            </a:pPr>
            <a:r>
              <a:rPr lang="en-US" sz="1500" b="1" dirty="0">
                <a:solidFill>
                  <a:srgbClr val="FFFFFF"/>
                </a:solidFill>
                <a:latin typeface="Century Schoolbook" pitchFamily="34" charset="0"/>
                <a:ea typeface="Century Schoolbook" pitchFamily="34" charset="-122"/>
                <a:cs typeface="Century Schoolbook" pitchFamily="34" charset="-120"/>
              </a:rPr>
              <a:t>Call-type family</a:t>
            </a:r>
            <a:endParaRPr lang="en-US" sz="1500" dirty="0"/>
          </a:p>
        </p:txBody>
      </p:sp>
      <p:sp>
        <p:nvSpPr>
          <p:cNvPr id="12" name="Text 9"/>
          <p:cNvSpPr/>
          <p:nvPr/>
        </p:nvSpPr>
        <p:spPr>
          <a:xfrm>
            <a:off x="841248" y="2990088"/>
            <a:ext cx="3026664" cy="457200"/>
          </a:xfrm>
          <a:prstGeom prst="rect">
            <a:avLst/>
          </a:prstGeom>
          <a:noFill/>
          <a:ln/>
        </p:spPr>
        <p:txBody>
          <a:bodyPr wrap="square" lIns="0" tIns="0" rIns="0" bIns="0" rtlCol="0" anchor="ctr"/>
          <a:lstStyle/>
          <a:p>
            <a:pPr indent="0" marL="0">
              <a:lnSpc>
                <a:spcPts val="1300"/>
              </a:lnSpc>
              <a:buNone/>
            </a:pPr>
            <a:r>
              <a:rPr lang="en-US" sz="1100" dirty="0">
                <a:solidFill>
                  <a:srgbClr val="C7D6E2"/>
                </a:solidFill>
                <a:latin typeface="Calibri" pitchFamily="34" charset="0"/>
                <a:ea typeface="Calibri" pitchFamily="34" charset="-122"/>
                <a:cs typeface="Calibri" pitchFamily="34" charset="-120"/>
              </a:rPr>
              <a:t>Rate &amp; rhythm · pump failure · post-arrest · neuro</a:t>
            </a:r>
            <a:endParaRPr lang="en-US" sz="1100" dirty="0"/>
          </a:p>
        </p:txBody>
      </p:sp>
      <p:sp>
        <p:nvSpPr>
          <p:cNvPr id="13" name="Shape 10"/>
          <p:cNvSpPr/>
          <p:nvPr/>
        </p:nvSpPr>
        <p:spPr>
          <a:xfrm>
            <a:off x="4352544" y="2148840"/>
            <a:ext cx="3529584" cy="1371600"/>
          </a:xfrm>
          <a:prstGeom prst="roundRect">
            <a:avLst>
              <a:gd name="adj" fmla="val 5333"/>
            </a:avLst>
          </a:prstGeom>
          <a:solidFill>
            <a:srgbClr val="16405F"/>
          </a:solidFill>
          <a:ln w="12700">
            <a:solidFill>
              <a:srgbClr val="1C7293"/>
            </a:solidFill>
            <a:prstDash val="solid"/>
          </a:ln>
        </p:spPr>
      </p:sp>
      <p:sp>
        <p:nvSpPr>
          <p:cNvPr id="14" name="Shape 11"/>
          <p:cNvSpPr/>
          <p:nvPr/>
        </p:nvSpPr>
        <p:spPr>
          <a:xfrm>
            <a:off x="4608576" y="2423160"/>
            <a:ext cx="502920" cy="502920"/>
          </a:xfrm>
          <a:prstGeom prst="ellipse">
            <a:avLst/>
          </a:prstGeom>
          <a:solidFill>
            <a:srgbClr val="E0982E"/>
          </a:solidFill>
          <a:ln/>
        </p:spPr>
      </p:sp>
      <p:sp>
        <p:nvSpPr>
          <p:cNvPr id="15" name="Text 12"/>
          <p:cNvSpPr/>
          <p:nvPr/>
        </p:nvSpPr>
        <p:spPr>
          <a:xfrm>
            <a:off x="4608576" y="2423160"/>
            <a:ext cx="502920" cy="502920"/>
          </a:xfrm>
          <a:prstGeom prst="rect">
            <a:avLst/>
          </a:prstGeom>
          <a:noFill/>
          <a:ln/>
        </p:spPr>
        <p:txBody>
          <a:bodyPr wrap="square" lIns="0" tIns="0" rIns="0" bIns="0" rtlCol="0" anchor="ctr"/>
          <a:lstStyle/>
          <a:p>
            <a:pPr algn="ctr" indent="0" marL="0">
              <a:buNone/>
            </a:pPr>
            <a:r>
              <a:rPr lang="en-US" sz="2200" b="1" dirty="0">
                <a:solidFill>
                  <a:srgbClr val="0F2A43"/>
                </a:solidFill>
                <a:latin typeface="Century Schoolbook" pitchFamily="34" charset="0"/>
                <a:ea typeface="Century Schoolbook" pitchFamily="34" charset="-122"/>
                <a:cs typeface="Century Schoolbook" pitchFamily="34" charset="-120"/>
              </a:rPr>
              <a:t>2</a:t>
            </a:r>
            <a:endParaRPr lang="en-US" sz="2200" dirty="0"/>
          </a:p>
        </p:txBody>
      </p:sp>
      <p:sp>
        <p:nvSpPr>
          <p:cNvPr id="16" name="Text 13"/>
          <p:cNvSpPr/>
          <p:nvPr/>
        </p:nvSpPr>
        <p:spPr>
          <a:xfrm>
            <a:off x="5266944" y="2404872"/>
            <a:ext cx="2432304" cy="502920"/>
          </a:xfrm>
          <a:prstGeom prst="rect">
            <a:avLst/>
          </a:prstGeom>
          <a:noFill/>
          <a:ln/>
        </p:spPr>
        <p:txBody>
          <a:bodyPr wrap="square" lIns="0" tIns="0" rIns="0" bIns="0" rtlCol="0" anchor="ctr"/>
          <a:lstStyle/>
          <a:p>
            <a:pPr indent="0" marL="0">
              <a:buNone/>
            </a:pPr>
            <a:r>
              <a:rPr lang="en-US" sz="1500" b="1" dirty="0">
                <a:solidFill>
                  <a:srgbClr val="FFFFFF"/>
                </a:solidFill>
                <a:latin typeface="Century Schoolbook" pitchFamily="34" charset="0"/>
                <a:ea typeface="Century Schoolbook" pitchFamily="34" charset="-122"/>
                <a:cs typeface="Century Schoolbook" pitchFamily="34" charset="-120"/>
              </a:rPr>
              <a:t>Level of care / crew</a:t>
            </a:r>
            <a:endParaRPr lang="en-US" sz="1500" dirty="0"/>
          </a:p>
        </p:txBody>
      </p:sp>
      <p:sp>
        <p:nvSpPr>
          <p:cNvPr id="17" name="Text 14"/>
          <p:cNvSpPr/>
          <p:nvPr/>
        </p:nvSpPr>
        <p:spPr>
          <a:xfrm>
            <a:off x="4626864" y="2990088"/>
            <a:ext cx="3026664" cy="457200"/>
          </a:xfrm>
          <a:prstGeom prst="rect">
            <a:avLst/>
          </a:prstGeom>
          <a:noFill/>
          <a:ln/>
        </p:spPr>
        <p:txBody>
          <a:bodyPr wrap="square" lIns="0" tIns="0" rIns="0" bIns="0" rtlCol="0" anchor="ctr"/>
          <a:lstStyle/>
          <a:p>
            <a:pPr indent="0" marL="0">
              <a:lnSpc>
                <a:spcPts val="1300"/>
              </a:lnSpc>
              <a:buNone/>
            </a:pPr>
            <a:r>
              <a:rPr lang="en-US" sz="1100" dirty="0">
                <a:solidFill>
                  <a:srgbClr val="C7D6E2"/>
                </a:solidFill>
                <a:latin typeface="Calibri" pitchFamily="34" charset="0"/>
                <a:ea typeface="Calibri" pitchFamily="34" charset="-122"/>
                <a:cs typeface="Calibri" pitchFamily="34" charset="-120"/>
              </a:rPr>
              <a:t>BLS · AEMT · Paramedic · critical-care/accompanied</a:t>
            </a:r>
            <a:endParaRPr lang="en-US" sz="1100" dirty="0"/>
          </a:p>
        </p:txBody>
      </p:sp>
      <p:sp>
        <p:nvSpPr>
          <p:cNvPr id="18" name="Shape 15"/>
          <p:cNvSpPr/>
          <p:nvPr/>
        </p:nvSpPr>
        <p:spPr>
          <a:xfrm>
            <a:off x="8138160" y="2148840"/>
            <a:ext cx="3529584" cy="1371600"/>
          </a:xfrm>
          <a:prstGeom prst="roundRect">
            <a:avLst>
              <a:gd name="adj" fmla="val 5333"/>
            </a:avLst>
          </a:prstGeom>
          <a:solidFill>
            <a:srgbClr val="16405F"/>
          </a:solidFill>
          <a:ln w="12700">
            <a:solidFill>
              <a:srgbClr val="1C7293"/>
            </a:solidFill>
            <a:prstDash val="solid"/>
          </a:ln>
        </p:spPr>
      </p:sp>
      <p:sp>
        <p:nvSpPr>
          <p:cNvPr id="19" name="Shape 16"/>
          <p:cNvSpPr/>
          <p:nvPr/>
        </p:nvSpPr>
        <p:spPr>
          <a:xfrm>
            <a:off x="8394192" y="2423160"/>
            <a:ext cx="502920" cy="502920"/>
          </a:xfrm>
          <a:prstGeom prst="ellipse">
            <a:avLst/>
          </a:prstGeom>
          <a:solidFill>
            <a:srgbClr val="E0982E"/>
          </a:solidFill>
          <a:ln/>
        </p:spPr>
      </p:sp>
      <p:sp>
        <p:nvSpPr>
          <p:cNvPr id="20" name="Text 17"/>
          <p:cNvSpPr/>
          <p:nvPr/>
        </p:nvSpPr>
        <p:spPr>
          <a:xfrm>
            <a:off x="8394192" y="2423160"/>
            <a:ext cx="502920" cy="502920"/>
          </a:xfrm>
          <a:prstGeom prst="rect">
            <a:avLst/>
          </a:prstGeom>
          <a:noFill/>
          <a:ln/>
        </p:spPr>
        <p:txBody>
          <a:bodyPr wrap="square" lIns="0" tIns="0" rIns="0" bIns="0" rtlCol="0" anchor="ctr"/>
          <a:lstStyle/>
          <a:p>
            <a:pPr algn="ctr" indent="0" marL="0">
              <a:buNone/>
            </a:pPr>
            <a:r>
              <a:rPr lang="en-US" sz="2200" b="1" dirty="0">
                <a:solidFill>
                  <a:srgbClr val="0F2A43"/>
                </a:solidFill>
                <a:latin typeface="Century Schoolbook" pitchFamily="34" charset="0"/>
                <a:ea typeface="Century Schoolbook" pitchFamily="34" charset="-122"/>
                <a:cs typeface="Century Schoolbook" pitchFamily="34" charset="-120"/>
              </a:rPr>
              <a:t>3</a:t>
            </a:r>
            <a:endParaRPr lang="en-US" sz="2200" dirty="0"/>
          </a:p>
        </p:txBody>
      </p:sp>
      <p:sp>
        <p:nvSpPr>
          <p:cNvPr id="21" name="Text 18"/>
          <p:cNvSpPr/>
          <p:nvPr/>
        </p:nvSpPr>
        <p:spPr>
          <a:xfrm>
            <a:off x="9052560" y="2404872"/>
            <a:ext cx="2432304" cy="502920"/>
          </a:xfrm>
          <a:prstGeom prst="rect">
            <a:avLst/>
          </a:prstGeom>
          <a:noFill/>
          <a:ln/>
        </p:spPr>
        <p:txBody>
          <a:bodyPr wrap="square" lIns="0" tIns="0" rIns="0" bIns="0" rtlCol="0" anchor="ctr"/>
          <a:lstStyle/>
          <a:p>
            <a:pPr indent="0" marL="0">
              <a:buNone/>
            </a:pPr>
            <a:r>
              <a:rPr lang="en-US" sz="1500" b="1" dirty="0">
                <a:solidFill>
                  <a:srgbClr val="FFFFFF"/>
                </a:solidFill>
                <a:latin typeface="Century Schoolbook" pitchFamily="34" charset="0"/>
                <a:ea typeface="Century Schoolbook" pitchFamily="34" charset="-122"/>
                <a:cs typeface="Century Schoolbook" pitchFamily="34" charset="-120"/>
              </a:rPr>
              <a:t>What's out of scope</a:t>
            </a:r>
            <a:endParaRPr lang="en-US" sz="1500" dirty="0"/>
          </a:p>
        </p:txBody>
      </p:sp>
      <p:sp>
        <p:nvSpPr>
          <p:cNvPr id="22" name="Text 19"/>
          <p:cNvSpPr/>
          <p:nvPr/>
        </p:nvSpPr>
        <p:spPr>
          <a:xfrm>
            <a:off x="8412480" y="2990088"/>
            <a:ext cx="3026664" cy="457200"/>
          </a:xfrm>
          <a:prstGeom prst="rect">
            <a:avLst/>
          </a:prstGeom>
          <a:noFill/>
          <a:ln/>
        </p:spPr>
        <p:txBody>
          <a:bodyPr wrap="square" lIns="0" tIns="0" rIns="0" bIns="0" rtlCol="0" anchor="ctr"/>
          <a:lstStyle/>
          <a:p>
            <a:pPr indent="0" marL="0">
              <a:lnSpc>
                <a:spcPts val="1300"/>
              </a:lnSpc>
              <a:buNone/>
            </a:pPr>
            <a:r>
              <a:rPr lang="en-US" sz="1100" dirty="0">
                <a:solidFill>
                  <a:srgbClr val="C7D6E2"/>
                </a:solidFill>
                <a:latin typeface="Calibri" pitchFamily="34" charset="0"/>
                <a:ea typeface="Calibri" pitchFamily="34" charset="-122"/>
                <a:cs typeface="Calibri" pitchFamily="34" charset="-120"/>
              </a:rPr>
              <a:t>Name the drip, device, or procedure that sets the floor</a:t>
            </a:r>
            <a:endParaRPr lang="en-US" sz="1100" dirty="0"/>
          </a:p>
        </p:txBody>
      </p:sp>
      <p:sp>
        <p:nvSpPr>
          <p:cNvPr id="23" name="Text 20"/>
          <p:cNvSpPr/>
          <p:nvPr/>
        </p:nvSpPr>
        <p:spPr>
          <a:xfrm>
            <a:off x="566928" y="3794760"/>
            <a:ext cx="10972800" cy="274320"/>
          </a:xfrm>
          <a:prstGeom prst="rect">
            <a:avLst/>
          </a:prstGeom>
          <a:noFill/>
          <a:ln/>
        </p:spPr>
        <p:txBody>
          <a:bodyPr wrap="square" lIns="0" tIns="0" rIns="0" bIns="0" rtlCol="0" anchor="ctr"/>
          <a:lstStyle/>
          <a:p>
            <a:pPr indent="0" marL="0">
              <a:buNone/>
            </a:pPr>
            <a:r>
              <a:rPr lang="en-US" sz="1100" b="1" spc="200" kern="0" dirty="0">
                <a:solidFill>
                  <a:srgbClr val="2A9D8F"/>
                </a:solidFill>
                <a:latin typeface="Calibri" pitchFamily="34" charset="0"/>
                <a:ea typeface="Calibri" pitchFamily="34" charset="-122"/>
                <a:cs typeface="Calibri" pitchFamily="34" charset="-120"/>
              </a:rPr>
              <a:t>SAMPLE CARDS</a:t>
            </a:r>
            <a:endParaRPr lang="en-US" sz="1100" dirty="0"/>
          </a:p>
        </p:txBody>
      </p:sp>
      <p:sp>
        <p:nvSpPr>
          <p:cNvPr id="24" name="Shape 21"/>
          <p:cNvSpPr/>
          <p:nvPr/>
        </p:nvSpPr>
        <p:spPr>
          <a:xfrm>
            <a:off x="566928" y="4114800"/>
            <a:ext cx="5349240" cy="566928"/>
          </a:xfrm>
          <a:prstGeom prst="roundRect">
            <a:avLst>
              <a:gd name="adj" fmla="val 8065"/>
            </a:avLst>
          </a:prstGeom>
          <a:solidFill>
            <a:srgbClr val="12324D"/>
          </a:solidFill>
          <a:ln w="12700">
            <a:solidFill>
              <a:srgbClr val="2E4A63"/>
            </a:solidFill>
            <a:prstDash val="solid"/>
          </a:ln>
        </p:spPr>
      </p:sp>
      <p:sp>
        <p:nvSpPr>
          <p:cNvPr id="25" name="Text 22"/>
          <p:cNvSpPr/>
          <p:nvPr/>
        </p:nvSpPr>
        <p:spPr>
          <a:xfrm>
            <a:off x="795528" y="4114800"/>
            <a:ext cx="4892040" cy="566928"/>
          </a:xfrm>
          <a:prstGeom prst="rect">
            <a:avLst/>
          </a:prstGeom>
          <a:noFill/>
          <a:ln/>
        </p:spPr>
        <p:txBody>
          <a:bodyPr wrap="square" lIns="0" tIns="0" rIns="0" bIns="0" rtlCol="0" anchor="ctr"/>
          <a:lstStyle/>
          <a:p>
            <a:pPr indent="0" marL="0">
              <a:buNone/>
            </a:pPr>
            <a:r>
              <a:rPr lang="en-US" sz="1200" dirty="0">
                <a:solidFill>
                  <a:srgbClr val="E4ECF3"/>
                </a:solidFill>
                <a:latin typeface="Calibri" pitchFamily="34" charset="0"/>
                <a:ea typeface="Calibri" pitchFamily="34" charset="-122"/>
                <a:cs typeface="Calibri" pitchFamily="34" charset="-120"/>
              </a:rPr>
              <a:t>68M, A-fib RVR on a diltiazem drip → cardiology</a:t>
            </a:r>
            <a:endParaRPr lang="en-US" sz="1200" dirty="0"/>
          </a:p>
        </p:txBody>
      </p:sp>
      <p:sp>
        <p:nvSpPr>
          <p:cNvPr id="26" name="Shape 23"/>
          <p:cNvSpPr/>
          <p:nvPr/>
        </p:nvSpPr>
        <p:spPr>
          <a:xfrm>
            <a:off x="6281928" y="4114800"/>
            <a:ext cx="5349240" cy="566928"/>
          </a:xfrm>
          <a:prstGeom prst="roundRect">
            <a:avLst>
              <a:gd name="adj" fmla="val 8065"/>
            </a:avLst>
          </a:prstGeom>
          <a:solidFill>
            <a:srgbClr val="12324D"/>
          </a:solidFill>
          <a:ln w="12700">
            <a:solidFill>
              <a:srgbClr val="2E4A63"/>
            </a:solidFill>
            <a:prstDash val="solid"/>
          </a:ln>
        </p:spPr>
      </p:sp>
      <p:sp>
        <p:nvSpPr>
          <p:cNvPr id="27" name="Text 24"/>
          <p:cNvSpPr/>
          <p:nvPr/>
        </p:nvSpPr>
        <p:spPr>
          <a:xfrm>
            <a:off x="6510528" y="4114800"/>
            <a:ext cx="4892040" cy="566928"/>
          </a:xfrm>
          <a:prstGeom prst="rect">
            <a:avLst/>
          </a:prstGeom>
          <a:noFill/>
          <a:ln/>
        </p:spPr>
        <p:txBody>
          <a:bodyPr wrap="square" lIns="0" tIns="0" rIns="0" bIns="0" rtlCol="0" anchor="ctr"/>
          <a:lstStyle/>
          <a:p>
            <a:pPr indent="0" marL="0">
              <a:buNone/>
            </a:pPr>
            <a:r>
              <a:rPr lang="en-US" sz="1200" dirty="0">
                <a:solidFill>
                  <a:srgbClr val="E4ECF3"/>
                </a:solidFill>
                <a:latin typeface="Calibri" pitchFamily="34" charset="0"/>
                <a:ea typeface="Calibri" pitchFamily="34" charset="-122"/>
                <a:cs typeface="Calibri" pitchFamily="34" charset="-120"/>
              </a:rPr>
              <a:t>55F, SVT already converted, stable, nothing running → EP consult</a:t>
            </a:r>
            <a:endParaRPr lang="en-US" sz="1200" dirty="0"/>
          </a:p>
        </p:txBody>
      </p:sp>
      <p:sp>
        <p:nvSpPr>
          <p:cNvPr id="28" name="Shape 25"/>
          <p:cNvSpPr/>
          <p:nvPr/>
        </p:nvSpPr>
        <p:spPr>
          <a:xfrm>
            <a:off x="566928" y="4828032"/>
            <a:ext cx="5349240" cy="566928"/>
          </a:xfrm>
          <a:prstGeom prst="roundRect">
            <a:avLst>
              <a:gd name="adj" fmla="val 8065"/>
            </a:avLst>
          </a:prstGeom>
          <a:solidFill>
            <a:srgbClr val="12324D"/>
          </a:solidFill>
          <a:ln w="12700">
            <a:solidFill>
              <a:srgbClr val="2E4A63"/>
            </a:solidFill>
            <a:prstDash val="solid"/>
          </a:ln>
        </p:spPr>
      </p:sp>
      <p:sp>
        <p:nvSpPr>
          <p:cNvPr id="29" name="Text 26"/>
          <p:cNvSpPr/>
          <p:nvPr/>
        </p:nvSpPr>
        <p:spPr>
          <a:xfrm>
            <a:off x="795528" y="4828032"/>
            <a:ext cx="4892040" cy="566928"/>
          </a:xfrm>
          <a:prstGeom prst="rect">
            <a:avLst/>
          </a:prstGeom>
          <a:noFill/>
          <a:ln/>
        </p:spPr>
        <p:txBody>
          <a:bodyPr wrap="square" lIns="0" tIns="0" rIns="0" bIns="0" rtlCol="0" anchor="ctr"/>
          <a:lstStyle/>
          <a:p>
            <a:pPr indent="0" marL="0">
              <a:buNone/>
            </a:pPr>
            <a:r>
              <a:rPr lang="en-US" sz="1200" dirty="0">
                <a:solidFill>
                  <a:srgbClr val="E4ECF3"/>
                </a:solidFill>
                <a:latin typeface="Calibri" pitchFamily="34" charset="0"/>
                <a:ea typeface="Calibri" pitchFamily="34" charset="-122"/>
                <a:cs typeface="Calibri" pitchFamily="34" charset="-120"/>
              </a:rPr>
              <a:t>58M, inferior STEMI, ASA given, heparin + nitro drips → PCI</a:t>
            </a:r>
            <a:endParaRPr lang="en-US" sz="1200" dirty="0"/>
          </a:p>
        </p:txBody>
      </p:sp>
      <p:sp>
        <p:nvSpPr>
          <p:cNvPr id="30" name="Shape 27"/>
          <p:cNvSpPr/>
          <p:nvPr/>
        </p:nvSpPr>
        <p:spPr>
          <a:xfrm>
            <a:off x="6281928" y="4828032"/>
            <a:ext cx="5349240" cy="566928"/>
          </a:xfrm>
          <a:prstGeom prst="roundRect">
            <a:avLst>
              <a:gd name="adj" fmla="val 8065"/>
            </a:avLst>
          </a:prstGeom>
          <a:solidFill>
            <a:srgbClr val="12324D"/>
          </a:solidFill>
          <a:ln w="12700">
            <a:solidFill>
              <a:srgbClr val="2E4A63"/>
            </a:solidFill>
            <a:prstDash val="solid"/>
          </a:ln>
        </p:spPr>
      </p:sp>
      <p:sp>
        <p:nvSpPr>
          <p:cNvPr id="31" name="Text 28"/>
          <p:cNvSpPr/>
          <p:nvPr/>
        </p:nvSpPr>
        <p:spPr>
          <a:xfrm>
            <a:off x="6510528" y="4828032"/>
            <a:ext cx="4892040" cy="566928"/>
          </a:xfrm>
          <a:prstGeom prst="rect">
            <a:avLst/>
          </a:prstGeom>
          <a:noFill/>
          <a:ln/>
        </p:spPr>
        <p:txBody>
          <a:bodyPr wrap="square" lIns="0" tIns="0" rIns="0" bIns="0" rtlCol="0" anchor="ctr"/>
          <a:lstStyle/>
          <a:p>
            <a:pPr indent="0" marL="0">
              <a:buNone/>
            </a:pPr>
            <a:r>
              <a:rPr lang="en-US" sz="1200" dirty="0">
                <a:solidFill>
                  <a:srgbClr val="E4ECF3"/>
                </a:solidFill>
                <a:latin typeface="Calibri" pitchFamily="34" charset="0"/>
                <a:ea typeface="Calibri" pitchFamily="34" charset="-122"/>
                <a:cs typeface="Calibri" pitchFamily="34" charset="-120"/>
              </a:rPr>
              <a:t>74F, ischemic stroke, tPA running, BP 178/98 → thrombectomy</a:t>
            </a:r>
            <a:endParaRPr lang="en-US" sz="1200" dirty="0"/>
          </a:p>
        </p:txBody>
      </p:sp>
      <p:sp>
        <p:nvSpPr>
          <p:cNvPr id="32" name="Shape 29"/>
          <p:cNvSpPr/>
          <p:nvPr/>
        </p:nvSpPr>
        <p:spPr>
          <a:xfrm>
            <a:off x="566928" y="5541264"/>
            <a:ext cx="5349240" cy="566928"/>
          </a:xfrm>
          <a:prstGeom prst="roundRect">
            <a:avLst>
              <a:gd name="adj" fmla="val 8065"/>
            </a:avLst>
          </a:prstGeom>
          <a:solidFill>
            <a:srgbClr val="12324D"/>
          </a:solidFill>
          <a:ln w="12700">
            <a:solidFill>
              <a:srgbClr val="2E4A63"/>
            </a:solidFill>
            <a:prstDash val="solid"/>
          </a:ln>
        </p:spPr>
      </p:sp>
      <p:sp>
        <p:nvSpPr>
          <p:cNvPr id="33" name="Text 30"/>
          <p:cNvSpPr/>
          <p:nvPr/>
        </p:nvSpPr>
        <p:spPr>
          <a:xfrm>
            <a:off x="795528" y="5541264"/>
            <a:ext cx="4892040" cy="566928"/>
          </a:xfrm>
          <a:prstGeom prst="rect">
            <a:avLst/>
          </a:prstGeom>
          <a:noFill/>
          <a:ln/>
        </p:spPr>
        <p:txBody>
          <a:bodyPr wrap="square" lIns="0" tIns="0" rIns="0" bIns="0" rtlCol="0" anchor="ctr"/>
          <a:lstStyle/>
          <a:p>
            <a:pPr indent="0" marL="0">
              <a:buNone/>
            </a:pPr>
            <a:r>
              <a:rPr lang="en-US" sz="1200" dirty="0">
                <a:solidFill>
                  <a:srgbClr val="E4ECF3"/>
                </a:solidFill>
                <a:latin typeface="Calibri" pitchFamily="34" charset="0"/>
                <a:ea typeface="Calibri" pitchFamily="34" charset="-122"/>
                <a:cs typeface="Calibri" pitchFamily="34" charset="-120"/>
              </a:rPr>
              <a:t>61M, large ICH, nicardipine drip, GCS falling, intubated → neurosurgery</a:t>
            </a:r>
            <a:endParaRPr lang="en-US" sz="1200" dirty="0"/>
          </a:p>
        </p:txBody>
      </p:sp>
      <p:sp>
        <p:nvSpPr>
          <p:cNvPr id="34" name="Shape 31"/>
          <p:cNvSpPr/>
          <p:nvPr/>
        </p:nvSpPr>
        <p:spPr>
          <a:xfrm>
            <a:off x="6281928" y="5541264"/>
            <a:ext cx="5349240" cy="566928"/>
          </a:xfrm>
          <a:prstGeom prst="roundRect">
            <a:avLst>
              <a:gd name="adj" fmla="val 8065"/>
            </a:avLst>
          </a:prstGeom>
          <a:solidFill>
            <a:srgbClr val="12324D"/>
          </a:solidFill>
          <a:ln w="12700">
            <a:solidFill>
              <a:srgbClr val="2E4A63"/>
            </a:solidFill>
            <a:prstDash val="solid"/>
          </a:ln>
        </p:spPr>
      </p:sp>
      <p:sp>
        <p:nvSpPr>
          <p:cNvPr id="35" name="Text 32"/>
          <p:cNvSpPr/>
          <p:nvPr/>
        </p:nvSpPr>
        <p:spPr>
          <a:xfrm>
            <a:off x="6510528" y="5541264"/>
            <a:ext cx="4892040" cy="566928"/>
          </a:xfrm>
          <a:prstGeom prst="rect">
            <a:avLst/>
          </a:prstGeom>
          <a:noFill/>
          <a:ln/>
        </p:spPr>
        <p:txBody>
          <a:bodyPr wrap="square" lIns="0" tIns="0" rIns="0" bIns="0" rtlCol="0" anchor="ctr"/>
          <a:lstStyle/>
          <a:p>
            <a:pPr indent="0" marL="0">
              <a:buNone/>
            </a:pPr>
            <a:r>
              <a:rPr lang="en-US" sz="1200" dirty="0">
                <a:solidFill>
                  <a:srgbClr val="E4ECF3"/>
                </a:solidFill>
                <a:latin typeface="Calibri" pitchFamily="34" charset="0"/>
                <a:ea typeface="Calibri" pitchFamily="34" charset="-122"/>
                <a:cs typeface="Calibri" pitchFamily="34" charset="-120"/>
              </a:rPr>
              <a:t>47F, brain tumor, dexamethasone, GCS 13 → neurosurgery</a:t>
            </a:r>
            <a:endParaRPr lang="en-US" sz="1200" dirty="0"/>
          </a:p>
        </p:txBody>
      </p:sp>
      <p:sp>
        <p:nvSpPr>
          <p:cNvPr id="36" name="Text 33"/>
          <p:cNvSpPr/>
          <p:nvPr/>
        </p:nvSpPr>
        <p:spPr>
          <a:xfrm>
            <a:off x="566928" y="6455664"/>
            <a:ext cx="8229600" cy="274320"/>
          </a:xfrm>
          <a:prstGeom prst="rect">
            <a:avLst/>
          </a:prstGeom>
          <a:noFill/>
          <a:ln/>
        </p:spPr>
        <p:txBody>
          <a:bodyPr wrap="square" lIns="0" tIns="0" rIns="0" bIns="0"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AMR CES Academy  ·  Session 1  ·  Cardiac &amp; Neuro Deep Dive</a:t>
            </a:r>
            <a:endParaRPr lang="en-US" sz="900" dirty="0"/>
          </a:p>
        </p:txBody>
      </p:sp>
      <p:sp>
        <p:nvSpPr>
          <p:cNvPr id="37" name="Text 34"/>
          <p:cNvSpPr/>
          <p:nvPr/>
        </p:nvSpPr>
        <p:spPr>
          <a:xfrm>
            <a:off x="11076127" y="6455664"/>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A43"/>
        </a:solidFill>
      </p:bgPr>
    </p:bg>
    <p:spTree>
      <p:nvGrpSpPr>
        <p:cNvPr id="1" name=""/>
        <p:cNvGrpSpPr/>
        <p:nvPr/>
      </p:nvGrpSpPr>
      <p:grpSpPr>
        <a:xfrm>
          <a:off x="0" y="0"/>
          <a:ext cx="0" cy="0"/>
          <a:chOff x="0" y="0"/>
          <a:chExt cx="0" cy="0"/>
        </a:xfrm>
      </p:grpSpPr>
      <p:sp>
        <p:nvSpPr>
          <p:cNvPr id="2" name="Shape 0"/>
          <p:cNvSpPr/>
          <p:nvPr/>
        </p:nvSpPr>
        <p:spPr>
          <a:xfrm>
            <a:off x="0" y="0"/>
            <a:ext cx="12191695" cy="822960"/>
          </a:xfrm>
          <a:prstGeom prst="rect">
            <a:avLst/>
          </a:prstGeom>
          <a:solidFill>
            <a:srgbClr val="16405F"/>
          </a:solidFill>
          <a:ln/>
        </p:spPr>
      </p:sp>
      <p:sp>
        <p:nvSpPr>
          <p:cNvPr id="3" name="Text 1"/>
          <p:cNvSpPr/>
          <p:nvPr/>
        </p:nvSpPr>
        <p:spPr>
          <a:xfrm>
            <a:off x="566928" y="822960"/>
            <a:ext cx="10972800" cy="320040"/>
          </a:xfrm>
          <a:prstGeom prst="rect">
            <a:avLst/>
          </a:prstGeom>
          <a:noFill/>
          <a:ln/>
        </p:spPr>
        <p:txBody>
          <a:bodyPr wrap="square" lIns="0" tIns="0" rIns="0" bIns="0" rtlCol="0" anchor="ctr"/>
          <a:lstStyle/>
          <a:p>
            <a:pPr indent="0" marL="0">
              <a:buNone/>
            </a:pPr>
            <a:r>
              <a:rPr lang="en-US" sz="1300" b="1" spc="200" kern="0" dirty="0">
                <a:solidFill>
                  <a:srgbClr val="2A9D8F"/>
                </a:solidFill>
                <a:latin typeface="Calibri" pitchFamily="34" charset="0"/>
                <a:ea typeface="Calibri" pitchFamily="34" charset="-122"/>
                <a:cs typeface="Calibri" pitchFamily="34" charset="-120"/>
              </a:rPr>
              <a:t>BLOCK TAKEAWAYS</a:t>
            </a:r>
            <a:endParaRPr lang="en-US" sz="1300" dirty="0"/>
          </a:p>
        </p:txBody>
      </p:sp>
      <p:sp>
        <p:nvSpPr>
          <p:cNvPr id="4" name="Text 2"/>
          <p:cNvSpPr/>
          <p:nvPr/>
        </p:nvSpPr>
        <p:spPr>
          <a:xfrm>
            <a:off x="566928" y="1143000"/>
            <a:ext cx="10972800" cy="731520"/>
          </a:xfrm>
          <a:prstGeom prst="rect">
            <a:avLst/>
          </a:prstGeom>
          <a:noFill/>
          <a:ln/>
        </p:spPr>
        <p:txBody>
          <a:bodyPr wrap="square" lIns="0" tIns="0" rIns="0" bIns="0" rtlCol="0" anchor="ctr"/>
          <a:lstStyle/>
          <a:p>
            <a:pPr indent="0" marL="0">
              <a:buNone/>
            </a:pPr>
            <a:r>
              <a:rPr lang="en-US" sz="3200" b="1" dirty="0">
                <a:solidFill>
                  <a:srgbClr val="FFFFFF"/>
                </a:solidFill>
                <a:latin typeface="Century Schoolbook" pitchFamily="34" charset="0"/>
                <a:ea typeface="Century Schoolbook" pitchFamily="34" charset="-122"/>
                <a:cs typeface="Century Schoolbook" pitchFamily="34" charset="-120"/>
              </a:rPr>
              <a:t>Cardiac &amp; neuro, in four lines</a:t>
            </a:r>
            <a:endParaRPr lang="en-US" sz="3200" dirty="0"/>
          </a:p>
        </p:txBody>
      </p:sp>
      <p:sp>
        <p:nvSpPr>
          <p:cNvPr id="5" name="Shape 3"/>
          <p:cNvSpPr/>
          <p:nvPr/>
        </p:nvSpPr>
        <p:spPr>
          <a:xfrm>
            <a:off x="566928" y="2148840"/>
            <a:ext cx="11064240" cy="749808"/>
          </a:xfrm>
          <a:prstGeom prst="roundRect">
            <a:avLst>
              <a:gd name="adj" fmla="val 7317"/>
            </a:avLst>
          </a:prstGeom>
          <a:solidFill>
            <a:srgbClr val="16405F"/>
          </a:solidFill>
          <a:ln w="12700">
            <a:solidFill>
              <a:srgbClr val="24486A"/>
            </a:solidFill>
            <a:prstDash val="solid"/>
          </a:ln>
        </p:spPr>
      </p:sp>
      <p:sp>
        <p:nvSpPr>
          <p:cNvPr id="6" name="Shape 4"/>
          <p:cNvSpPr/>
          <p:nvPr/>
        </p:nvSpPr>
        <p:spPr>
          <a:xfrm>
            <a:off x="786384" y="2295144"/>
            <a:ext cx="457200" cy="457200"/>
          </a:xfrm>
          <a:prstGeom prst="ellipse">
            <a:avLst/>
          </a:prstGeom>
          <a:solidFill>
            <a:srgbClr val="E0982E"/>
          </a:solidFill>
          <a:ln/>
        </p:spPr>
      </p:sp>
      <p:sp>
        <p:nvSpPr>
          <p:cNvPr id="7" name="Text 5"/>
          <p:cNvSpPr/>
          <p:nvPr/>
        </p:nvSpPr>
        <p:spPr>
          <a:xfrm>
            <a:off x="786384" y="2295144"/>
            <a:ext cx="457200" cy="457200"/>
          </a:xfrm>
          <a:prstGeom prst="rect">
            <a:avLst/>
          </a:prstGeom>
          <a:noFill/>
          <a:ln/>
        </p:spPr>
        <p:txBody>
          <a:bodyPr wrap="square" lIns="0" tIns="0" rIns="0" bIns="0" rtlCol="0" anchor="ctr"/>
          <a:lstStyle/>
          <a:p>
            <a:pPr algn="ctr" indent="0" marL="0">
              <a:buNone/>
            </a:pPr>
            <a:r>
              <a:rPr lang="en-US" sz="1800" b="1" dirty="0">
                <a:solidFill>
                  <a:srgbClr val="0F2A43"/>
                </a:solidFill>
                <a:latin typeface="Century Schoolbook" pitchFamily="34" charset="0"/>
                <a:ea typeface="Century Schoolbook" pitchFamily="34" charset="-122"/>
                <a:cs typeface="Century Schoolbook" pitchFamily="34" charset="-120"/>
              </a:rPr>
              <a:t>1</a:t>
            </a:r>
            <a:endParaRPr lang="en-US" sz="1800" dirty="0"/>
          </a:p>
        </p:txBody>
      </p:sp>
      <p:sp>
        <p:nvSpPr>
          <p:cNvPr id="8" name="Text 6"/>
          <p:cNvSpPr/>
          <p:nvPr/>
        </p:nvSpPr>
        <p:spPr>
          <a:xfrm>
            <a:off x="1435608" y="2148840"/>
            <a:ext cx="2926080" cy="749808"/>
          </a:xfrm>
          <a:prstGeom prst="rect">
            <a:avLst/>
          </a:prstGeom>
          <a:noFill/>
          <a:ln/>
        </p:spPr>
        <p:txBody>
          <a:bodyPr wrap="square" lIns="0" tIns="0" rIns="0" bIns="0" rtlCol="0" anchor="ctr"/>
          <a:lstStyle/>
          <a:p>
            <a:pP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Read the skeleton</a:t>
            </a:r>
            <a:endParaRPr lang="en-US" sz="1600" dirty="0"/>
          </a:p>
        </p:txBody>
      </p:sp>
      <p:sp>
        <p:nvSpPr>
          <p:cNvPr id="9" name="Text 7"/>
          <p:cNvSpPr/>
          <p:nvPr/>
        </p:nvSpPr>
        <p:spPr>
          <a:xfrm>
            <a:off x="4407408" y="2148840"/>
            <a:ext cx="7040880" cy="749808"/>
          </a:xfrm>
          <a:prstGeom prst="rect">
            <a:avLst/>
          </a:prstGeom>
          <a:noFill/>
          <a:ln/>
        </p:spPr>
        <p:txBody>
          <a:bodyPr wrap="square" lIns="0" tIns="0" rIns="0" bIns="0" rtlCol="0" anchor="ctr"/>
          <a:lstStyle/>
          <a:p>
            <a:pPr indent="0" marL="0">
              <a:lnSpc>
                <a:spcPts val="1500"/>
              </a:lnSpc>
              <a:buNone/>
            </a:pPr>
            <a:r>
              <a:rPr lang="en-US" sz="1250" dirty="0">
                <a:solidFill>
                  <a:srgbClr val="C7D6E2"/>
                </a:solidFill>
                <a:latin typeface="Calibri" pitchFamily="34" charset="0"/>
                <a:ea typeface="Calibri" pitchFamily="34" charset="-122"/>
                <a:cs typeface="Calibri" pitchFamily="34" charset="-120"/>
              </a:rPr>
              <a:t>Every protocol: overview → what's running → tiered orders → monitor → deteriorate → divert → document</a:t>
            </a:r>
            <a:endParaRPr lang="en-US" sz="1250" dirty="0"/>
          </a:p>
        </p:txBody>
      </p:sp>
      <p:sp>
        <p:nvSpPr>
          <p:cNvPr id="10" name="Shape 8"/>
          <p:cNvSpPr/>
          <p:nvPr/>
        </p:nvSpPr>
        <p:spPr>
          <a:xfrm>
            <a:off x="566928" y="3026664"/>
            <a:ext cx="11064240" cy="749808"/>
          </a:xfrm>
          <a:prstGeom prst="roundRect">
            <a:avLst>
              <a:gd name="adj" fmla="val 7317"/>
            </a:avLst>
          </a:prstGeom>
          <a:solidFill>
            <a:srgbClr val="16405F"/>
          </a:solidFill>
          <a:ln w="12700">
            <a:solidFill>
              <a:srgbClr val="24486A"/>
            </a:solidFill>
            <a:prstDash val="solid"/>
          </a:ln>
        </p:spPr>
      </p:sp>
      <p:sp>
        <p:nvSpPr>
          <p:cNvPr id="11" name="Shape 9"/>
          <p:cNvSpPr/>
          <p:nvPr/>
        </p:nvSpPr>
        <p:spPr>
          <a:xfrm>
            <a:off x="786384" y="3172968"/>
            <a:ext cx="457200" cy="457200"/>
          </a:xfrm>
          <a:prstGeom prst="ellipse">
            <a:avLst/>
          </a:prstGeom>
          <a:solidFill>
            <a:srgbClr val="E0982E"/>
          </a:solidFill>
          <a:ln/>
        </p:spPr>
      </p:sp>
      <p:sp>
        <p:nvSpPr>
          <p:cNvPr id="12" name="Text 10"/>
          <p:cNvSpPr/>
          <p:nvPr/>
        </p:nvSpPr>
        <p:spPr>
          <a:xfrm>
            <a:off x="786384" y="3172968"/>
            <a:ext cx="457200" cy="457200"/>
          </a:xfrm>
          <a:prstGeom prst="rect">
            <a:avLst/>
          </a:prstGeom>
          <a:noFill/>
          <a:ln/>
        </p:spPr>
        <p:txBody>
          <a:bodyPr wrap="square" lIns="0" tIns="0" rIns="0" bIns="0" rtlCol="0" anchor="ctr"/>
          <a:lstStyle/>
          <a:p>
            <a:pPr algn="ctr" indent="0" marL="0">
              <a:buNone/>
            </a:pPr>
            <a:r>
              <a:rPr lang="en-US" sz="1800" b="1" dirty="0">
                <a:solidFill>
                  <a:srgbClr val="0F2A43"/>
                </a:solidFill>
                <a:latin typeface="Century Schoolbook" pitchFamily="34" charset="0"/>
                <a:ea typeface="Century Schoolbook" pitchFamily="34" charset="-122"/>
                <a:cs typeface="Century Schoolbook" pitchFamily="34" charset="-120"/>
              </a:rPr>
              <a:t>2</a:t>
            </a:r>
            <a:endParaRPr lang="en-US" sz="1800" dirty="0"/>
          </a:p>
        </p:txBody>
      </p:sp>
      <p:sp>
        <p:nvSpPr>
          <p:cNvPr id="13" name="Text 11"/>
          <p:cNvSpPr/>
          <p:nvPr/>
        </p:nvSpPr>
        <p:spPr>
          <a:xfrm>
            <a:off x="1435608" y="3026664"/>
            <a:ext cx="2926080" cy="749808"/>
          </a:xfrm>
          <a:prstGeom prst="rect">
            <a:avLst/>
          </a:prstGeom>
          <a:noFill/>
          <a:ln/>
        </p:spPr>
        <p:txBody>
          <a:bodyPr wrap="square" lIns="0" tIns="0" rIns="0" bIns="0" rtlCol="0" anchor="ctr"/>
          <a:lstStyle/>
          <a:p>
            <a:pP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Name the family</a:t>
            </a:r>
            <a:endParaRPr lang="en-US" sz="1600" dirty="0"/>
          </a:p>
        </p:txBody>
      </p:sp>
      <p:sp>
        <p:nvSpPr>
          <p:cNvPr id="14" name="Text 12"/>
          <p:cNvSpPr/>
          <p:nvPr/>
        </p:nvSpPr>
        <p:spPr>
          <a:xfrm>
            <a:off x="4407408" y="3026664"/>
            <a:ext cx="7040880" cy="749808"/>
          </a:xfrm>
          <a:prstGeom prst="rect">
            <a:avLst/>
          </a:prstGeom>
          <a:noFill/>
          <a:ln/>
        </p:spPr>
        <p:txBody>
          <a:bodyPr wrap="square" lIns="0" tIns="0" rIns="0" bIns="0" rtlCol="0" anchor="ctr"/>
          <a:lstStyle/>
          <a:p>
            <a:pPr indent="0" marL="0">
              <a:lnSpc>
                <a:spcPts val="1500"/>
              </a:lnSpc>
              <a:buNone/>
            </a:pPr>
            <a:r>
              <a:rPr lang="en-US" sz="1250" dirty="0">
                <a:solidFill>
                  <a:srgbClr val="C7D6E2"/>
                </a:solidFill>
                <a:latin typeface="Calibri" pitchFamily="34" charset="0"/>
                <a:ea typeface="Calibri" pitchFamily="34" charset="-122"/>
                <a:cs typeface="Calibri" pitchFamily="34" charset="-120"/>
              </a:rPr>
              <a:t>Rate &amp; rhythm, pump failure, post-arrest, or a neuro mission to stop secondary injury</a:t>
            </a:r>
            <a:endParaRPr lang="en-US" sz="1250" dirty="0"/>
          </a:p>
        </p:txBody>
      </p:sp>
      <p:sp>
        <p:nvSpPr>
          <p:cNvPr id="15" name="Shape 13"/>
          <p:cNvSpPr/>
          <p:nvPr/>
        </p:nvSpPr>
        <p:spPr>
          <a:xfrm>
            <a:off x="566928" y="3904488"/>
            <a:ext cx="11064240" cy="749808"/>
          </a:xfrm>
          <a:prstGeom prst="roundRect">
            <a:avLst>
              <a:gd name="adj" fmla="val 7317"/>
            </a:avLst>
          </a:prstGeom>
          <a:solidFill>
            <a:srgbClr val="16405F"/>
          </a:solidFill>
          <a:ln w="12700">
            <a:solidFill>
              <a:srgbClr val="24486A"/>
            </a:solidFill>
            <a:prstDash val="solid"/>
          </a:ln>
        </p:spPr>
      </p:sp>
      <p:sp>
        <p:nvSpPr>
          <p:cNvPr id="16" name="Shape 14"/>
          <p:cNvSpPr/>
          <p:nvPr/>
        </p:nvSpPr>
        <p:spPr>
          <a:xfrm>
            <a:off x="786384" y="4050792"/>
            <a:ext cx="457200" cy="457200"/>
          </a:xfrm>
          <a:prstGeom prst="ellipse">
            <a:avLst/>
          </a:prstGeom>
          <a:solidFill>
            <a:srgbClr val="E0982E"/>
          </a:solidFill>
          <a:ln/>
        </p:spPr>
      </p:sp>
      <p:sp>
        <p:nvSpPr>
          <p:cNvPr id="17" name="Text 15"/>
          <p:cNvSpPr/>
          <p:nvPr/>
        </p:nvSpPr>
        <p:spPr>
          <a:xfrm>
            <a:off x="786384" y="4050792"/>
            <a:ext cx="457200" cy="457200"/>
          </a:xfrm>
          <a:prstGeom prst="rect">
            <a:avLst/>
          </a:prstGeom>
          <a:noFill/>
          <a:ln/>
        </p:spPr>
        <p:txBody>
          <a:bodyPr wrap="square" lIns="0" tIns="0" rIns="0" bIns="0" rtlCol="0" anchor="ctr"/>
          <a:lstStyle/>
          <a:p>
            <a:pPr algn="ctr" indent="0" marL="0">
              <a:buNone/>
            </a:pPr>
            <a:r>
              <a:rPr lang="en-US" sz="1800" b="1" dirty="0">
                <a:solidFill>
                  <a:srgbClr val="0F2A43"/>
                </a:solidFill>
                <a:latin typeface="Century Schoolbook" pitchFamily="34" charset="0"/>
                <a:ea typeface="Century Schoolbook" pitchFamily="34" charset="-122"/>
                <a:cs typeface="Century Schoolbook" pitchFamily="34" charset="-120"/>
              </a:rPr>
              <a:t>3</a:t>
            </a:r>
            <a:endParaRPr lang="en-US" sz="1800" dirty="0"/>
          </a:p>
        </p:txBody>
      </p:sp>
      <p:sp>
        <p:nvSpPr>
          <p:cNvPr id="18" name="Text 16"/>
          <p:cNvSpPr/>
          <p:nvPr/>
        </p:nvSpPr>
        <p:spPr>
          <a:xfrm>
            <a:off x="1435608" y="3904488"/>
            <a:ext cx="2926080" cy="749808"/>
          </a:xfrm>
          <a:prstGeom prst="rect">
            <a:avLst/>
          </a:prstGeom>
          <a:noFill/>
          <a:ln/>
        </p:spPr>
        <p:txBody>
          <a:bodyPr wrap="square" lIns="0" tIns="0" rIns="0" bIns="0" rtlCol="0" anchor="ctr"/>
          <a:lstStyle/>
          <a:p>
            <a:pP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Find the trip-wire</a:t>
            </a:r>
            <a:endParaRPr lang="en-US" sz="1600" dirty="0"/>
          </a:p>
        </p:txBody>
      </p:sp>
      <p:sp>
        <p:nvSpPr>
          <p:cNvPr id="19" name="Text 17"/>
          <p:cNvSpPr/>
          <p:nvPr/>
        </p:nvSpPr>
        <p:spPr>
          <a:xfrm>
            <a:off x="4407408" y="3904488"/>
            <a:ext cx="7040880" cy="749808"/>
          </a:xfrm>
          <a:prstGeom prst="rect">
            <a:avLst/>
          </a:prstGeom>
          <a:noFill/>
          <a:ln/>
        </p:spPr>
        <p:txBody>
          <a:bodyPr wrap="square" lIns="0" tIns="0" rIns="0" bIns="0" rtlCol="0" anchor="ctr"/>
          <a:lstStyle/>
          <a:p>
            <a:pPr indent="0" marL="0">
              <a:lnSpc>
                <a:spcPts val="1500"/>
              </a:lnSpc>
              <a:buNone/>
            </a:pPr>
            <a:r>
              <a:rPr lang="en-US" sz="1250" dirty="0">
                <a:solidFill>
                  <a:srgbClr val="C7D6E2"/>
                </a:solidFill>
                <a:latin typeface="Calibri" pitchFamily="34" charset="0"/>
                <a:ea typeface="Calibri" pitchFamily="34" charset="-122"/>
                <a:cs typeface="Calibri" pitchFamily="34" charset="-120"/>
              </a:rPr>
              <a:t>A titrating drip, the vent, an electrical therapy, an active seizure, or a central line = Paramedic</a:t>
            </a:r>
            <a:endParaRPr lang="en-US" sz="1250" dirty="0"/>
          </a:p>
        </p:txBody>
      </p:sp>
      <p:sp>
        <p:nvSpPr>
          <p:cNvPr id="20" name="Shape 18"/>
          <p:cNvSpPr/>
          <p:nvPr/>
        </p:nvSpPr>
        <p:spPr>
          <a:xfrm>
            <a:off x="566928" y="4782312"/>
            <a:ext cx="11064240" cy="749808"/>
          </a:xfrm>
          <a:prstGeom prst="roundRect">
            <a:avLst>
              <a:gd name="adj" fmla="val 7317"/>
            </a:avLst>
          </a:prstGeom>
          <a:solidFill>
            <a:srgbClr val="16405F"/>
          </a:solidFill>
          <a:ln w="12700">
            <a:solidFill>
              <a:srgbClr val="24486A"/>
            </a:solidFill>
            <a:prstDash val="solid"/>
          </a:ln>
        </p:spPr>
      </p:sp>
      <p:sp>
        <p:nvSpPr>
          <p:cNvPr id="21" name="Shape 19"/>
          <p:cNvSpPr/>
          <p:nvPr/>
        </p:nvSpPr>
        <p:spPr>
          <a:xfrm>
            <a:off x="786384" y="4928616"/>
            <a:ext cx="457200" cy="457200"/>
          </a:xfrm>
          <a:prstGeom prst="ellipse">
            <a:avLst/>
          </a:prstGeom>
          <a:solidFill>
            <a:srgbClr val="E0982E"/>
          </a:solidFill>
          <a:ln/>
        </p:spPr>
      </p:sp>
      <p:sp>
        <p:nvSpPr>
          <p:cNvPr id="22" name="Text 20"/>
          <p:cNvSpPr/>
          <p:nvPr/>
        </p:nvSpPr>
        <p:spPr>
          <a:xfrm>
            <a:off x="786384" y="4928616"/>
            <a:ext cx="457200" cy="457200"/>
          </a:xfrm>
          <a:prstGeom prst="rect">
            <a:avLst/>
          </a:prstGeom>
          <a:noFill/>
          <a:ln/>
        </p:spPr>
        <p:txBody>
          <a:bodyPr wrap="square" lIns="0" tIns="0" rIns="0" bIns="0" rtlCol="0" anchor="ctr"/>
          <a:lstStyle/>
          <a:p>
            <a:pPr algn="ctr" indent="0" marL="0">
              <a:buNone/>
            </a:pPr>
            <a:r>
              <a:rPr lang="en-US" sz="1800" b="1" dirty="0">
                <a:solidFill>
                  <a:srgbClr val="0F2A43"/>
                </a:solidFill>
                <a:latin typeface="Century Schoolbook" pitchFamily="34" charset="0"/>
                <a:ea typeface="Century Schoolbook" pitchFamily="34" charset="-122"/>
                <a:cs typeface="Century Schoolbook" pitchFamily="34" charset="-120"/>
              </a:rPr>
              <a:t>4</a:t>
            </a:r>
            <a:endParaRPr lang="en-US" sz="1800" dirty="0"/>
          </a:p>
        </p:txBody>
      </p:sp>
      <p:sp>
        <p:nvSpPr>
          <p:cNvPr id="23" name="Text 21"/>
          <p:cNvSpPr/>
          <p:nvPr/>
        </p:nvSpPr>
        <p:spPr>
          <a:xfrm>
            <a:off x="1435608" y="4782312"/>
            <a:ext cx="2926080" cy="749808"/>
          </a:xfrm>
          <a:prstGeom prst="rect">
            <a:avLst/>
          </a:prstGeom>
          <a:noFill/>
          <a:ln/>
        </p:spPr>
        <p:txBody>
          <a:bodyPr wrap="square" lIns="0" tIns="0" rIns="0" bIns="0" rtlCol="0" anchor="ctr"/>
          <a:lstStyle/>
          <a:p>
            <a:pP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Anticipate &amp; divert</a:t>
            </a:r>
            <a:endParaRPr lang="en-US" sz="1600" dirty="0"/>
          </a:p>
        </p:txBody>
      </p:sp>
      <p:sp>
        <p:nvSpPr>
          <p:cNvPr id="24" name="Text 22"/>
          <p:cNvSpPr/>
          <p:nvPr/>
        </p:nvSpPr>
        <p:spPr>
          <a:xfrm>
            <a:off x="4407408" y="4782312"/>
            <a:ext cx="7040880" cy="749808"/>
          </a:xfrm>
          <a:prstGeom prst="rect">
            <a:avLst/>
          </a:prstGeom>
          <a:noFill/>
          <a:ln/>
        </p:spPr>
        <p:txBody>
          <a:bodyPr wrap="square" lIns="0" tIns="0" rIns="0" bIns="0" rtlCol="0" anchor="ctr"/>
          <a:lstStyle/>
          <a:p>
            <a:pPr indent="0" marL="0">
              <a:lnSpc>
                <a:spcPts val="1500"/>
              </a:lnSpc>
              <a:buNone/>
            </a:pPr>
            <a:r>
              <a:rPr lang="en-US" sz="1250" dirty="0">
                <a:solidFill>
                  <a:srgbClr val="C7D6E2"/>
                </a:solidFill>
                <a:latin typeface="Calibri" pitchFamily="34" charset="0"/>
                <a:ea typeface="Calibri" pitchFamily="34" charset="-122"/>
                <a:cs typeface="Calibri" pitchFamily="34" charset="-120"/>
              </a:rPr>
              <a:t>Know the predictable deterioration and the immediate-diversion triggers before you roll</a:t>
            </a:r>
            <a:endParaRPr lang="en-US" sz="1250" dirty="0"/>
          </a:p>
        </p:txBody>
      </p:sp>
      <p:sp>
        <p:nvSpPr>
          <p:cNvPr id="25" name="Text 23"/>
          <p:cNvSpPr/>
          <p:nvPr/>
        </p:nvSpPr>
        <p:spPr>
          <a:xfrm>
            <a:off x="566928" y="5806440"/>
            <a:ext cx="11064240" cy="640080"/>
          </a:xfrm>
          <a:prstGeom prst="rect">
            <a:avLst/>
          </a:prstGeom>
          <a:noFill/>
          <a:ln/>
        </p:spPr>
        <p:txBody>
          <a:bodyPr wrap="square" lIns="0" tIns="0" rIns="0" bIns="0" rtlCol="0" anchor="ctr"/>
          <a:lstStyle/>
          <a:p>
            <a:pPr indent="0" marL="0">
              <a:lnSpc>
                <a:spcPts val="1700"/>
              </a:lnSpc>
              <a:buNone/>
            </a:pPr>
            <a:r>
              <a:rPr lang="en-US" sz="1350" b="1" dirty="0">
                <a:solidFill>
                  <a:srgbClr val="E0982E"/>
                </a:solidFill>
                <a:latin typeface="Calibri" pitchFamily="34" charset="0"/>
                <a:ea typeface="Calibri" pitchFamily="34" charset="-122"/>
                <a:cs typeface="Calibri" pitchFamily="34" charset="-120"/>
              </a:rPr>
              <a:t>Next — 1300 case-flow lab:  </a:t>
            </a:r>
            <a:pPr indent="0" marL="0">
              <a:lnSpc>
                <a:spcPts val="1700"/>
              </a:lnSpc>
              <a:buNone/>
            </a:pPr>
            <a:r>
              <a:rPr lang="en-US" sz="1350" dirty="0">
                <a:solidFill>
                  <a:srgbClr val="E4ECF3"/>
                </a:solidFill>
                <a:latin typeface="Calibri" pitchFamily="34" charset="0"/>
                <a:ea typeface="Calibri" pitchFamily="34" charset="-122"/>
                <a:cs typeface="Calibri" pitchFamily="34" charset="-120"/>
              </a:rPr>
              <a:t>you'll run these call types end-to-end as case-study discussions, one condition at a time: assess → level of care → transport priorities → chart.</a:t>
            </a:r>
            <a:endParaRPr lang="en-US" sz="1350" dirty="0"/>
          </a:p>
        </p:txBody>
      </p:sp>
      <p:sp>
        <p:nvSpPr>
          <p:cNvPr id="27" name="Text 24"/>
          <p:cNvSpPr/>
          <p:nvPr/>
        </p:nvSpPr>
        <p:spPr>
          <a:xfrm>
            <a:off x="566928" y="6455664"/>
            <a:ext cx="8229600" cy="274320"/>
          </a:xfrm>
          <a:prstGeom prst="rect">
            <a:avLst/>
          </a:prstGeom>
          <a:noFill/>
          <a:ln/>
        </p:spPr>
        <p:txBody>
          <a:bodyPr wrap="square" lIns="0" tIns="0" rIns="0" bIns="0"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AMR CES Academy  ·  Session 1  ·  Cardiac &amp; Neuro Deep Dive</a:t>
            </a:r>
            <a:endParaRPr lang="en-US" sz="900" dirty="0"/>
          </a:p>
        </p:txBody>
      </p:sp>
      <p:sp>
        <p:nvSpPr>
          <p:cNvPr id="28" name="Text 25"/>
          <p:cNvSpPr/>
          <p:nvPr/>
        </p:nvSpPr>
        <p:spPr>
          <a:xfrm>
            <a:off x="11076127" y="6455664"/>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1 · Cardiac &amp; Neuro IFT Call Types</dc:title>
  <dc:subject>PptxGenJS Presentation</dc:subject>
  <dc:creator>AMR CES Academy</dc:creator>
  <cp:lastModifiedBy>AMR CES Academy</cp:lastModifiedBy>
  <cp:revision>1</cp:revision>
  <dcterms:created xsi:type="dcterms:W3CDTF">2026-07-09T12:32:32Z</dcterms:created>
  <dcterms:modified xsi:type="dcterms:W3CDTF">2026-07-09T12:32:32Z</dcterms:modified>
</cp:coreProperties>
</file>