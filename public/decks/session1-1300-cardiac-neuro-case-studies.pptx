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this is a discussion lab, not a moulage/role-play. Each case is one slide. Run the four spine questions, then the sharp question, then have the group close the case with a spoken call type, the crew it needs, a one-line medical-necessity statement, and the first charting priority. Several cases are intentionally dispatched with a crew that can't legally run what's on the pump — the correct answer there is to fix the crew or decline.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Debrief — Call type: rate &amp; rhythm, pacing-dependent bradycardia (II-1). Level of care: Paramedic / critical-care; pacing, atropine, and pressor titration are all Paramedic-only, so an AEMT/EMT crew could not take this. Monitoring: pacing capture + threshold q15, MAP ≥65, mental status q5, continuous rhythm. Deterioration: loss of capture, high-grade/complete block instability, cardiogenic shock, ventricular dysrhythmia. Diversion: capture failure with instability unresponsive to intervention, refractory hypotension, pulselessness. Sharp question: if capture is lost, escalate output/rate and increase pacing per protocol, support MAP with the pressor, and if unstable and unresponsive, divert to the nearest capable facility — all Paramedic-level. Med-nec: pacing-dependent, hemodynamically fragile patient requiring continuous monitoring and Paramedic interventions unavailable by private vehicle.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Debrief — Call type: rate &amp; rhythm, stable/converted SVT (II-2). Level of care: this is the AEMT-capable dysrhythmia — stable, converted, nothing titrating. AEMT may monitor, maintain the lock, and push formulary meds. The tension: if SVT recurs and becomes unstable, definitive care is synchronized cardioversion, which is Paramedic-only. Reasonable to accept as an AEMT crew for a stable transfer IF they brief a plan: vagal/adenosine is a Paramedic order, so an unstable recurrence means DMO contact and diversion. Monitoring: continuous ECG, BP, watch for recurrence or degeneration to A-fib. Diversion: instability, ischemic chest pain, altered mental status, rhythm degeneration. Med-nec: monitored dysrhythmia at real risk of recurrence requiring continuous ECG and possible intervention.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Debrief — Call type: rate &amp; rhythm, A-fib RVR on a titratable rate-control infusion (II-3). This is a deliberate crew-mismatch case. Level of care: a titratable diltiazem drip is a Paramedic-managed infusion; AEMTs may not initiate or titrate infusions. The heparin drip is likewise Paramedic-managed. So the AEMT + EMT crew as dispatched CANNOT take this — the correct answer is to get a Paramedic (or an accompanying RN) before accepting. Monitoring: ventricular-rate trend, BP tolerance to rate control q5, infusion dual-check at departure. Deterioration: hypotension from rate control, recurrent RVR, ischemia. Diversion: instability unresponsive to therapy, ischemic chest pain, AMS. Med-nec: active titratable infusion and anticoagulation requiring Paramedic-level management en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Debrief — Call type: rate &amp; rhythm, presumed VT (II-4) — treat wide-complex as VT until proven otherwise. Level of care: Paramedic; an antiarrhythmic infusion plus the real possibility of cardioversion/defibrillation puts this firmly at Paramedic. Monitoring: continuous rhythm with pulse checks at every rhythm change, BP q5, antiarrhythmic infusion rate verification. Deterioration: progression to unstable or pulseless VT, VF, cardiogenic shock. Diversion: sustained unstable VT, pulse loss, VF, refractory hypotension. Sharp question: pads placed and connected, defibrillator on and charged-ready, IV patent, amiodarone rate verified, suction/airway ready, and the plan verbalized (unstable → synchronized cardioversion; pulseless → defibrillate + ACLS). Med-nec: unstable-prone dysrhythmia on an antiarrhythmic infusion requiring Paramedic care and defibrillation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Debrief — Call type: pump failure, time-critical STEMI (II-5). Level of care: Paramedic manages the heparin and nitro infusions; the AEMT genuinely adds value here by acquiring and recognizing the STEMI 12-lead and repeating it if pain changes (AEMT 12-lead scope is STEMI-recognition only; tPA/heparin remain Paramedic-managed). Monitoring: continuous ECG with ST awareness, BP q5 (MAP ≥65), 0–10 pain scale q5–10, heparin dual-check. Deterioration: ventricular dysrhythmia, cardiogenic shock, recurrent ischemia, pulmonary edema. Diversion: sustained V-dysrhythmia, refractory hypotension, respiratory failure, arrest. Sharp question: inferior STEMI raises the risk of RV infarct, which is preload-dependent — nitroglycerin can drop preload and cause profound hypotension, so hold/limit nitro if RV infarct is suspected and watch BP closely. Med-nec: time-critical reperfusion transfer with Paramedic-managed infusions and high deterioration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Debrief — Call type: pump failure / decompensated heart failure (II-6). Level of care: Paramedic (titratable nitro infusion) — but note ALL levels assist the CPAP mask seal and keep her upright, and an EMT can support that. Monitoring: respiratory rate and work of breathing continuously, SpO2 trend (≥94%), BP q5 (MAP ≥65), CPAP seal and tolerance, mental status as an oxygenation marker. Deterioration: respiratory fatigue progressing to failure, hypotension from the vasodilator, arrhythmia. Diversion: refractory hypoxia despite CPAP and oxygen, impending respiratory arrest, severe hypotension. Sharp question: falling SpO2, rising fatigue, declining mental status, or intolerance of the mask means prepare for intubation (Paramedic) and consider diverting before she crashes. Med-nec: hypoxic, bed-confined patient on CPAP plus a titratable nitro drip requiring Paramedic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Debrief — Call type: pump failure / cardiogenic shock (II-7) — the bridge to Session 4. Level of care: critical-care / accompanied; multiple titratable pressors, a vent, and invasive monitoring exceed Paramedic standing orders alone, hence the accompanying RN. Role clarity: the RN owns pressor titration and any device management; the Paramedic owns transport, airway support within scope, and overall scope discipline; the EMT/driver supports movement without interrupting infusions. If an Impella or other MCS device is placed before transfer, the specialty/accompanying team owns it — the ambulance crew NEVER adjusts an MCS device. Monitoring: MAP q3–5, pressor sites and rates q15, vent synchrony, mental status, device function. Diversion: refractory hypotension despite titration, sustained dysrhythmia, device failure, arrest. Med-nec: pressor-dependent shock requiring critical-care continuity and possible mechanical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Debrief — Call type: post-cardiac arrest syndrome (II-8), the whole critical-care bundle. Level of care: critical care — Paramedic, vent-trained, maintaining sedation + pressor continuity; this is the cardiac call most likely to need an accompanying critical-care resource. Monitoring: continuous ECG and ETCO2, MAP q3–5 (≥65), SpO2 and vent synchrony, neuro checks (pupils, response), TTM device. Deterioration: re-arrest (the dominant risk), refractory hypotension, hypoxia, ventricular dysrhythmia. Diversion: pulse loss, sustained V-dysrhythmia, refractory hypotension, inability to oxygenate. Sharp question: 100% is NOT the goal — hyperoxia independently worsens neurologic outcome after arrest, so titrate FiO2 down to keep SpO2 94–98%. Med-nec: post-arrest instability requiring ventilator, pressor, sedation, and temperature-management continuity.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Debrief — Call type: acute ischemic stroke, LVO for thrombectomy (II-9). Level of care: Paramedic (tPA is a hospital-supplied, Paramedic-managed infusion — the AEMT does not adjust it). Monitoring: serial neuro exam q5 (GCS, focal deficits, speech), BP per sending parameters, aggressive airway/aspiration vigilance, blood glucose. Deterioration: neuro decline from edema or hemorrhagic conversion, vomiting/aspiration, airway compromise, hypotension. Diversion: airway compromise, rapid neuro deterioration, refractory hypotension. Sharp question: no — do NOT routinely lower BP in ischemic stroke; permissive hypertension perfuses the penumbra. 178/98 is within the usual post-tPA ceiling (≤180/105); only act on BP per the sending physician's written parameters. Med-nec: time-critical LVO transfer on tPA requiring Paramedic management and continuous neuro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Debrief — Call type: neurologic deterioration / ICH (II-10). Level of care: Paramedic / critical-care — a titratable nicardipine drip, sedation infusion, and ventilator are all Paramedic-managed; the AEMT supports within scope (glucose, IV, monitoring, prepping meds) but does not run the infusions. Drill the secondary-injury triad: SpO2 ≥94%, SBP ≥90, ETCO2 35–40 — avoid hyperventilation unless herniation is imminent. Monitoring: neuro q5 (GCS, pupils, focal), BP per sending parameters, seizure watch, HOB 30°. Sharp question: a blown/unequal or newly unreactive pupil, rapid GCS drop, or posturing signals herniation — immediate diversion (with brief controlled hyperventilation only if herniation is imminent). Med-nec: intubated ICH on an antihypertensive infusion requiring Paramedic-level neuro-critical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Debrief — Call type: seizure / status epilepticus (≥5 min or no return to baseline), post-intubation (II-11). Level of care: Paramedic (sedation infusion + ventilator). Monitoring: airway and respiratory effort continuously, SpO2, recurrence of seizure activity, mental status/return to baseline, glucose. If seizure recurs, midazolam is the Paramedic intervention. Deterioration: recurrent/prolonged seizure, hypoventilation/apnea, aspiration, post-ictal agitation threatening the airway. Diversion: uncontrolled seizure unresponsive to benzodiazepines, airway compromise, persistent hypoxia. Sharp question: the two big killers are airway loss (apnea/aspiration, tube dislodgement) and recurrent/ongoing seizure — both point to relentless airway and seizure vigilance. Med-nec: intubated status epilepticus on a sedation infusion requiring Paramedic airway and medication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Debrief — Call type: brain tumor / mass-effect transfer (II-12), usually the lowest-acuity neuro call. Level of care: with no titratable drip and GCS 14, an AEMT crew is reasonable and appropriate for a monitored transport. The key is the escalation plan: a new seizure needs midazolam (Paramedic), and a GCS drop to ≤8 becomes an airway emergency — so brief when to call DMO and when to divert. Monitoring: neuro q5–10 (GCS, pupils, focal deficits), seizure watch, vomiting/aspiration risk, HOB 30°. Deterioration: progressive neurologic decline, seizure, vomiting with aspiration, herniation signs. Diversion: rapid neuro deterioration, airway compromise, refractory hypotension. Med-nec: mass-effect patient at risk of neurologic deterioration requiring monitored transport with escalation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lab on the four meta-lessons. The single most important is that a titratable drip sets the crew floor, and that a mismatched dispatch is something they are allowed — expected — to push back on. Hand forward to the 1430 block, which adds pulmonary/medical/BLS call types and the accompanied-specialty preview.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6405F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1965960"/>
            <a:ext cx="1417320" cy="14173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pic>
        <p:nvPicPr>
          <p:cNvPr id="4" name="Image 0" descr="/home/claude/deck/icons/hear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1023" y="2334463"/>
            <a:ext cx="680314" cy="68031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00" y="3429000"/>
            <a:ext cx="1417320" cy="14173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pic>
        <p:nvPicPr>
          <p:cNvPr id="6" name="Image 1" descr="/home/claude/deck/icons/bra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6903" y="3797503"/>
            <a:ext cx="680314" cy="6803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1300–1415  ·  CASE-FLOW LAB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66928" y="1828800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Cardiac &amp; Neuro</a:t>
            </a:r>
            <a:endParaRPr lang="en-US" sz="4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 Studies</a:t>
            </a:r>
            <a:endParaRPr lang="en-US" sz="4600" dirty="0"/>
          </a:p>
        </p:txBody>
      </p:sp>
      <p:sp>
        <p:nvSpPr>
          <p:cNvPr id="9" name="Text 5"/>
          <p:cNvSpPr/>
          <p:nvPr/>
        </p:nvSpPr>
        <p:spPr>
          <a:xfrm>
            <a:off x="566928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transfers · one reasoning spine · discuss, don't role-play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66928" y="4526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E0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case per condition (II-1 to II-12)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what's running → name the family → find the trip-wire → anticipate &amp; divert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CES Academy  ·  Session 1  ·  Cardiac &amp; Neuro Case Studies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THE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Discussion, not role-play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one case at a time. Work the four spine questions as a group, then the sharp question. The facilitator debrief lives in each slide's speaker notes.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3529584" cy="361188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377440"/>
            <a:ext cx="777240" cy="7772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pic>
        <p:nvPicPr>
          <p:cNvPr id="7" name="Image 0" descr="/home/claude/deck/icons/tasks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618" y="257952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73936" y="2377440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spine — every case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77824" y="3383280"/>
            <a:ext cx="29077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Call type &amp; medical necessity</a:t>
            </a:r>
            <a:endParaRPr lang="en-US" sz="1250" dirty="0"/>
          </a:p>
          <a:p>
            <a:pPr marL="165100" indent="-1651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Level of care &amp; crew (scope)</a:t>
            </a:r>
            <a:endParaRPr lang="en-US" sz="1250" dirty="0"/>
          </a:p>
          <a:p>
            <a:pPr marL="165100" indent="-1651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Monitoring &amp; deterioration</a:t>
            </a:r>
            <a:endParaRPr lang="en-US" sz="1250" dirty="0"/>
          </a:p>
          <a:p>
            <a:pPr marL="165100" indent="-1651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Diversion triggers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52544" y="2103120"/>
            <a:ext cx="3529584" cy="361188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2377440"/>
            <a:ext cx="777240" cy="777240"/>
          </a:xfrm>
          <a:prstGeom prst="ellipse">
            <a:avLst/>
          </a:prstGeom>
          <a:solidFill>
            <a:srgbClr val="E0982E"/>
          </a:solidFill>
          <a:ln/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pic>
        <p:nvPicPr>
          <p:cNvPr id="12" name="Image 1" descr="/home/claude/deck/icons/bolt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234" y="257952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9552" y="2377440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sharp question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63440" y="3383280"/>
            <a:ext cx="29077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pointed decision per case</a:t>
            </a:r>
            <a:endParaRPr lang="en-US" sz="1250" dirty="0"/>
          </a:p>
          <a:p>
            <a:pPr marL="165100" indent="-1651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a scope, drip, or divert call</a:t>
            </a:r>
            <a:endParaRPr lang="en-US" sz="1250" dirty="0"/>
          </a:p>
          <a:p>
            <a:pPr marL="165100" indent="-1651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'gotcha' answer — reason it</a:t>
            </a:r>
            <a:endParaRPr lang="en-US" sz="1250" dirty="0"/>
          </a:p>
          <a:p>
            <a:pPr marL="165100" indent="-1651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it back to the protocol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2103120"/>
            <a:ext cx="3529584" cy="361188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30768" y="2377440"/>
            <a:ext cx="777240" cy="777240"/>
          </a:xfrm>
          <a:prstGeom prst="ellipse">
            <a:avLst/>
          </a:prstGeom>
          <a:solidFill>
            <a:srgbClr val="2A9D8F"/>
          </a:solidFill>
          <a:ln/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pic>
        <p:nvPicPr>
          <p:cNvPr id="17" name="Image 2" descr="/home/claude/deck/icons/notes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2850" y="2579522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45168" y="2377440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Close each case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49056" y="3383280"/>
            <a:ext cx="29077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call type out loud</a:t>
            </a:r>
            <a:endParaRPr lang="en-US" sz="1250" dirty="0"/>
          </a:p>
          <a:p>
            <a:pPr marL="165100" indent="-1651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crew it needs &amp; why</a:t>
            </a:r>
            <a:endParaRPr lang="en-US" sz="1250" dirty="0"/>
          </a:p>
          <a:p>
            <a:pPr marL="165100" indent="-1651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one-line med-nec statement</a:t>
            </a:r>
            <a:endParaRPr lang="en-US" sz="1250" dirty="0"/>
          </a:p>
          <a:p>
            <a:pPr marL="165100" indent="-1651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first thing you'd chart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66928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tip:  </a:t>
            </a:r>
            <a:pPr algn="ctr" indent="0" marL="0">
              <a:buNone/>
            </a:pPr>
            <a:r>
              <a:rPr lang="en-US" sz="1300" i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crew mismatch cases breathe — a few are dispatched with the wrong level of care on purpose. The right answer may be “we don't take it as dispatched.”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CES Academy  ·  Session 1  ·  Cardiac &amp; Neuro Case Studies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· RATE &amp; RHYTHM  ·  CASE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Bradycardia — complete heart block (II-1)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  </a:t>
            </a:r>
            <a:pPr indent="0" marL="0">
              <a:buNone/>
            </a:pPr>
            <a:r>
              <a:rPr lang="en-US" sz="130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ED  →  cardiac center for transvenous pacemaker / EP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5230368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10512"/>
            <a:ext cx="5230368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10512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39696" y="2432304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M, syncope at home, found in complete heart block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314700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51276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EXAM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39696" y="3332988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38 underlying, paced at 70; BP 92/54; alert, cool peripheries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15384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51960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39696" y="4233672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Transcutaneous pacing (capturing, 70 mA), norepinephrine infusion, continuous ECG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116068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52644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39696" y="5134356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Paramedic + EMT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25896" y="1810512"/>
            <a:ext cx="5598871" cy="4315968"/>
          </a:xfrm>
          <a:prstGeom prst="roundRect">
            <a:avLst>
              <a:gd name="adj" fmla="val 1483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1810512"/>
            <a:ext cx="5598871" cy="457200"/>
          </a:xfrm>
          <a:prstGeom prst="rect">
            <a:avLst/>
          </a:prstGeom>
          <a:solidFill>
            <a:srgbClr val="16405F"/>
          </a:solidFill>
          <a:ln/>
        </p:spPr>
      </p:sp>
      <p:sp>
        <p:nvSpPr>
          <p:cNvPr id="21" name="Text 19"/>
          <p:cNvSpPr/>
          <p:nvPr/>
        </p:nvSpPr>
        <p:spPr>
          <a:xfrm>
            <a:off x="6281928" y="1810512"/>
            <a:ext cx="5086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0216" y="24597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300216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239572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type &amp; medical necessity — how do you justify this transfer in the chart?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0216" y="31912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300216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312724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care &amp; crew — what here is in, or out of, your scope?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0216" y="39227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300216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12280" y="385876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deterioration — what do you watch, and how could this go bad?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00216" y="46542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300216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12280" y="459028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Diversion — what finding turns you around?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300216" y="5385816"/>
            <a:ext cx="384048" cy="384048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35" name="Text 33"/>
          <p:cNvSpPr/>
          <p:nvPr/>
        </p:nvSpPr>
        <p:spPr>
          <a:xfrm>
            <a:off x="6300216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812280" y="532180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0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question: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Pacing is capturing now. What's your plan if you lose capture en route — and is that plan within your scope?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CES Academy  ·  Session 1  ·  Cardiac &amp; Neuro Case Studies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· RATE &amp; RHYTHM  ·  CASE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SVT — converted, for EP evaluation (II-2)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  </a:t>
            </a:r>
            <a:pPr indent="0" marL="0">
              <a:buNone/>
            </a:pPr>
            <a:r>
              <a:rPr lang="en-US" sz="130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ED  →  electrophysiology consult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5230368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10512"/>
            <a:ext cx="5230368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10512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39696" y="2432304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F, recurrent palpitations; PSVT converted with adenosine ~2 h ago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314700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51276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EXAM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39696" y="3332988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78 sinus, BP 124/76, asymptomatic; saline lock in place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15384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51960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39696" y="4233672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monitor; saline lock — nothing infusing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116068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52644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39696" y="5134356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AEMT + EMT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25896" y="1810512"/>
            <a:ext cx="5598871" cy="4315968"/>
          </a:xfrm>
          <a:prstGeom prst="roundRect">
            <a:avLst>
              <a:gd name="adj" fmla="val 1483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1810512"/>
            <a:ext cx="5598871" cy="457200"/>
          </a:xfrm>
          <a:prstGeom prst="rect">
            <a:avLst/>
          </a:prstGeom>
          <a:solidFill>
            <a:srgbClr val="16405F"/>
          </a:solidFill>
          <a:ln/>
        </p:spPr>
      </p:sp>
      <p:sp>
        <p:nvSpPr>
          <p:cNvPr id="21" name="Text 19"/>
          <p:cNvSpPr/>
          <p:nvPr/>
        </p:nvSpPr>
        <p:spPr>
          <a:xfrm>
            <a:off x="6281928" y="1810512"/>
            <a:ext cx="5086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0216" y="24597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300216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239572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type &amp; medical necessity — how do you justify this transfer in the chart?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0216" y="31912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300216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312724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care &amp; crew — what here is in, or out of, your scope?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0216" y="39227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300216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12280" y="385876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deterioration — what do you watch, and how could this go bad?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00216" y="46542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300216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12280" y="459028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Diversion — what finding turns you around?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300216" y="5385816"/>
            <a:ext cx="384048" cy="384048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35" name="Text 33"/>
          <p:cNvSpPr/>
          <p:nvPr/>
        </p:nvSpPr>
        <p:spPr>
          <a:xfrm>
            <a:off x="6300216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812280" y="532180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0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question: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stable and converted now. Is an AEMT crew appropriate given the recurrence risk — and what's your plan if it recurs unstable?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CES Academy  ·  Session 1  ·  Cardiac &amp; Neuro Case Studies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· RATE &amp; RHYTHM  ·  CASE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A-fib with RVR — on a diltiazem drip (II-3)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  </a:t>
            </a:r>
            <a:pPr indent="0" marL="0">
              <a:buNone/>
            </a:pPr>
            <a:r>
              <a:rPr lang="en-US" sz="130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 →  cardiology for rate control &amp; anticoagulation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5230368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10512"/>
            <a:ext cx="5230368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10512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39696" y="2432304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M, new-onset A-fib with palpitations and mild dyspnea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314700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51276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EXAM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39696" y="3332988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118 irregular, BP 108/70, lungs clear, A&amp;O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15384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51960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39696" y="4233672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Diltiazem infusion 10 mg/hr (titratable), heparin infusion, cardiac monitor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116068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52644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39696" y="5134356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AEMT + EMT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25896" y="1810512"/>
            <a:ext cx="5598871" cy="4315968"/>
          </a:xfrm>
          <a:prstGeom prst="roundRect">
            <a:avLst>
              <a:gd name="adj" fmla="val 1483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1810512"/>
            <a:ext cx="5598871" cy="457200"/>
          </a:xfrm>
          <a:prstGeom prst="rect">
            <a:avLst/>
          </a:prstGeom>
          <a:solidFill>
            <a:srgbClr val="16405F"/>
          </a:solidFill>
          <a:ln/>
        </p:spPr>
      </p:sp>
      <p:sp>
        <p:nvSpPr>
          <p:cNvPr id="21" name="Text 19"/>
          <p:cNvSpPr/>
          <p:nvPr/>
        </p:nvSpPr>
        <p:spPr>
          <a:xfrm>
            <a:off x="6281928" y="1810512"/>
            <a:ext cx="5086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0216" y="24597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300216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239572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type &amp; medical necessity — how do you justify this transfer in the chart?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0216" y="31912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300216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312724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care &amp; crew — what here is in, or out of, your scope?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0216" y="39227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300216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12280" y="385876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deterioration — what do you watch, and how could this go bad?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00216" y="46542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300216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12280" y="459028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Diversion — what finding turns you around?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300216" y="5385816"/>
            <a:ext cx="384048" cy="384048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35" name="Text 33"/>
          <p:cNvSpPr/>
          <p:nvPr/>
        </p:nvSpPr>
        <p:spPr>
          <a:xfrm>
            <a:off x="6300216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812280" y="532180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0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question: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crew is AEMT + EMT with a titratable diltiazem drip running. Can you take this transfer as dispatched?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CES Academy  ·  Session 1  ·  Cardiac &amp; Neuro Case Studies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· RATE &amp; RHYTHM  ·  CASE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Wide-complex tachycardia — stable VT (II-4)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  </a:t>
            </a:r>
            <a:pPr indent="0" marL="0">
              <a:buNone/>
            </a:pPr>
            <a:r>
              <a:rPr lang="en-US" sz="130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 →  EP / tertiary cardiac center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5230368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10512"/>
            <a:ext cx="5230368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10512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39696" y="2432304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M, known cardiomyopathy, monomorphic VT with a pulse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314700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51276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EXAM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39696" y="3332988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130 wide-complex, BP 106/68, A&amp;O, mild chest discomfort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15384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51960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39696" y="4233672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Amiodarone infusion, continuous ECG, defibrillation pads pre-placed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116068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52644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39696" y="5134356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Paramedic + EMT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25896" y="1810512"/>
            <a:ext cx="5598871" cy="4315968"/>
          </a:xfrm>
          <a:prstGeom prst="roundRect">
            <a:avLst>
              <a:gd name="adj" fmla="val 1483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1810512"/>
            <a:ext cx="5598871" cy="457200"/>
          </a:xfrm>
          <a:prstGeom prst="rect">
            <a:avLst/>
          </a:prstGeom>
          <a:solidFill>
            <a:srgbClr val="16405F"/>
          </a:solidFill>
          <a:ln/>
        </p:spPr>
      </p:sp>
      <p:sp>
        <p:nvSpPr>
          <p:cNvPr id="21" name="Text 19"/>
          <p:cNvSpPr/>
          <p:nvPr/>
        </p:nvSpPr>
        <p:spPr>
          <a:xfrm>
            <a:off x="6281928" y="1810512"/>
            <a:ext cx="5086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0216" y="24597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300216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239572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type &amp; medical necessity — how do you justify this transfer in the chart?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0216" y="31912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300216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312724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care &amp; crew — what here is in, or out of, your scope?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0216" y="39227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300216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12280" y="385876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deterioration — what do you watch, and how could this go bad?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00216" y="46542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300216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12280" y="459028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Diversion — what finding turns you around?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300216" y="5385816"/>
            <a:ext cx="384048" cy="384048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35" name="Text 33"/>
          <p:cNvSpPr/>
          <p:nvPr/>
        </p:nvSpPr>
        <p:spPr>
          <a:xfrm>
            <a:off x="6300216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812280" y="532180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0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question: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rhythm is stable now with pads on. What has to be ready — and confirmed — before you move this patient?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CES Academy  ·  Session 1  ·  Cardiac &amp; Neuro Case Studies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· PUMP FAILURE  ·  CASE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ACS — inferior STEMI to the cath lab (II-5)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  </a:t>
            </a:r>
            <a:pPr indent="0" marL="0">
              <a:buNone/>
            </a:pPr>
            <a:r>
              <a:rPr lang="en-US" sz="130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ED  →  PCI center (cath lab activated, time-critical)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5230368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10512"/>
            <a:ext cx="5230368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10512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39696" y="2432304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M, crushing chest pain onset ~90 min ago; inferior ST-elevation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314700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51276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EXAM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39696" y="3332988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62, BP 112/70, pain 6/10, SpO2 96% on room air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15384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51960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39696" y="4233672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Heparin infusion, nitroglycerin infusion, ASA given; O₂ held (SpO2 ≥94%)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116068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52644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39696" y="5134356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Paramedic + AEMT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25896" y="1810512"/>
            <a:ext cx="5598871" cy="4315968"/>
          </a:xfrm>
          <a:prstGeom prst="roundRect">
            <a:avLst>
              <a:gd name="adj" fmla="val 1483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1810512"/>
            <a:ext cx="5598871" cy="457200"/>
          </a:xfrm>
          <a:prstGeom prst="rect">
            <a:avLst/>
          </a:prstGeom>
          <a:solidFill>
            <a:srgbClr val="16405F"/>
          </a:solidFill>
          <a:ln/>
        </p:spPr>
      </p:sp>
      <p:sp>
        <p:nvSpPr>
          <p:cNvPr id="21" name="Text 19"/>
          <p:cNvSpPr/>
          <p:nvPr/>
        </p:nvSpPr>
        <p:spPr>
          <a:xfrm>
            <a:off x="6281928" y="1810512"/>
            <a:ext cx="5086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0216" y="24597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300216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239572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type &amp; medical necessity — how do you justify this transfer in the chart?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0216" y="31912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300216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312724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care &amp; crew — what here is in, or out of, your scope?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0216" y="39227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300216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12280" y="385876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deterioration — what do you watch, and how could this go bad?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00216" y="46542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300216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12280" y="459028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Diversion — what finding turns you around?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300216" y="5385816"/>
            <a:ext cx="384048" cy="384048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35" name="Text 33"/>
          <p:cNvSpPr/>
          <p:nvPr/>
        </p:nvSpPr>
        <p:spPr>
          <a:xfrm>
            <a:off x="6300216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812280" y="532180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0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question: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an inferior STEMI. Why might you hold — or be very cautious with — the nitroglycerin?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CES Academy  ·  Session 1  ·  Cardiac &amp; Neuro Case Studies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· PUMP FAILURE  ·  CASE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Acute pulmonary edema on CPAP (II-6)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  </a:t>
            </a:r>
            <a:pPr indent="0" marL="0">
              <a:buNone/>
            </a:pPr>
            <a:r>
              <a:rPr lang="en-US" sz="130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 →  ICU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5230368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10512"/>
            <a:ext cx="5230368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10512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39696" y="2432304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F, acute dyspnea, hypertensive, diffuse crackles (flash pulmonary edema)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314700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51276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EXAM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39696" y="3332988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28, SpO2 91% on CPAP 10, BP 178/96, sitting upright, anxious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15384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51960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39696" y="4233672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CPAP via Flow-Safe II at 10 cmH₂O, nitroglycerin infusion, recent diuretic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116068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52644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39696" y="5134356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Paramedic + EMT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25896" y="1810512"/>
            <a:ext cx="5598871" cy="4315968"/>
          </a:xfrm>
          <a:prstGeom prst="roundRect">
            <a:avLst>
              <a:gd name="adj" fmla="val 1483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1810512"/>
            <a:ext cx="5598871" cy="457200"/>
          </a:xfrm>
          <a:prstGeom prst="rect">
            <a:avLst/>
          </a:prstGeom>
          <a:solidFill>
            <a:srgbClr val="16405F"/>
          </a:solidFill>
          <a:ln/>
        </p:spPr>
      </p:sp>
      <p:sp>
        <p:nvSpPr>
          <p:cNvPr id="21" name="Text 19"/>
          <p:cNvSpPr/>
          <p:nvPr/>
        </p:nvSpPr>
        <p:spPr>
          <a:xfrm>
            <a:off x="6281928" y="1810512"/>
            <a:ext cx="5086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0216" y="24597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300216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239572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type &amp; medical necessity — how do you justify this transfer in the chart?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0216" y="31912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300216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312724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care &amp; crew — what here is in, or out of, your scope?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0216" y="39227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300216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12280" y="385876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deterioration — what do you watch, and how could this go bad?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00216" y="46542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300216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12280" y="459028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Diversion — what finding turns you around?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300216" y="5385816"/>
            <a:ext cx="384048" cy="384048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35" name="Text 33"/>
          <p:cNvSpPr/>
          <p:nvPr/>
        </p:nvSpPr>
        <p:spPr>
          <a:xfrm>
            <a:off x="6300216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812280" y="532180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0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question: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She's starting to tire on CPAP. What's your trigger to change the plan — and what would make you divert?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CES Academy  ·  Session 1  ·  Cardiac &amp; Neuro Case Studies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· PUMP FAILURE  ·  CASE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Cardiogenic shock — pressors, possible Impella (II-7)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  </a:t>
            </a:r>
            <a:pPr indent="0" marL="0">
              <a:buNone/>
            </a:pPr>
            <a:r>
              <a:rPr lang="en-US" sz="130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 →  MCS / cath center (Impella under consideration)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5230368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10512"/>
            <a:ext cx="5230368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10512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39696" y="2432304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M, large anterior MI, cold and clammy, making little urine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314700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51276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EXAM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39696" y="3332988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Intubated; MAP 62 on two pressors; HR 110; lactate rising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15384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51960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39696" y="4233672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Norepinephrine + dobutamine infusions, ventilator, arterial line, sedation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116068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52644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39696" y="5134356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Paramedic + accompanying ICU RN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25896" y="1810512"/>
            <a:ext cx="5598871" cy="4315968"/>
          </a:xfrm>
          <a:prstGeom prst="roundRect">
            <a:avLst>
              <a:gd name="adj" fmla="val 1483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1810512"/>
            <a:ext cx="5598871" cy="457200"/>
          </a:xfrm>
          <a:prstGeom prst="rect">
            <a:avLst/>
          </a:prstGeom>
          <a:solidFill>
            <a:srgbClr val="16405F"/>
          </a:solidFill>
          <a:ln/>
        </p:spPr>
      </p:sp>
      <p:sp>
        <p:nvSpPr>
          <p:cNvPr id="21" name="Text 19"/>
          <p:cNvSpPr/>
          <p:nvPr/>
        </p:nvSpPr>
        <p:spPr>
          <a:xfrm>
            <a:off x="6281928" y="1810512"/>
            <a:ext cx="5086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0216" y="24597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300216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239572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type &amp; medical necessity — how do you justify this transfer in the chart?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0216" y="31912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300216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312724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care &amp; crew — what here is in, or out of, your scope?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0216" y="39227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300216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12280" y="385876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deterioration — what do you watch, and how could this go bad?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00216" y="46542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300216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12280" y="459028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Diversion — what finding turns you around?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300216" y="5385816"/>
            <a:ext cx="384048" cy="384048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35" name="Text 33"/>
          <p:cNvSpPr/>
          <p:nvPr/>
        </p:nvSpPr>
        <p:spPr>
          <a:xfrm>
            <a:off x="6300216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812280" y="532180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0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question: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RN is riding with the pressors. Who owns what during this transport — and what do you never touch?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CES Academy  ·  Session 1  ·  Cardiac &amp; Neuro Case Studies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· POST-ARREST  ·  CASE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Post-cardiac arrest — post-ROSC, cooling (II-8)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  </a:t>
            </a:r>
            <a:pPr indent="0" marL="0">
              <a:buNone/>
            </a:pPr>
            <a:r>
              <a:rPr lang="en-US" sz="130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 →  cardiac ICU (targeted temperature management + cath)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5230368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10512"/>
            <a:ext cx="5230368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10512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39696" y="2432304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M, witnessed VF arrest, ROSC after ~12 min of resuscitation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314700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51276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EXAM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39696" y="3332988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Intubated on vent, sedated; MAP 68 on norepinephrine; TTM at 34 °C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15384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51960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39696" y="4233672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Ventilator, ketamine sedation infusion, norepinephrine, TTM device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116068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52644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39696" y="5134356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Paramedic + EMT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25896" y="1810512"/>
            <a:ext cx="5598871" cy="4315968"/>
          </a:xfrm>
          <a:prstGeom prst="roundRect">
            <a:avLst>
              <a:gd name="adj" fmla="val 1483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1810512"/>
            <a:ext cx="5598871" cy="457200"/>
          </a:xfrm>
          <a:prstGeom prst="rect">
            <a:avLst/>
          </a:prstGeom>
          <a:solidFill>
            <a:srgbClr val="16405F"/>
          </a:solidFill>
          <a:ln/>
        </p:spPr>
      </p:sp>
      <p:sp>
        <p:nvSpPr>
          <p:cNvPr id="21" name="Text 19"/>
          <p:cNvSpPr/>
          <p:nvPr/>
        </p:nvSpPr>
        <p:spPr>
          <a:xfrm>
            <a:off x="6281928" y="1810512"/>
            <a:ext cx="5086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0216" y="24597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300216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239572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type &amp; medical necessity — how do you justify this transfer in the chart?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0216" y="31912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300216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312724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care &amp; crew — what here is in, or out of, your scope?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0216" y="39227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300216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12280" y="385876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deterioration — what do you watch, and how could this go bad?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00216" y="46542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300216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12280" y="459028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Diversion — what finding turns you around?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300216" y="5385816"/>
            <a:ext cx="384048" cy="384048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35" name="Text 33"/>
          <p:cNvSpPr/>
          <p:nvPr/>
        </p:nvSpPr>
        <p:spPr>
          <a:xfrm>
            <a:off x="6300216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812280" y="532180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0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question: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SpO₂ reads 100% on the vent. Is that good? What do you do?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CES Academy  ·  Session 1  ·  Cardiac &amp; Neuro Case Studies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  ·  CASE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Acute ischemic stroke — tPA running (II-9)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  </a:t>
            </a:r>
            <a:pPr indent="0" marL="0">
              <a:buNone/>
            </a:pPr>
            <a:r>
              <a:rPr lang="en-US" sz="130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stroke center  →  comprehensive center for thrombectomy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5230368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10512"/>
            <a:ext cx="5230368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10512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39696" y="2432304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F, last known well ~60 min ago; right hemiparesis and aphasia, NIHSS 16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314700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51276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EXAM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39696" y="3332988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speak, follows some commands; BP 178/98; HOB ~20°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15384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51960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39696" y="4233672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 infusion (hospital-supplied), BP monitoring, peripheral IV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116068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52644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39696" y="5134356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Paramedic + EMT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25896" y="1810512"/>
            <a:ext cx="5598871" cy="4315968"/>
          </a:xfrm>
          <a:prstGeom prst="roundRect">
            <a:avLst>
              <a:gd name="adj" fmla="val 1483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1810512"/>
            <a:ext cx="5598871" cy="457200"/>
          </a:xfrm>
          <a:prstGeom prst="rect">
            <a:avLst/>
          </a:prstGeom>
          <a:solidFill>
            <a:srgbClr val="16405F"/>
          </a:solidFill>
          <a:ln/>
        </p:spPr>
      </p:sp>
      <p:sp>
        <p:nvSpPr>
          <p:cNvPr id="21" name="Text 19"/>
          <p:cNvSpPr/>
          <p:nvPr/>
        </p:nvSpPr>
        <p:spPr>
          <a:xfrm>
            <a:off x="6281928" y="1810512"/>
            <a:ext cx="5086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0216" y="24597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300216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239572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type &amp; medical necessity — how do you justify this transfer in the chart?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0216" y="31912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300216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312724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care &amp; crew — what here is in, or out of, your scope?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0216" y="39227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300216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12280" y="385876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deterioration — what do you watch, and how could this go bad?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00216" y="46542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300216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12280" y="459028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Diversion — what finding turns you around?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300216" y="5385816"/>
            <a:ext cx="384048" cy="384048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35" name="Text 33"/>
          <p:cNvSpPr/>
          <p:nvPr/>
        </p:nvSpPr>
        <p:spPr>
          <a:xfrm>
            <a:off x="6300216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812280" y="532180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0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question: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is 178/98 while tPA runs. Do you treat it?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CES Academy  ·  Session 1  ·  Cardiac &amp; Neuro Case Studies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  ·  CASE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Neuro deterioration — large ICH, intubated (II-10)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  </a:t>
            </a:r>
            <a:pPr indent="0" marL="0">
              <a:buNone/>
            </a:pPr>
            <a:r>
              <a:rPr lang="en-US" sz="130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ED  →  neurosurgery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5230368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10512"/>
            <a:ext cx="5230368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10512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39696" y="2432304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M, sudden severe headache then unresponsive; large intracerebral hemorrhage on CT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314700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51276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EXAM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39696" y="3332988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Intubated, GCS 6T; pupils equal but sluggish; BP parameters set by sending MD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15384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51960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39696" y="4233672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Nicardipine infusion (titratable), sedation infusion, ventilator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116068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52644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39696" y="5134356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AEMT + Paramedic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25896" y="1810512"/>
            <a:ext cx="5598871" cy="4315968"/>
          </a:xfrm>
          <a:prstGeom prst="roundRect">
            <a:avLst>
              <a:gd name="adj" fmla="val 1483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1810512"/>
            <a:ext cx="5598871" cy="457200"/>
          </a:xfrm>
          <a:prstGeom prst="rect">
            <a:avLst/>
          </a:prstGeom>
          <a:solidFill>
            <a:srgbClr val="16405F"/>
          </a:solidFill>
          <a:ln/>
        </p:spPr>
      </p:sp>
      <p:sp>
        <p:nvSpPr>
          <p:cNvPr id="21" name="Text 19"/>
          <p:cNvSpPr/>
          <p:nvPr/>
        </p:nvSpPr>
        <p:spPr>
          <a:xfrm>
            <a:off x="6281928" y="1810512"/>
            <a:ext cx="5086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0216" y="24597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300216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239572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type &amp; medical necessity — how do you justify this transfer in the chart?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0216" y="31912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300216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312724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care &amp; crew — what here is in, or out of, your scope?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0216" y="39227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300216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12280" y="385876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deterioration — what do you watch, and how could this go bad?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00216" y="46542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300216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12280" y="459028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Diversion — what finding turns you around?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300216" y="5385816"/>
            <a:ext cx="384048" cy="384048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35" name="Text 33"/>
          <p:cNvSpPr/>
          <p:nvPr/>
        </p:nvSpPr>
        <p:spPr>
          <a:xfrm>
            <a:off x="6300216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812280" y="532180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0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question: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Pupils are equal right now. What single finding would make you divert immediately?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CES Academy  ·  Session 1  ·  Cardiac &amp; Neuro Case Studies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  ·  CASE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Seizure — status epilepticus, intubated (II-11)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  </a:t>
            </a:r>
            <a:pPr indent="0" marL="0">
              <a:buNone/>
            </a:pPr>
            <a:r>
              <a:rPr lang="en-US" sz="130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 →  neuro ICU / EEG monitoring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5230368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10512"/>
            <a:ext cx="5230368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10512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39696" y="2432304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F, prolonged seizure refractory to benzodiazepines; now intubated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314700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51276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EXAM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39696" y="3332988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Intubated, sedated; no visible seizure activity; glucose 110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15384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51960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39696" y="4233672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Midazolam sedation infusion, ventilator, peripheral IV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116068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52644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39696" y="5134356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Paramedic + EMT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25896" y="1810512"/>
            <a:ext cx="5598871" cy="4315968"/>
          </a:xfrm>
          <a:prstGeom prst="roundRect">
            <a:avLst>
              <a:gd name="adj" fmla="val 1483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1810512"/>
            <a:ext cx="5598871" cy="457200"/>
          </a:xfrm>
          <a:prstGeom prst="rect">
            <a:avLst/>
          </a:prstGeom>
          <a:solidFill>
            <a:srgbClr val="16405F"/>
          </a:solidFill>
          <a:ln/>
        </p:spPr>
      </p:sp>
      <p:sp>
        <p:nvSpPr>
          <p:cNvPr id="21" name="Text 19"/>
          <p:cNvSpPr/>
          <p:nvPr/>
        </p:nvSpPr>
        <p:spPr>
          <a:xfrm>
            <a:off x="6281928" y="1810512"/>
            <a:ext cx="5086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0216" y="24597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300216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239572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type &amp; medical necessity — how do you justify this transfer in the chart?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0216" y="31912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300216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312724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care &amp; crew — what here is in, or out of, your scope?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0216" y="39227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300216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12280" y="385876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deterioration — what do you watch, and how could this go bad?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00216" y="46542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300216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12280" y="459028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Diversion — what finding turns you around?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300216" y="5385816"/>
            <a:ext cx="384048" cy="384048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35" name="Text 33"/>
          <p:cNvSpPr/>
          <p:nvPr/>
        </p:nvSpPr>
        <p:spPr>
          <a:xfrm>
            <a:off x="6300216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812280" y="532180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0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question: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seizure right now. What are the two things most likely to kill her en route?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CES Academy  ·  Session 1  ·  Cardiac &amp; Neuro Case Studies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  ·  CASE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Brain tumor / mass effect — stable transfer (II-12)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  </a:t>
            </a:r>
            <a:pPr indent="0" marL="0">
              <a:buNone/>
            </a:pPr>
            <a:r>
              <a:rPr lang="en-US" sz="130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hospital  →  neurosurgery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5230368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10512"/>
            <a:ext cx="5230368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10512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39696" y="2432304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F, worsening headaches and one seizure yesterday; new glioblastoma with mass effect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314700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51276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EXAM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39696" y="3332988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14, mild left arm drift; HOB 30°; comfortable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15384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51960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39696" y="4233672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Dexamethasone (scheduled), IV fluids, seizure prophylaxis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116068"/>
            <a:ext cx="4718304" cy="0"/>
          </a:xfrm>
          <a:prstGeom prst="line">
            <a:avLst/>
          </a:prstGeom>
          <a:noFill/>
          <a:ln w="9525">
            <a:solidFill>
              <a:srgbClr val="DDE4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52644"/>
            <a:ext cx="13716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39696" y="5134356"/>
            <a:ext cx="340156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AEMT + EMT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25896" y="1810512"/>
            <a:ext cx="5598871" cy="4315968"/>
          </a:xfrm>
          <a:prstGeom prst="roundRect">
            <a:avLst>
              <a:gd name="adj" fmla="val 1483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1B2A3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1810512"/>
            <a:ext cx="5598871" cy="457200"/>
          </a:xfrm>
          <a:prstGeom prst="rect">
            <a:avLst/>
          </a:prstGeom>
          <a:solidFill>
            <a:srgbClr val="16405F"/>
          </a:solidFill>
          <a:ln/>
        </p:spPr>
      </p:sp>
      <p:sp>
        <p:nvSpPr>
          <p:cNvPr id="21" name="Text 19"/>
          <p:cNvSpPr/>
          <p:nvPr/>
        </p:nvSpPr>
        <p:spPr>
          <a:xfrm>
            <a:off x="6281928" y="1810512"/>
            <a:ext cx="5086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0216" y="24597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300216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239572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type &amp; medical necessity — how do you justify this transfer in the chart?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0216" y="31912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300216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312724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care &amp; crew — what here is in, or out of, your scope?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0216" y="39227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300216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12280" y="385876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deterioration — what do you watch, and how could this go bad?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00216" y="46542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300216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12280" y="459028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Diversion — what finding turns you around?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300216" y="5385816"/>
            <a:ext cx="384048" cy="384048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35" name="Text 33"/>
          <p:cNvSpPr/>
          <p:nvPr/>
        </p:nvSpPr>
        <p:spPr>
          <a:xfrm>
            <a:off x="6300216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812280" y="5321808"/>
            <a:ext cx="4574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0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question: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AEMT + EMT crew, GCS 14, nothing titrating. Appropriate — and what's your escalation plan?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CES Academy  ·  Session 1  ·  Cardiac &amp; Neuro Case Studies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405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DEBRIEF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every case was really testing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16405F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313432"/>
            <a:ext cx="457200" cy="457200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35608" y="2148840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drip sets the crew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81728" y="2148840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titratable infusion — pressor, nitro, heparin, antiarrhythmic, rate-control, antihypertensive, sedation, tPA — means Paramedic, every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054096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16405F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3218688"/>
            <a:ext cx="457200" cy="457200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35608" y="3054096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Match crew to the transfer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81728" y="3054096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cases were dispatched with a crew that couldn't run what was on the pump. “We don't take it as dispatched” is a correct answer.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959352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16405F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4123944"/>
            <a:ext cx="457200" cy="457200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35608" y="3959352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Anticipate the predictable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81728" y="3959352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protocol names how the patient deteriorates and when to divert. Know both before you roll — don't discover them en route.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864608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16405F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5029200"/>
            <a:ext cx="457200" cy="457200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35608" y="4864608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Chart the necessity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81728" y="4864608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closes with a one-line medical-necessity statement: what the patient needed that only this level of care could provide.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0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1430: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Types II (pulmonary, medical, BLS, and an intro to accompanied specialty transports) with a medical-necessity critique.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CES Academy  ·  Session 1  ·  Cardiac &amp; Neuro Case Studies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 · Cardiac &amp; Neuro Case Studies</dc:title>
  <dc:subject>PptxGenJS Presentation</dc:subject>
  <dc:creator>AMR CES Academy</dc:creator>
  <cp:lastModifiedBy>AMR CES Academy</cp:lastModifiedBy>
  <cp:revision>1</cp:revision>
  <dcterms:created xsi:type="dcterms:W3CDTF">2026-07-09T17:13:46Z</dcterms:created>
  <dcterms:modified xsi:type="dcterms:W3CDTF">2026-07-09T17:13:46Z</dcterms:modified>
</cp:coreProperties>
</file>